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0. 課程導覽" id="{e75377c2-8aad-1932-1ffe-3cac96ffe17e}">
          <p14:sldIdLst>
            <p14:sldId id="258"/>
            <p14:sldId id="259"/>
            <p14:sldId id="260"/>
            <p14:sldId id="261"/>
          </p14:sldIdLst>
        </p14:section>
        <p14:section name="1. 基礎觀念" id="{94c09989-0bdf-0266-8cd7-c7eb6ab0833b}">
          <p14:sldIdLst>
            <p14:sldId id="262"/>
            <p14:sldId id="263"/>
            <p14:sldId id="264"/>
            <p14:sldId id="265"/>
            <p14:sldId id="266"/>
            <p14:sldId id="267"/>
          </p14:sldIdLst>
        </p14:section>
        <p14:section name="2. 改版架構" id="{d1d95ec3-7803-6e52-0ade-3df7745853a7}">
          <p14:sldIdLst>
            <p14:sldId id="268"/>
            <p14:sldId id="269"/>
            <p14:sldId id="270"/>
            <p14:sldId id="271"/>
            <p14:sldId id="272"/>
            <p14:sldId id="273"/>
          </p14:sldIdLst>
        </p14:section>
        <p14:section name="4. 領導作為" id="{bf52158a-0e98-990a-95ae-5ad213303c3b}">
          <p14:sldIdLst>
            <p14:sldId id="274"/>
            <p14:sldId id="275"/>
            <p14:sldId id="276"/>
            <p14:sldId id="277"/>
            <p14:sldId id="278"/>
            <p14:sldId id="279"/>
            <p14:sldId id="280"/>
          </p14:sldIdLst>
        </p14:section>
        <p14:section name="5. 規劃" id="{4ecc0916-5636-dc83-e429-a9b9a0fa6e6a}">
          <p14:sldIdLst>
            <p14:sldId id="281"/>
            <p14:sldId id="282"/>
            <p14:sldId id="283"/>
            <p14:sldId id="284"/>
            <p14:sldId id="285"/>
            <p14:sldId id="286"/>
            <p14:sldId id="287"/>
            <p14:sldId id="288"/>
          </p14:sldIdLst>
        </p14:section>
        <p14:section name="9. 蒐集處理條件" id="{df0d4d58-0e8d-58e7-e50a-9c0a9620cbb6}">
          <p14:sldIdLst>
            <p14:sldId id="289"/>
            <p14:sldId id="290"/>
            <p14:sldId id="291"/>
            <p14:sldId id="292"/>
            <p14:sldId id="293"/>
            <p14:sldId id="294"/>
          </p14:sldIdLst>
        </p14:section>
        <p14:section name="12. 處理者控制" id="{10e0da0e-43e2-40df-fcfa-afb6fdf4ce75}">
          <p14:sldIdLst>
            <p14:sldId id="295"/>
            <p14:sldId id="296"/>
            <p14:sldId id="297"/>
            <p14:sldId id="298"/>
            <p14:sldId id="299"/>
            <p14:sldId id="300"/>
            <p14:sldId id="301"/>
          </p14:sldIdLst>
        </p14:section>
        <p14:section name="14. 導入實務" id="{431c6f1e-bcca-5ec0-d426-d47c5a9cefec}">
          <p14:sldIdLst>
            <p14:sldId id="302"/>
            <p14:sldId id="303"/>
            <p14:sldId id="304"/>
            <p14:sldId id="305"/>
            <p14:sldId id="306"/>
            <p14:sldId id="307"/>
            <p14:sldId id="308"/>
          </p14:sldIdLst>
        </p14:section>
        <p14:section name="結語" id="{9dc1c77a-88a4-2178-ecd3-39e0c4b41597}">
          <p14:sldIdLst>
            <p14:sldId id="30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開場：歡迎學員，自我介紹（ISMS/PIMS 輔導顧問、驗證機構稽核員，專長資安與企業 MIS 管理）。介紹助教阿拉蕾會在線上影音陪大家學習。說明本課程三大面向：標準詳細解說、PIMS 管理作法、常見稽核實務。提醒學員課後可到線上文字教材與互動影音複習，完成 10 題課後測驗（80 分及格）可下載結業證書。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小時實體課建議配置：教學約 170 分鐘＋中場休息 10 分鐘（建議排在第 8 章之後）。各章分鐘數依簡報張數估算，可依學員背景調整；例如學員已熟悉 ISO 27001，可縮短第 6、7 章，把時間留給第 9～13 章附錄 A 控制措施與第 15 章稽核實務。線上教材與互動影音內容比簡報更完整，請學員課後補充。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0 章 課程導覽：認識講師、學習地圖與使用方式】
學習目標：
1. 認識講師 Allan 與助教阿拉蕾，了解本課程的定位與適合對象
2. 掌握課程三大面向：標準解說、PIMS 管理作法、稽核實務
3. 了解各章節的安排與建議學習順序
4. 會使用線上文字教材、互動影音與課後測驗，並知道取得證書的條件
本章重點：
・ISO/IEC 27701:2025 已成為可獨立驗證的 PIMS 管理系統標準
・本課程每章以標準解說、PIMS 管理作法、稽核實務三大面向呈現
・建議依序學習：基礎觀念、改版架構，再逐條進入第 4～10 章與附錄 A
・課後測驗 10 題、80 分及格，及格可下載結業證書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開場先做破冰：請學員舉手，今天到教室前已經交出過幾次個資？捷運卡、外送 App、門禁打卡、停車場車牌辨識都算。接著點出 27701:2025 最大的改變——從 27001 的延伸變成可獨立驗證的管理系統，所以沒有 ISMS 的組織也可以直接導入 PIMS。介紹自己的背景時，強調同時具備顧問與稽核員兩種角色，因此課程會一直切換「怎麼做」與「怎麼查」兩種視角。最後請學員簡單自我介紹：所屬產業、在公司的角色（個資窗口、資安、法務、稽核）、目前是否已有 27001 或 27701:2019 證書，方便後續舉例時貼近學員情境。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說明每章固定三段式結構：標準解說讓大家知道條文要求與關鍵字；管理作法提供程序、表單欄位、紀錄與步驟；稽核實務列出稽核員提問、證據與不符合事項範例。章節安排上，第 1 章是觀念打底（PII、角色、29100 原則、法規），第 2 章是改版與架構，特別提醒持有 2019 版證書的學員要注意轉版。第 3 章起依標準第 4 到 10 章逐條講解，再進入附錄 A 控制措施專題。可以問學員：你的公司比較像 PII 控制者還是處理者？先埋下第 1 章角色判定的伏筆。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示範線上平台操作：文字教材有目錄與章末自我檢核；互動影音播放中會出現小問題，答對答錯都會看到解說。說明課後測驗規則：共 10 題、80 分及格，也就是最多錯 2 題，及格後可下載結業證書；未及格可複習後再測。提醒學員：本課程條文以精要改寫呈現，正式依據以標準原文為準；法規細節以主管機關最新公告為準。最後交代學習小功課：準備一份自家公司的個資處理清單草稿，第 1 章與第 3 章做角色判定與範圍界定時會用到。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1 章 隱私與個資保護基礎觀念】
學習目標：
1. 能說明 PII 的定義，並辨識一般 PII 與敏感／特種 PII
2. 能依「誰決定處理目的與方式」判定 PII 控制者、共同控制者、處理者、分包處理者與第三方
3. 能說出 ISO/IEC 29100 的 11 項隱私原則，並舉出企業實務例子
4. 能掌握 GDPR 與台灣個人資料保護法的核心要求
5. 能說明組織為什麼需要建立 PIMS
本章重點：
・PII 是能直接或間接識別自然人的資訊；假名化資料通常仍屬 PII，敏感／特種個資需更嚴格保護
・角色判定看「誰決定處理的目的與方式」，並以每一項處理活動為單位；兼具兩種角色須分別判定
・ISO/IEC 29100 的 11 項隱私原則是 27701 控制措施的基礎，附錄 C 提供對應
・GDPR 與台灣個資法是主要外部議題；修法、罰則等細節以主管機關最新公告為準
・PIMS 關注 PII 當事人權益，彌補 ISMS 只保護資訊資產的觀點</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先請學員寫下三種公司會處理、但平常不覺得是個資的資料，通常會出現 IP 位址、車牌、監視器影像、客服錄音。說明 29100 的 PII 定義重點是自然人與可直接或間接識別。接著說明假名化與匿名化的差異：保留對照表的假名化資料仍是 PII。最後比較 29100 敏感 PII、GDPR 第 9 條特殊類別、台灣個資法第 6 條特種個資，強調範圍依適用法規界定，並提醒盤點表加上特種個資欄位，影響後續 PIA、權限、加密、保存期限設計。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用「點菜的客人、廚房、外送平台」比喻控制者、處理者、分包處理者。說明必要方式（蒐集哪些欄位、保存多久、給誰）通常由控制者決定，處理者可在受託範圍內決定技術細節而不會變成控制者。帶入 4.1 備考 2：角色依每次處理活動而定。進行小組練習：發下情境卡（電商、物流、人資外包、客服中心、醫院與大學合作研究、SaaS 與公有雲），請各組判定角色並說明理由，再公布參考答案。提醒受託方若自行把資料用於自己的目的，在該用途上就變成控制者，且可能違約。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逐項用一句白話加一個台灣企業例子說明，例如報名表不再要求身分證字號（蒐集限制）、客服畫面遮蔽中間碼（最小化）、保存期限表（保存限制）、DSAR 流程（個人參與）。提醒附錄 C 的表 C.1、C.2 把附錄 A 控制措施對應到這 11 項原則。強調同意不是唯一的合法基礎，A.1.2.3 先識別合法基礎，A.1.2.4 才決定何時、如何取得同意。可問學員：貴公司哪一項原則最難落實？通常答案是保存限制與個人參與。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GDPR 適用的兩種情境：在歐盟設有據點，或對歐盟境內當事人提供商品服務、監控其行為。介紹第 5 條原則、第 6 條合法基礎、第 28 條處理者契約、第 33 條 72 小時通報、罰款上限。台灣個資法部分介紹第 2 條定義、第 3 條當事人權利、第 6 條特種個資、第 8、9 條告知、第 19、20 條蒐集處理利用、第 27 條安全維護，以及各目的事業主管機關的安全維護辦法。強調修法動態（如獨立監督機關、罰則與通報機制調整）請以最新公告為準，不要背舊數字。附錄 D 只是指示性對應，法遵責任仍在組織。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用客服中心案例開場：系統從未被入侵，但錄音保存八年、便利貼抄電話，這些都是隱私問題。比較 ISMS 與 PIMS：保護對象、風險觀點（6.1.2 d) 要評鑑對組織及 PII 當事人的後果）、典型議題與控制措施。說明 2025 版可獨立驗證，也可與 ISMS 整合。最後帶到稽核實務：稽核員第一個問題通常是你們處理哪些 PII、扮演什麼角色，請學員回去檢查自家的盤點表是否細到欄位、是否標記特種個資、是否以處理活動為單位判定角色。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2 章 ISO/IEC 27701:2025 改版重點與標準架構】
學習目標：
1. 能說明 27701 從 2019 版「27001 延伸」到 2025 版「獨立管理系統」的變化與意義
2. 能說出 HS 共通架構第 4～10 章的內容，以及 2025 版新增的關鍵要求
3. 能描述附錄 A 三張表、78 項控制措施的結構，以及附錄 B～F 的用途
4. 能運用附錄 F 對照 2019 與 2025 版控制措施，並規劃轉版差異分析步驟
5. 能掌握轉版稽核時稽核員關注的重點
本章重點：
・27701:2025 採 HS 共通架構，成為可獨立驗證的 PIMS 管理系統標準，也可與 ISMS 整合
・新要求包括氣候變遷判定、角色判定與雙角色分別判定、關注方含 PII 當事人、範圍納入 PII 處理、資訊安全方案、評估對當事人後果
・附錄 A 共 78 項：表 A.1 控制者 31 項、表 A.2 處理者 18 項、表 A.3 共通安全 29 項；附錄 B 指引編號一一對應
・附錄 F 對照 2019 版：第 7 章→A.1、第 8 章→A.2、第 6 章部分→A.3；N/A 項目由資訊安全方案涵蓋
・轉版以差異分析為核心，期限依認證機構與驗證機構公告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用比較表說明 2019 與 2025 的差異：定位、驗證前提、管理系統要求所在章節、安全控制措施處理方式、控制者與處理者控制措施所在位置。強調新標準名稱加入 cybersecurity 字樣，以及第 0.2 節提到可與其他管理系統，特別是 27001 整合。可以問學員：貴公司目前有沒有 27001？若沒有，2025 版讓你可以直接導入 PIMS；若有，可以思考如何整合文件、內稽與管理審查，避免兩套系統重複作業。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快速走過第 4 到 10 章的條款名稱，請學員發現與 9001、27001 的一致性。接著聚焦 2025 版新增或強化的要求：4.1 氣候變遷判定（結論可為不相關但需有判定紀錄）、角色判定與雙角色分別判定、4.2 關注方含 PII 當事人與客戶三種意義、4.3 範圍納入 PII 處理、6.1.2 d) 評鑑對組織及 PII 當事人的後果。可舉機房在易淹水區的例子討論氣候變遷是否相關，讓學員練習寫出判定理由。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3.24 定義，並逐一唸出 6.1.3 c) 列出的領域：風險管理、政策、組織、人資、資產、存取控制、運作、網路、開發、供應商、事故、持續、審查、密碼、實體與環境。解釋設計邏輯：表 A.3 只保留與 PII 特別相關的 29 項安全控制，其餘一般安全要求交給資訊安全方案。有 27001 的組織可直接指定 ISMS，但要確認範圍涵蓋 PIMS 範圍；沒有 27001 的組織要用文件證明各領域已被管理。用附錄 F 中 N/A 的例子（惡意軟體防護、職務區隔）說明不是不用做。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說明附錄 A 為規定性附錄，排除須在 SoA 說明理由，也可增加額外控制。展示表 A.1 與 A.2 四個對稱的控制目標：蒐集及處理條件、對 PII 當事人之義務、隱私設計及預設、PII 分享移轉及揭露。舉例 A.1.2.7 與 A.2.2.2 的對應。說明附錄 B 與 A 編號一一對應，6.1.3 h) 要求考量附錄 B 指引。附錄 C、D、E 皆為指示性對應，D 對應 GDPR 第 5 至 49 條（第 43 條除外），標準明言法律義務仍由組織評鑑。附錄 F 是轉版工具。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示範用表 F.2 進行對照：6.9.4.1 到 6.9.4.3 合併為 A.3.25，6.5.3.1 到 6.5.3.3 合併為 A.3.20。提醒對照時同時比對名稱，並以附錄 A 本文為準。發下差異分析表範本（2019 條號、2025 條號、差異、現況、落差、行動、負責人、期限），請學員以自家一項程序練習。最後說明轉版稽核三大常見問題：SoA 沿用舊編號、資訊安全方案範圍不足、風險評鑑未評估當事人後果，並示範一則不符合事項寫法。轉版期限不寫死，請學員向驗證機構確認。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4 章 第5章 領導作為：最高管理階層的承諾與隱私政策】
學習目標：
1. 說明 5.1 最高管理階層展現領導及承諾的 a)–h) 八項行動與可呈現之證據
2. 列出 5.2 隱私政策的四項內容與三項提供／傳達要求
3. 區分內部隱私政策與對外隱私聲明（privacy notice）的差異
4. 依 5.3 規劃隱私組織、DPO／隱私長／管理代表分工與 RACI 表
5. 掌握稽核員訪談最高管理階層的重點與常見不符合事項寫法
本章重點：
・5.1 的關鍵字是「展現」，要有預算、會議、公告、決策等可見證據
・隱私政策必須有四項內容：適合目的、目標框架、遵循承諾、持續改善承諾
・內部隱私政策與官網隱私聲明是不同文件，對應不同條文
・5.3 必須指派「確保 PIMS 符合本標準」及「向最高管理階層報告績效」兩項責任
・稽核時老闆能說出具體決策案例，是第 5 章最有力的證據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開場先問學員：貴公司的隱私工作是誰在推？多數人會回答法務或資訊室。藉此帶出第 5 章重點：最高管理階層要展現領導，而不是只簽名。說明最高管理階層的定義，若 PIMS 範圍只涵蓋某事業群，可為該事業群最高主管，但須有調度資源的權限。提醒 2025 版已是可獨立驗證的管理系統標準，第 5 章會是第二階段稽核的必排項目。可以順帶說明本章三個條款與後續章節的關聯：5.2 政策是 6.2 目標的框架，5.3 指派的報告責任則連到 9.3 管理審查，讓學員先建立整體地圖。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逐項說明並請學員舉出可呈現的證據。強調展現兩字：承諾書只能部分佐證 d)，其他需要會議紀錄、預算、公告、決策紀錄。舉例：某電商總經理因 PIA 結果延後會員分析專案，即同時證明 a、b、f。可問學員：貴公司老闆最近一次談隱私是何時？若答不出來，就是 d) 的弱點。也可以請學員分組，每組挑兩項，列出公司裡現成可用的證據與還缺的證據，五分鐘後分享。最後補充 h)：各部門主管被指派為資料擁有者或部門隱私窗口，就是最高管理階層支持其他角色展現領導的具體作法。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說明適用要求事項不只個資法，還包含主管機關個資安全維護相關規範、契約、客戶要求、GDPR（如適用）。展示政策範本九大章節。強調官網隱私權聲明不等於 5.2 政策，請學員回去檢查自己公司提供給稽核員的是哪一份。不確定的法規條號與罰則不要寫死，以最新公告為準。可以請學員現場拿出自己公司的政策，對照四項內容逐一打勾，通常最容易缺的是目標框架與持續改善承諾。再問學員：政策多久審查一次？最近一次是誰核准？藉此帶到第 7 章文件化資訊的管制。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用比較表講解。說明對外隱私聲明可能有多份：官網、App、求職者、員工、CCTV 告示，屬 A.1.3.3、A.1.3.4 管理範疇。舉電商案例：管理代表拿官網聲明給稽核員，被指出缺少目標框架與持續改善承諾、無最高管理階層核准。讓學員討論自己公司有幾份對外聲明。補充提醒：兩份文件的更新觸發條件也不同，內部政策隨策略、法規、組織重大變更而審查；對外聲明則在新增處理目的、新增第三方、法規變更時就要更新，並同步檢視是否需要重新取得同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展示隱私小組組織圖與 RACI 表範例。說明標準未規定職稱，但兩項責任一定要指派。DPO 若為 GDPR 法定角色，注意利益衝突。RACI 每列只能一個 A。可做小練習：請學員為「個資事故通報」填 RACI。最後提醒傳達方式：PIMS 手冊、內網、職務說明書、教育訓練。也要提醒組織圖中內部稽核小組的位置，應確保其獨立於受稽單位，避免自己稽核自己。若學員公司規模小，可說明一人可兼多角色，但要避開明顯的利益衝突，並在文件中寫清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模擬稽核員訪談最高管理階層的問題清單。分享現場經驗：老闆能講出兩三件具體決策，是最有力的證據；只說交給隱私長處理，證據就薄弱。展示不符合事項寫法：要求、證據、落差三要素。說明第 5 章不符合常由其他條文追溯而來，例如風險處理延宕追到資源未核。最後提醒輔導時的準備方式：訪談前給老闆十五分鐘簡報，涵蓋今年目標、達成率、重大事故與管審決議，不要給講稿。若老闆臨時無法受訪，應事先與驗證機構協調授權代表與時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5 章 第6章 規劃：隱私風險評鑑與處理】
學習目標：
1. 區分 6.1.1 管理系統層級的風險及機會與 6.1.2 隱私風險
2. 依 6.1.2 建立隱私風險準則，並評鑑對組織及 PII 當事人的雙重後果
3. 依 6.1.3 a)–h) 完成處理選項、資訊安全方案、附錄 A 比對、SoA、處理計畫與風險擁有者核准
4. 以既有 ISO/IEC 27001 ISMS 對照證明資訊安全方案
5. 訂定符合 6.2 的可量測隱私目標，並掌握稽核員追蹤法與常見不符合
本章重點：
・6.1.2 隱私風險評鑑必須評鑑對組織及 PII 當事人的雙重後果，並識別風險擁有者
・風險準則（接受準則＋評鑑準則）是確保結果一致、有效、可比較的基礎
・6.1.3 c) 要求識別並文件化資訊安全方案，涵蓋條文列出的最低面向
・附錄 A 是比對用檢查清單；SoA 須含必要控制、納入理由、實作狀態、排除理由四要素
・風險擁有者須核准處理計畫並接受剩餘風險
・隱私目標要可量測、被監視、被傳達，並規劃做什麼、資源、誰、何時、如何評估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開場強調本章是 PIMS 的心臟，所有控制措施、SoA、處理計畫都從這裡產生，也是驗證稽核花最多時間的地方。說明 2025 版與 2019 版差異：2019 版第 5 章是延伸 ISO/IEC 27001 的條文，2025 版改為獨立完整的隱私風險評鑑與處理，並新增 6.1.3 c) 資訊安全方案，使沒有 ISO/IEC 27001 的組織也能單獨申請驗證。可先問學員：貴公司目前的風險評鑑，有沒有一欄是對 PII 當事人的衝擊？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逐步講解五步驟，並強調三個稽核重點：第一，準則要具體到可以對號入座，才能達到 b) 的一致可比較；第二，隱私風險包含隱私原則面與資訊安全面，不只是外洩；第三，d) 1) 要評對組織及 PII 當事人雙重後果，這是 PIMS 與 ISMS 最大差異。用食安比喻說明為何要看當事人後果。提及 ISO/IEC 27557 可作為方法論參考，ISO/IEC 29134 留待第 8 章 PIA。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對當事人衝擊準則表，舉例說明每一級：收到非預期行銷信是輕微，被詐騙騷擾是中等，身分盜用是嚴重，健康資訊外洩導致長期歧視是極嚴重。說明為何取兩者較高者作為衝擊分數。展示四乘四矩陣與接受準則、核准層級。小練習：請學員為醫院離職護理人員帳號未停用的情境評分，再比較各組結果，藉此體會 b) 一致性與校準會議的重要。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說明處理流水線。強調附錄 A 是比對用的檢查清單：控制者看 A.1 加 A.3，處理者看 A.2 加 A.3，雙重角色三張表都要看，合計 78 項。說明資訊安全方案條文列出十五個面向，課程歸納為十一個領域，撰寫時每項都要找得到對應說明。g) 是雙重核准：核准計畫與接受剩餘風險。h) 提醒附錄 B 與附錄 A 編號一一對應。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 SoA 範例格式，逐欄說明。特別示範好的排除理由寫法，例如引用 4.1 角色判定紀錄說明不適用 A.2。提醒附錄 A 非窮舉，可自訂控制措施，例如 AI 訓練資料去識別化審查。可請學員檢查自家 SoA 中標示 N/A 的項目，有多少寫了理由。補充：驗證證書通常會引用 SoA 版本，SoA 改版要走文件管制。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說明已有 ISO/IEC 27001 驗證的組織可以 ISMS 作為資訊安全方案主體，但證書只是起點。展示對照表，示範如何發現客服中心未納入 ISMS 範圍的缺口。分享稽核現場經驗：組織拿證書說已經有了，稽核員追問範圍與 PII 風險就答不出來。對於沒有 ISO/IEC 27001 的組織，建議依 ISO/IEC 27002 架構撰寫資訊安全方案文件。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展示隱私目標 KPI 範例表，說明如何從政策原則展開目標並分配到部門層級。提醒可量測若可行，不可量測要說得出理由。也提醒 6.3：範圍擴大、組織改組、角色由處理者轉為控制者等 PIMS 變更，要以規劃方式執行，並連動重新風險評鑑與 SoA 更新。接著說明稽核員追蹤法，並展示常見不符合事項寫法。最後給學員稽核前自我檢查三步驟：抽三筆處理紀錄確認在風險清冊、抽三項已實作確認現場有、抽三項排除確認理由說得通。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9 章 附錄A A.1.2 蒐集及處理的條件】
學習目標：
1. 學完能說明 A.1.2 八項控制措施的要求與彼此連動關係
2. 學完能為處理活動撰寫具體目的並對應 GDPR 合法基礎與台灣個資法要件
3. 學完能設計同意管理程序與同意紀錄欄位，並判斷何時需做 PIA
4. 學完能建立處理者契約、共同控制者協議與 RoPA
5. 學完能準備 A.1.2 稽核證據並撰寫不符合事項
本章重點：
・A.1.2 的核心是「能證明」處理合法且目的明確正當
・合法基礎要在處理前判定並文件化，特殊類別與特種個資需加強控制
・同意要有文件化程序，紀錄至少含時間、當事人識別與同意聲明
・新處理或變更先做 PIA 門檻評估，必要時實施完整 PIA
・所有處理者要有書面契約並涵蓋表 A.2，共同控制者要有協議
・RoPA 是總帳本，需有 Owner、定期更新並安全維護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開場先請學員回想：自己公司的隱私權聲明目的怎麼寫？多半是「為提供服務」。藉此帶出 A.1.2 的核心是「能證明」。說明八項控制措施的連動關係：目的決定合法基礎，合法基礎若是同意就要啟動同意程序，高風險要 PIA，委外要契約，一起決定的要共同控制者協議，最後全部匯整到 RoPA。可在白板畫出這條鏈，讓學員理解為何 RoPA 是總帳本。提醒這是控制者的控制措施，若組織同時是處理者，要另外看表 A.2。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用表格比較好壞目的寫法，請學員現場改寫一句空泛目的。接著介紹 GDPR 第 6 條六種基礎，強調「全部用同意」的誤區：同意可撤回，撤回後契約服務無法履行。台灣部分說明個資法採特定目的與法定要件架構，蒐集處理與利用分開規範，特種個資原則禁止、例外允許，細節以最新條文為準。可問學員：員工資料用同意合適嗎？引導出雇傭關係中同意難以自由給予的觀念。合法利益要附 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示範一個好的同意畫面與壞的同意畫面：預設勾選、綑綁結帳、文字藏在深層連結。說明 A.1.2.4 是程序、A.1.2.5 是執行與紀錄。展示 Consent Log 欄位範例，強調聲明版本的重要：當事人當時看到哪一版。可分享稽核現場經驗：後端只有 Y/N 欄位，無法證明。提醒撤回機制要與取得管道一致，連到下一章 A.1.3.5。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PIA 部分強調兩段式：評估是否需要、適當時實施。舉附錄 B 三個典型觸發情境，並介紹 ISO/IEC 29134。分享案例：小改版沒評估。處理者契約說明預設表 A.2 全部相關，排除需理由，展示條款對照表。最常漏的是免費工具與小額採購。共同控制者以聯名卡為例，說明協議應包含的項目，尤其外洩時誰通報、當事人聯絡窗口。請學員列出自己公司可能的共同控制情境。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 RoPA 範例欄位，說明附錄 B 建議欄位加上實務欄位。強調 Owner 與安全維護。稽核部分說明反向追蹤手法：從現場系統、表單、廠商回查 RoPA。時序檢查：PIA 是否早於上線。朗讀兩則不符合事項範例，讓學員練習辨認三要素。最後給學員回家作業：挑一個業務流程填寫完整 RoPA 一列，下次上課互相交換檢查。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12 章 附錄 A 表 A.2：PII 處理者控制措施】
學習目標：
1. 說明 PII 處理者適用表 A.2 的 18 項控制措施及其控制目標
2. 能依附錄 B.2 指引，把控制措施轉換成 DPA 條款、程序與紀錄
3. 能建立分包商管理流程與政府／執法機關調閱請求處理流程
4. 能說出稽核員會查的證據，並寫出處理者常見不符合事項
本章重點：
・處理者依客戶書面指令處理 PII，適用表 A.2 共 18 項，角色需依服務分別判定
・A.2.2 以合約與指令為核心：DPA、目的限制、禁止行銷、違法指令通知、處理紀錄
・A.2.4.3 解約處置要涵蓋備份、營運持續資料與所有分包商，並定義終止後保存期
・A.2.5 要求跨境依據與國家清單、揭露紀錄、調閱請求通知與法律約束力把關
・分包商使用前揭露、依約授權、變更前通知；分包契約預設要求全部 A.2 控制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開場先請學員舉手：公司有沒有幫客戶處理個資的服務？讓學員說出 SaaS、薪資外包、客服、IT 維運等。接著強調角色判定看的是誰決定目的與方式，不看誰付錢。同一家公司可能同時是控制者與處理者，SoA 要分開寫。最後秀出四個控制目標群組的表，告訴學員這章的邏輯是：合約與指令、當事人權利協助、設計與處置、分享移轉揭露。可以提一下附錄 E 對應 ISO/IEC 27018，已經做 27018 的雲端業者可以拿來做差異分析。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逐項講解時搭配 B.2.2.2 的六個契約面向：隱私設計預設、處理安全、通知主管機關、通知客戶與當事人、PIA、事先諮詢協助。舉例：工程師拿客戶資料訓練模型、行銷部從客戶專案匯出名單，都是 A.2.2.3、A.2.2.4 的典型違反。A.2.2.5 要問學員：第一線發現客戶指令怪怪的時，知道要找誰嗎？A.2.2.7 可以展示處理者處理紀錄欄位表，提醒和 GDPR 第 30 條第 2 項的概念類似。稽核員會拿處理紀錄和合約、分包商清單交叉比對。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A.2.3.2 用客服中心例子：民眾來電要刪資料，客服應轉交客戶，不可自行處理。A.2.4.2 可以現場請學員想想自己公司的 SFTP 交換區、報表下載夾裡有多少舊檔。A.2.4.3 重點是指引提到的三件事：涵蓋備份與營運持續資料、涵蓋所有分包商、政策要定義契約終止後保存期間。A.2.4.4 用薪資單誤寄案例，說明授權、加密、傳輸紀錄。問學員：你們解約客戶的處置證明有寫備份最終到期日嗎？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先破除迷思：主機在台灣不等於沒有跨境，日誌、備份、遠端支援都要檢查。提到 B.2.5.2 指引中的協議機制例子：標準契約條款、拘束性企業規則、跨境隱私規則。台灣個資法第 21 條賦予主管機關限制國際傳輸的權限，產業別規定依最新公告。調閱請求流程講五個關鍵字：單一窗口、法務判斷、最小揭露、通知客戶、完整紀錄。用客服中心接到警察電話的案例，請學員討論第一線該怎麼回應。提醒法律禁止通知的情況要記錄依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畫出向上與向下兩個方向：向上對客戶揭露、取得授權、變更通知；向下用分包契約傳遞義務並監督。強調 B.2.5.8 指引的預設立場是表 A.2 全部相關，排除要有理由。用 HR 薪資外包新增印刷寄送分包商的案例，走一遍：查客戶授權類型、寄通知、處理反對、簽約、更新清單。最後提醒：雲端基礎設施、簡訊、e-mail 服務、客服 SaaS 都是分包商，請學員回去請採購匯出所有付費訂閱比對清單。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稽核員的追蹤路徑：合約、處理紀錄、分包商、資料所在地、揭露登記簿、解約處置、暫存目錄。挑兩則不符合事項範例念給學員聽，示範要求、證據、事實三段式寫法，並說明為什麼第一線口頭揭露會被判為主要不符合：已經實際發生揭露，而且流程沒有被遵循。最後讓學員分組，各自用 DPA 條款檢核表檢查一份自家合約，找出最弱的三個條款。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14 章 PIMS 導入實務與整合】
學習目標：
1. 能規劃 PIMS 導入 12 步驟與 6–9 個月時程，並說明各步驟的產出
2. 能建立符合 7.5 的 PIMS 文件架構與建議文件清單
3. 能說明 PIMS 與 ISO/IEC 27001:2022 ISMS 的整合方式與差異
4. 能運用附錄 C/D/E 對應表，並將台灣個資法要求納入 PIMS
5. 能以檢核表完成驗證前準備
本章重點：
・導入順序由條款輸入輸出決定：角色與範圍、盤點、風險、SoA、文件、運作、內稽、管審、驗證
・試運行至少 2–3 個月，驗證需要看到實際運作紀錄
・四階文件是習慣，標準明確要求的文件化資訊才是底線
・與 27001 整合可共用流程，但須加入當事人視角並完整呈現 27701 附錄 A
・附錄 C/D/E 為指示性對應；台灣個資法是 4.2 與 A.3.13 的核心輸入
・中小企業可以精簡，但不能省略 shall 要求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開場先問學員：如果明天老闆要你負責 PIMS 專案，你第一週會做什麼？讓大家說說看，再帶出十二步驟。強調順序的邏輯來自條款輸入輸出：4.1 角色判定決定附錄 A 用哪張表；盤點是風險評鑑的輸入；風險評鑑是 SoA 理由的依據；運作紀錄是內稽管審的輸入。可舉電商代營運品牌網店的例子說明角色判定為何不能一律判為控制者。提醒盤點要先廣後深，第一輪只列處理活動清單即可。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以甘特表說明每階段大致重疊情形。強調時程取決於規模、既有制度與 PII 處理複雜度，不要對老闆承諾太短。分享實務經驗：試運行壓縮太短，稽核時運作紀錄全部零筆，是最常見的第二階段問題。建議刻意安排一次個資外洩演練與一次 DSAR 模擬請求，既可訓練人員也能產生紀錄。可問學員：貴公司目前有哪些制度可以直接沿用？以此估算可縮短的時程。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說明四階是習慣做法而非標準規定，7.5.1 備考允許依規模調整文件程度。逐一點出標準明確要求的文件化資訊：4.3 範圍、5.2 政策、6.1.2 風險評鑑過程、6.1.3 SoA 與資訊安全方案、6.2 目標、7.2 能力證據、8.2/8.3 結果、9.1 量測、9.2 稽核、9.3 管審、10.2 矯正。提醒照抄範本的風險：文件寫的與實際做的不一致，本身就是不符合事項。可展示建議文件清單供學員參考。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強調 2025 版 27701 已可獨立驗證，不再是 27001 延伸，兩張證書各自滿足要求。比較可共用與差異處，特別是 4.1 角色判定、4.2 PII 當事人、6.1.2 當事人後果。說明 SoA 兩份與合併的優缺點。以金融科技 SaaS 案例說明整合後導入時間縮短。提醒最大陷阱：以為資訊資產清冊等於 RoPA，資產是系統，PIMS 關心處理活動與目的。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示範用附錄 D 反查：例如 GDPR 第 35、36 條對應 B.1.2.6，第 33、34 條對應 B.3.11、B.3.12，第 28 條第 2 項對應 B.2.5.9。強調附錄 D 本身即聲明純屬指示性，法律義務仍由組織自行評估。台灣部分，建議仿照附錄 D 自建個資法對照表，並將主管機關要求的安全維護計畫與 PIMS 交互引用。提醒通報時限不要照抄 GDPR，依主管機關最新規定。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 40 人 HR 外包公司為例，說明以處理者為主的組織如何精簡文件。強調可精簡但不可省略 shall，例如當事人後果評估、內稽客觀性、管審輸入齊全。帶學員過一遍 20 項檢核表，請學員就自己公司現況自評，選出最弱的三項。最後說明現場準備：稽核室、證據索引表、受訪人員排班、提醒同仁據實回答，不知道就說會確認，不要猜測或臨時編造。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總結：請學員回想三大面向（標準解說、PIMS 管理作法、稽核實務），開放 Q&amp;A。提醒學員到線上課程網站完成課後測驗並下載證書。若學員公司正在導入，建議先從個資盤點（RoPA）與角色判定開始。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1E276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E27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31720"/>
            <a:ext cx="69494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3931920"/>
            <a:ext cx="6949440" cy="1280160"/>
          </a:xfrm>
          <a:prstGeom prst="rect">
            <a:avLst/>
          </a:prstGeom>
          <a:noFill/>
          <a:ln/>
        </p:spPr>
        <p:txBody>
          <a:bodyPr wrap="square" rtlCol="0"/>
          <a:lstStyle>
            <a:lvl1pPr algn="l" indent="0" marL="0">
              <a:buNone/>
              <a:defRPr lang="en-US" sz="1800" dirty="0">
                <a:solidFill>
                  <a:srgbClr val="CADCFC"/>
                </a:solidFill>
              </a:defRPr>
            </a:lvl1pPr>
          </a:lstStyle>
          <a:p>
            <a:pPr algn="l"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6B7A99"/>
                </a:solidFill>
              </a:rPr>
              <a:t>ISO/IEC 27701:2025 PIMS｜講師 Allan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4.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4.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3.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4.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3.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4.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4.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4.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3.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4.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4.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4.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image" Target="../media/image-54-2.jpg"/><Relationship Id="rId3" Type="http://schemas.openxmlformats.org/officeDocument/2006/relationships/slideLayout" Target="../slideLayouts/slideLayout2.xml"/><Relationship Id="rId4"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188720"/>
            <a:ext cx="6766560" cy="640080"/>
          </a:xfrm>
          <a:prstGeom prst="rect">
            <a:avLst/>
          </a:prstGeom>
          <a:noFill/>
          <a:ln/>
        </p:spPr>
        <p:txBody>
          <a:bodyPr wrap="square" lIns="0" tIns="0" rIns="0" bIns="0" rtlCol="0" anchor="ctr"/>
          <a:lstStyle/>
          <a:p>
            <a:pPr indent="0" marL="0">
              <a:buNone/>
            </a:pPr>
            <a:r>
              <a:rPr lang="en-US" sz="2400" b="1" dirty="0">
                <a:solidFill>
                  <a:srgbClr val="CADCFC"/>
                </a:solidFill>
              </a:rPr>
              <a:t>ISO/IEC 27701:2025</a:t>
            </a:r>
            <a:endParaRPr lang="en-US" sz="2400" dirty="0"/>
          </a:p>
        </p:txBody>
      </p:sp>
      <p:sp>
        <p:nvSpPr>
          <p:cNvPr id="3" name="Text 1"/>
          <p:cNvSpPr txBox="1"/>
          <p:nvPr/>
        </p:nvSpPr>
        <p:spPr>
          <a:xfrm>
            <a:off x="731520" y="1828800"/>
            <a:ext cx="6949440" cy="914400"/>
          </a:xfrm>
          <a:prstGeom prst="rect">
            <a:avLst/>
          </a:prstGeom>
          <a:noFill/>
          <a:ln/>
        </p:spPr>
        <p:txBody>
          <a:bodyPr wrap="square" lIns="0" tIns="0" rIns="0" bIns="0" rtlCol="0" anchor="ctr"/>
          <a:lstStyle/>
          <a:p>
            <a:pPr indent="0" marL="0">
              <a:buNone/>
            </a:pPr>
            <a:r>
              <a:rPr lang="en-US" sz="4000" b="1" dirty="0">
                <a:solidFill>
                  <a:srgbClr val="FFFFFF"/>
                </a:solidFill>
              </a:rPr>
              <a:t>隱私資訊管理系統（PIMS）</a:t>
            </a:r>
            <a:endParaRPr lang="en-US" sz="4000" dirty="0"/>
          </a:p>
        </p:txBody>
      </p:sp>
      <p:sp>
        <p:nvSpPr>
          <p:cNvPr id="4" name="Text 2"/>
          <p:cNvSpPr txBox="1"/>
          <p:nvPr/>
        </p:nvSpPr>
        <p:spPr>
          <a:xfrm>
            <a:off x="731520" y="2743200"/>
            <a:ext cx="6949440" cy="640080"/>
          </a:xfrm>
          <a:prstGeom prst="rect">
            <a:avLst/>
          </a:prstGeom>
          <a:noFill/>
          <a:ln/>
        </p:spPr>
        <p:txBody>
          <a:bodyPr wrap="square" lIns="0" tIns="0" rIns="0" bIns="0" rtlCol="0" anchor="ctr"/>
          <a:lstStyle/>
          <a:p>
            <a:pPr indent="0" marL="0">
              <a:buNone/>
            </a:pPr>
            <a:r>
              <a:rPr lang="en-US" sz="2400" dirty="0">
                <a:solidFill>
                  <a:srgbClr val="F2A541"/>
                </a:solidFill>
              </a:rPr>
              <a:t>標準解說 × 管理作法 × 稽核實務</a:t>
            </a:r>
            <a:endParaRPr lang="en-US" sz="2400" dirty="0"/>
          </a:p>
        </p:txBody>
      </p:sp>
      <p:sp>
        <p:nvSpPr>
          <p:cNvPr id="5" name="Text 3"/>
          <p:cNvSpPr txBox="1"/>
          <p:nvPr/>
        </p:nvSpPr>
        <p:spPr>
          <a:xfrm>
            <a:off x="731520" y="4023360"/>
            <a:ext cx="6766560" cy="822960"/>
          </a:xfrm>
          <a:prstGeom prst="rect">
            <a:avLst/>
          </a:prstGeom>
          <a:noFill/>
          <a:ln/>
        </p:spPr>
        <p:txBody>
          <a:bodyPr wrap="square" lIns="0" tIns="0" rIns="0" bIns="0" rtlCol="0" anchor="ctr"/>
          <a:lstStyle/>
          <a:p>
            <a:pPr indent="0" marL="0">
              <a:spcAft>
                <a:spcPts val="600"/>
              </a:spcAft>
              <a:buNone/>
            </a:pPr>
            <a:r>
              <a:rPr lang="en-US" sz="1600" dirty="0">
                <a:solidFill>
                  <a:srgbClr val="CADCFC"/>
                </a:solidFill>
              </a:rPr>
              <a:t>講師：Allan（ISMS／PIMS 輔導顧問・驗證機構稽核員）</a:t>
            </a:r>
            <a:endParaRPr lang="en-US" sz="1600" dirty="0"/>
          </a:p>
          <a:p>
            <a:pPr indent="0" marL="0">
              <a:spcAft>
                <a:spcPts val="600"/>
              </a:spcAft>
              <a:buNone/>
            </a:pPr>
            <a:r>
              <a:rPr lang="en-US" sz="1600" dirty="0">
                <a:solidFill>
                  <a:srgbClr val="CADCFC"/>
                </a:solidFill>
              </a:rPr>
              <a:t>助教：阿拉蕾</a:t>
            </a:r>
            <a:endParaRPr lang="en-US" sz="1600" dirty="0"/>
          </a:p>
        </p:txBody>
      </p:sp>
      <p:sp>
        <p:nvSpPr>
          <p:cNvPr id="6" name="Text 4"/>
          <p:cNvSpPr txBox="1"/>
          <p:nvPr/>
        </p:nvSpPr>
        <p:spPr>
          <a:xfrm>
            <a:off x="731520" y="5303520"/>
            <a:ext cx="4206240" cy="411480"/>
          </a:xfrm>
          <a:prstGeom prst="roundRect">
            <a:avLst>
              <a:gd name="adj" fmla="val 22222"/>
            </a:avLst>
          </a:prstGeom>
          <a:solidFill>
            <a:srgbClr val="F2A541"/>
          </a:solidFill>
          <a:ln/>
        </p:spPr>
        <p:txBody>
          <a:bodyPr wrap="square" lIns="0" tIns="0" rIns="0" bIns="0" rtlCol="0" anchor="ctr"/>
          <a:lstStyle/>
          <a:p>
            <a:pPr algn="ctr" indent="0" marL="0">
              <a:buNone/>
            </a:pPr>
            <a:r>
              <a:rPr lang="en-US" sz="1400" b="1" dirty="0">
                <a:solidFill>
                  <a:srgbClr val="1E2761"/>
                </a:solidFill>
              </a:rPr>
              <a:t>2025 新版・可獨立驗證的 PIMS 標準</a:t>
            </a:r>
            <a:endParaRPr lang="en-US" sz="1400" dirty="0"/>
          </a:p>
        </p:txBody>
      </p:sp>
      <p:sp>
        <p:nvSpPr>
          <p:cNvPr id="7" name="arale-frame"/>
          <p:cNvSpPr/>
          <p:nvPr/>
        </p:nvSpPr>
        <p:spPr>
          <a:xfrm>
            <a:off x="7763256" y="2688336"/>
            <a:ext cx="1847088" cy="2420417"/>
          </a:xfrm>
          <a:prstGeom prst="roundRect">
            <a:avLst>
              <a:gd name="adj" fmla="val 8911"/>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8" name="arale-img" descr="助教阿拉蕾">    </p:cNvPr>
          <p:cNvPicPr>
            <a:picLocks noChangeAspect="1"/>
          </p:cNvPicPr>
          <p:nvPr/>
        </p:nvPicPr>
        <p:blipFill>
          <a:blip r:embed="rId1"/>
          <a:srcRect l="0" r="0" t="0" b="0"/>
          <a:stretch/>
        </p:blipFill>
        <p:spPr>
          <a:xfrm>
            <a:off x="7818120" y="2743200"/>
            <a:ext cx="1737360" cy="2310689"/>
          </a:xfrm>
          <a:prstGeom prst="rect">
            <a:avLst/>
          </a:prstGeom>
        </p:spPr>
      </p:pic>
      <p:sp>
        <p:nvSpPr>
          <p:cNvPr id="9" name="Text 6"/>
          <p:cNvSpPr txBox="1"/>
          <p:nvPr/>
        </p:nvSpPr>
        <p:spPr>
          <a:xfrm>
            <a:off x="7635240" y="5163617"/>
            <a:ext cx="2103120" cy="320040"/>
          </a:xfrm>
          <a:prstGeom prst="rect">
            <a:avLst/>
          </a:prstGeom>
          <a:noFill/>
          <a:ln/>
        </p:spPr>
        <p:txBody>
          <a:bodyPr wrap="square" lIns="0" tIns="0" rIns="0" bIns="0" rtlCol="0" anchor="ctr"/>
          <a:lstStyle/>
          <a:p>
            <a:pPr algn="ctr" indent="0" marL="0">
              <a:buNone/>
            </a:pPr>
            <a:r>
              <a:rPr lang="en-US" sz="1300" b="1" dirty="0">
                <a:solidFill>
                  <a:srgbClr val="E8559A"/>
                </a:solidFill>
              </a:rPr>
              <a:t>助教 阿拉蕾</a:t>
            </a:r>
            <a:endParaRPr lang="en-US" sz="1300" dirty="0"/>
          </a:p>
        </p:txBody>
      </p:sp>
      <p:sp>
        <p:nvSpPr>
          <p:cNvPr id="10" name="allan-frame"/>
          <p:cNvSpPr/>
          <p:nvPr/>
        </p:nvSpPr>
        <p:spPr>
          <a:xfrm>
            <a:off x="9774936" y="950976"/>
            <a:ext cx="1938528" cy="2944368"/>
          </a:xfrm>
          <a:prstGeom prst="roundRect">
            <a:avLst>
              <a:gd name="adj" fmla="val 8491"/>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11" name="allan-img" descr="Allan 講師">    </p:cNvPr>
          <p:cNvPicPr>
            <a:picLocks noChangeAspect="1"/>
          </p:cNvPicPr>
          <p:nvPr/>
        </p:nvPicPr>
        <p:blipFill>
          <a:blip r:embed="rId2"/>
          <a:srcRect l="0" r="0" t="0" b="0"/>
          <a:stretch/>
        </p:blipFill>
        <p:spPr>
          <a:xfrm>
            <a:off x="9829800" y="1005840"/>
            <a:ext cx="1828800" cy="2834640"/>
          </a:xfrm>
          <a:prstGeom prst="rect">
            <a:avLst/>
          </a:prstGeom>
        </p:spPr>
      </p:pic>
      <p:sp>
        <p:nvSpPr>
          <p:cNvPr id="12" name="Text 8"/>
          <p:cNvSpPr txBox="1"/>
          <p:nvPr/>
        </p:nvSpPr>
        <p:spPr>
          <a:xfrm>
            <a:off x="9646920" y="3950208"/>
            <a:ext cx="219456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課程地圖與時間配置（約 3 小時）</a:t>
            </a:r>
            <a:endParaRPr lang="en-US" sz="3000" dirty="0"/>
          </a:p>
        </p:txBody>
      </p:sp>
      <p:sp>
        <p:nvSpPr>
          <p:cNvPr id="3" name="agenda-card-0"/>
          <p:cNvSpPr/>
          <p:nvPr/>
        </p:nvSpPr>
        <p:spPr>
          <a:xfrm>
            <a:off x="548640" y="1325880"/>
            <a:ext cx="5440680" cy="4892040"/>
          </a:xfrm>
          <a:prstGeom prst="roundRect">
            <a:avLst>
              <a:gd name="adj" fmla="val 2243"/>
            </a:avLst>
          </a:prstGeom>
          <a:solidFill>
            <a:srgbClr val="EEF2FA"/>
          </a:solidFill>
          <a:ln w="12700">
            <a:solidFill>
              <a:srgbClr val="EEF2FA"/>
            </a:solidFill>
            <a:prstDash val="solid"/>
          </a:ln>
        </p:spPr>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85800" y="1463040"/>
          <a:ext cx="5166360" cy="914400"/>
        </p:xfrm>
        <a:graphic>
          <a:graphicData uri="http://schemas.openxmlformats.org/drawingml/2006/table">
            <a:tbl>
              <a:tblPr/>
              <a:tblGrid>
                <a:gridCol w="411480"/>
                <a:gridCol w="3931920"/>
                <a:gridCol w="822960"/>
              </a:tblGrid>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0</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課程導覽：認識講師、學習地圖與使用方式</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15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隱私與個資保護基礎觀念</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20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2</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ISO/IEC 27701:2025 改版重點與標準架構</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20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4</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第5章 領導作為：最高管理階層的承諾與隱私政策</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25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bl>
          </a:graphicData>
        </a:graphic>
      </p:graphicFrame>
      <p:sp>
        <p:nvSpPr>
          <p:cNvPr id="5" name="agenda-card-1"/>
          <p:cNvSpPr/>
          <p:nvPr/>
        </p:nvSpPr>
        <p:spPr>
          <a:xfrm>
            <a:off x="6172200" y="1325880"/>
            <a:ext cx="5440680" cy="4892040"/>
          </a:xfrm>
          <a:prstGeom prst="roundRect">
            <a:avLst>
              <a:gd name="adj" fmla="val 2243"/>
            </a:avLst>
          </a:prstGeom>
          <a:solidFill>
            <a:srgbClr val="EEF2FA"/>
          </a:solidFill>
          <a:ln w="12700">
            <a:solidFill>
              <a:srgbClr val="EEF2FA"/>
            </a:solidFill>
            <a:prstDash val="solid"/>
          </a:ln>
        </p:spPr>
      </p:sp>
      <p:graphicFrame>
        <p:nvGraphicFramePr>
          <p:cNvPr id="5" name="Table 1"/>
          <p:cNvGraphicFramePr>
            <a:graphicFrameLocks noGrp="1"/>
          </p:cNvGraphicFramePr>
          <p:nvPr>
            <p:extLst>
              <p:ext uri="{D42A27DB-BD31-4B8C-83A1-F6EECF244321}">
                <p14:modId xmlns:p14="http://schemas.microsoft.com/office/powerpoint/2010/main" val="1579011935"/>
              </p:ext>
            </p:extLst>
          </p:nvPr>
        </p:nvGraphicFramePr>
        <p:xfrm>
          <a:off x="6309360" y="1463040"/>
          <a:ext cx="5166360" cy="914400"/>
        </p:xfrm>
        <a:graphic>
          <a:graphicData uri="http://schemas.openxmlformats.org/drawingml/2006/table">
            <a:tbl>
              <a:tblPr/>
              <a:tblGrid>
                <a:gridCol w="411480"/>
                <a:gridCol w="3931920"/>
                <a:gridCol w="822960"/>
              </a:tblGrid>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5</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第6章 規劃：隱私風險評鑑與處理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25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9</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附錄A A.1.2 蒐集及處理的條件</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20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12</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附錄 A 表 A.2：PII 處理者控制措施</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25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14</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PIMS 導入實務與整合</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25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CHAPTER 00</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課程導覽：認識講師、學習地圖與使用方式</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建議時間：約 15 分鐘</a:t>
            </a:r>
            <a:endParaRPr lang="en-US" sz="1800" dirty="0"/>
          </a:p>
        </p:txBody>
      </p:sp>
      <p:sp>
        <p:nvSpPr>
          <p:cNvPr id="5" name="allan-frame"/>
          <p:cNvSpPr/>
          <p:nvPr/>
        </p:nvSpPr>
        <p:spPr>
          <a:xfrm>
            <a:off x="8997696" y="768096"/>
            <a:ext cx="2304288" cy="3511296"/>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822960"/>
            <a:ext cx="2194560" cy="3401568"/>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ISO/IEC 27701:2025 已成為可獨立驗證的 PIMS 管理系統標準</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課程導覽：ISO/IEC 27701:2025 PIMS</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t"/>
          <a:lstStyle/>
          <a:p>
            <a:pPr marL="228600" indent="-228600">
              <a:spcAft>
                <a:spcPts val="1600"/>
              </a:spcAft>
              <a:buSzPct val="100000"/>
              <a:buChar char="•"/>
            </a:pPr>
            <a:r>
              <a:rPr lang="en-US" sz="2200" dirty="0">
                <a:solidFill>
                  <a:schemeClr val="tx1"/>
                </a:solidFill>
              </a:rPr>
              <a:t>2025 版：可獨立驗證的 PIMS 標準</a:t>
            </a:r>
            <a:endParaRPr lang="en-US" sz="2200" dirty="0"/>
          </a:p>
          <a:p>
            <a:pPr marL="228600" indent="-228600">
              <a:spcAft>
                <a:spcPts val="1600"/>
              </a:spcAft>
              <a:buSzPct val="100000"/>
              <a:buChar char="•"/>
            </a:pPr>
            <a:r>
              <a:rPr lang="en-US" sz="2200" dirty="0">
                <a:solidFill>
                  <a:schemeClr val="tx1"/>
                </a:solidFill>
              </a:rPr>
              <a:t>講師 Allan：顧問 × 驗證稽核員</a:t>
            </a:r>
            <a:endParaRPr lang="en-US" sz="2200" dirty="0"/>
          </a:p>
          <a:p>
            <a:pPr marL="228600" indent="-228600">
              <a:spcAft>
                <a:spcPts val="1600"/>
              </a:spcAft>
              <a:buSzPct val="100000"/>
              <a:buChar char="•"/>
            </a:pPr>
            <a:r>
              <a:rPr lang="en-US" sz="2200" dirty="0">
                <a:solidFill>
                  <a:schemeClr val="tx1"/>
                </a:solidFill>
              </a:rPr>
              <a:t>助教阿拉蕾：專問笨問題</a:t>
            </a:r>
            <a:endParaRPr lang="en-US" sz="2200" dirty="0"/>
          </a:p>
          <a:p>
            <a:pPr marL="228600" indent="-228600">
              <a:spcAft>
                <a:spcPts val="1600"/>
              </a:spcAft>
              <a:buSzPct val="100000"/>
              <a:buChar char="•"/>
            </a:pPr>
            <a:r>
              <a:rPr lang="en-US" sz="2200" dirty="0">
                <a:solidFill>
                  <a:schemeClr val="tx1"/>
                </a:solidFill>
              </a:rPr>
              <a:t>目標：看得懂、做得出、經得起稽核</a:t>
            </a:r>
            <a:endParaRPr lang="en-US" sz="22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學習地圖與章節安排</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1900" dirty="0">
                <a:solidFill>
                  <a:schemeClr val="tx1"/>
                </a:solidFill>
              </a:rPr>
              <a:t>面向一：標準解說</a:t>
            </a:r>
            <a:endParaRPr lang="en-US" sz="19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1900" dirty="0">
                <a:solidFill>
                  <a:schemeClr val="tx1"/>
                </a:solidFill>
              </a:rPr>
              <a:t>面向二：PIMS 管理作法</a:t>
            </a:r>
            <a:endParaRPr lang="en-US" sz="19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1900" dirty="0">
                <a:solidFill>
                  <a:schemeClr val="tx1"/>
                </a:solidFill>
              </a:rPr>
              <a:t>面向三：稽核實務</a:t>
            </a:r>
            <a:endParaRPr lang="en-US" sz="19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1900" dirty="0">
                <a:solidFill>
                  <a:schemeClr val="tx1"/>
                </a:solidFill>
              </a:rPr>
              <a:t>第 1～2 章基礎，第 3 章起逐條解說</a:t>
            </a:r>
            <a:endParaRPr lang="en-US" sz="19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1900" dirty="0">
                <a:solidFill>
                  <a:schemeClr val="tx1"/>
                </a:solidFill>
              </a:rPr>
              <a:t>附錄 A 控制措施專題與總複習</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教材使用與測驗證書</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t"/>
          <a:lstStyle/>
          <a:p>
            <a:pPr marL="228600" indent="-228600">
              <a:spcAft>
                <a:spcPts val="1600"/>
              </a:spcAft>
              <a:buSzPct val="100000"/>
              <a:buChar char="•"/>
            </a:pPr>
            <a:r>
              <a:rPr lang="en-US" sz="2200" dirty="0">
                <a:solidFill>
                  <a:schemeClr val="tx1"/>
                </a:solidFill>
              </a:rPr>
              <a:t>文字教材：最完整，供查找與實作</a:t>
            </a:r>
            <a:endParaRPr lang="en-US" sz="2200" dirty="0"/>
          </a:p>
          <a:p>
            <a:pPr marL="228600" indent="-228600">
              <a:spcAft>
                <a:spcPts val="1600"/>
              </a:spcAft>
              <a:buSzPct val="100000"/>
              <a:buChar char="•"/>
            </a:pPr>
            <a:r>
              <a:rPr lang="en-US" sz="2200" dirty="0">
                <a:solidFill>
                  <a:schemeClr val="tx1"/>
                </a:solidFill>
              </a:rPr>
              <a:t>互動影音：重點講解＋即時小問題</a:t>
            </a:r>
            <a:endParaRPr lang="en-US" sz="2200" dirty="0"/>
          </a:p>
          <a:p>
            <a:pPr marL="228600" indent="-228600">
              <a:spcAft>
                <a:spcPts val="1600"/>
              </a:spcAft>
              <a:buSzPct val="100000"/>
              <a:buChar char="•"/>
            </a:pPr>
            <a:r>
              <a:rPr lang="en-US" sz="2200" dirty="0">
                <a:solidFill>
                  <a:schemeClr val="tx1"/>
                </a:solidFill>
              </a:rPr>
              <a:t>課後測驗 10 題，80 分及格</a:t>
            </a:r>
            <a:endParaRPr lang="en-US" sz="2200" dirty="0"/>
          </a:p>
          <a:p>
            <a:pPr marL="228600" indent="-228600">
              <a:spcAft>
                <a:spcPts val="1600"/>
              </a:spcAft>
              <a:buSzPct val="100000"/>
              <a:buChar char="•"/>
            </a:pPr>
            <a:r>
              <a:rPr lang="en-US" sz="2200" dirty="0">
                <a:solidFill>
                  <a:schemeClr val="tx1"/>
                </a:solidFill>
              </a:rPr>
              <a:t>及格即可下載結業證書</a:t>
            </a:r>
            <a:endParaRPr lang="en-US" sz="22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CHAPTER 01</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隱私與個資保護基礎觀念</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條款：3、4.1、ISO/IEC 29100　｜　建議時間：約 20 分鐘</a:t>
            </a:r>
            <a:endParaRPr lang="en-US" sz="1800" dirty="0"/>
          </a:p>
        </p:txBody>
      </p:sp>
      <p:sp>
        <p:nvSpPr>
          <p:cNvPr id="5" name="arale-frame"/>
          <p:cNvSpPr/>
          <p:nvPr/>
        </p:nvSpPr>
        <p:spPr>
          <a:xfrm>
            <a:off x="8997696" y="768096"/>
            <a:ext cx="2304288" cy="3028493"/>
          </a:xfrm>
          <a:prstGeom prst="roundRect">
            <a:avLst>
              <a:gd name="adj" fmla="val 7143"/>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052560" y="822960"/>
            <a:ext cx="2194560" cy="2918765"/>
          </a:xfrm>
          <a:prstGeom prst="rect">
            <a:avLst/>
          </a:prstGeom>
        </p:spPr>
      </p:pic>
      <p:sp>
        <p:nvSpPr>
          <p:cNvPr id="7" name="bubble"/>
          <p:cNvSpPr/>
          <p:nvPr/>
        </p:nvSpPr>
        <p:spPr>
          <a:xfrm>
            <a:off x="8138160" y="4572000"/>
            <a:ext cx="3657600" cy="1371600"/>
          </a:xfrm>
          <a:prstGeom prst="roundRect">
            <a:avLst>
              <a:gd name="adj" fmla="val 10000"/>
            </a:avLst>
          </a:prstGeom>
          <a:solidFill>
            <a:srgbClr val="FDE7F1"/>
          </a:solidFill>
          <a:ln w="19050">
            <a:solidFill>
              <a:srgbClr val="E8559A"/>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PII 是能直接或間接識別自然人的資訊；假名化資料通常仍屬 PII，敏感／特種個資需更嚴格保護</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PII 與敏感 PII</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t"/>
          <a:lstStyle/>
          <a:p>
            <a:pPr marL="228600" indent="-228600">
              <a:spcAft>
                <a:spcPts val="1600"/>
              </a:spcAft>
              <a:buSzPct val="100000"/>
              <a:buChar char="•"/>
            </a:pPr>
            <a:r>
              <a:rPr lang="en-US" sz="2200" dirty="0">
                <a:solidFill>
                  <a:schemeClr val="tx1"/>
                </a:solidFill>
              </a:rPr>
              <a:t>PII：可直接或間接識別自然人</a:t>
            </a:r>
            <a:endParaRPr lang="en-US" sz="2200" dirty="0"/>
          </a:p>
          <a:p>
            <a:pPr marL="228600" indent="-228600">
              <a:spcAft>
                <a:spcPts val="1600"/>
              </a:spcAft>
              <a:buSzPct val="100000"/>
              <a:buChar char="•"/>
            </a:pPr>
            <a:r>
              <a:rPr lang="en-US" sz="2200" dirty="0">
                <a:solidFill>
                  <a:schemeClr val="tx1"/>
                </a:solidFill>
              </a:rPr>
              <a:t>IP、車牌、錄音、會員編號也算</a:t>
            </a:r>
            <a:endParaRPr lang="en-US" sz="2200" dirty="0"/>
          </a:p>
          <a:p>
            <a:pPr marL="228600" indent="-228600">
              <a:spcAft>
                <a:spcPts val="1600"/>
              </a:spcAft>
              <a:buSzPct val="100000"/>
              <a:buChar char="•"/>
            </a:pPr>
            <a:r>
              <a:rPr lang="en-US" sz="2200" dirty="0">
                <a:solidFill>
                  <a:schemeClr val="tx1"/>
                </a:solidFill>
              </a:rPr>
              <a:t>假名化資料通常仍是 PII</a:t>
            </a:r>
            <a:endParaRPr lang="en-US" sz="2200" dirty="0"/>
          </a:p>
          <a:p>
            <a:pPr marL="228600" indent="-228600">
              <a:spcAft>
                <a:spcPts val="1600"/>
              </a:spcAft>
              <a:buSzPct val="100000"/>
              <a:buChar char="•"/>
            </a:pPr>
            <a:r>
              <a:rPr lang="en-US" sz="2200" dirty="0">
                <a:solidFill>
                  <a:schemeClr val="tx1"/>
                </a:solidFill>
              </a:rPr>
              <a:t>特種個資：病歷、醫療、基因等</a:t>
            </a:r>
            <a:endParaRPr lang="en-US" sz="2200" dirty="0"/>
          </a:p>
          <a:p>
            <a:pPr marL="228600" indent="-228600">
              <a:spcAft>
                <a:spcPts val="1600"/>
              </a:spcAft>
              <a:buSzPct val="100000"/>
              <a:buChar char="•"/>
            </a:pPr>
            <a:r>
              <a:rPr lang="en-US" sz="2200" dirty="0">
                <a:solidFill>
                  <a:schemeClr val="tx1"/>
                </a:solidFill>
              </a:rPr>
              <a:t>盤點表須標記敏感／特種個資</a:t>
            </a:r>
            <a:endParaRPr lang="en-US" sz="22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隱私關係人與角色判定</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1900" dirty="0">
                <a:solidFill>
                  <a:schemeClr val="tx1"/>
                </a:solidFill>
              </a:rPr>
              <a:t>關鍵：誰決定處理目的與方式</a:t>
            </a:r>
            <a:endParaRPr lang="en-US" sz="19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1900" dirty="0">
                <a:solidFill>
                  <a:schemeClr val="tx1"/>
                </a:solidFill>
              </a:rPr>
              <a:t>控制者、共同控制者（3.21）</a:t>
            </a:r>
            <a:endParaRPr lang="en-US" sz="19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1900" dirty="0">
                <a:solidFill>
                  <a:schemeClr val="tx1"/>
                </a:solidFill>
              </a:rPr>
              <a:t>處理者、分包處理者、第三方</a:t>
            </a:r>
            <a:endParaRPr lang="en-US" sz="19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1900" dirty="0">
                <a:solidFill>
                  <a:schemeClr val="tx1"/>
                </a:solidFill>
              </a:rPr>
              <a:t>角色依處理活動判定</a:t>
            </a:r>
            <a:endParaRPr lang="en-US" sz="19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1900" dirty="0">
                <a:solidFill>
                  <a:schemeClr val="tx1"/>
                </a:solidFill>
              </a:rPr>
              <a:t>雙角色須分別判定（4.1）</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ISO/IEC 29100 十一項隱私原則</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t"/>
          <a:lstStyle/>
          <a:p>
            <a:pPr marL="228600" indent="-228600">
              <a:spcAft>
                <a:spcPts val="1600"/>
              </a:spcAft>
              <a:buSzPct val="100000"/>
              <a:buChar char="•"/>
            </a:pPr>
            <a:r>
              <a:rPr lang="en-US" sz="2200" dirty="0">
                <a:solidFill>
                  <a:schemeClr val="tx1"/>
                </a:solidFill>
              </a:rPr>
              <a:t>同意與選擇、目的合法性與規格</a:t>
            </a:r>
            <a:endParaRPr lang="en-US" sz="2200" dirty="0"/>
          </a:p>
          <a:p>
            <a:pPr marL="228600" indent="-228600">
              <a:spcAft>
                <a:spcPts val="1600"/>
              </a:spcAft>
              <a:buSzPct val="100000"/>
              <a:buChar char="•"/>
            </a:pPr>
            <a:r>
              <a:rPr lang="en-US" sz="2200" dirty="0">
                <a:solidFill>
                  <a:schemeClr val="tx1"/>
                </a:solidFill>
              </a:rPr>
              <a:t>蒐集限制、資料最小化</a:t>
            </a:r>
            <a:endParaRPr lang="en-US" sz="2200" dirty="0"/>
          </a:p>
          <a:p>
            <a:pPr marL="228600" indent="-228600">
              <a:spcAft>
                <a:spcPts val="1600"/>
              </a:spcAft>
              <a:buSzPct val="100000"/>
              <a:buChar char="•"/>
            </a:pPr>
            <a:r>
              <a:rPr lang="en-US" sz="2200" dirty="0">
                <a:solidFill>
                  <a:schemeClr val="tx1"/>
                </a:solidFill>
              </a:rPr>
              <a:t>使用保存及揭露限制、正確性與品質</a:t>
            </a:r>
            <a:endParaRPr lang="en-US" sz="2200" dirty="0"/>
          </a:p>
          <a:p>
            <a:pPr marL="228600" indent="-228600">
              <a:spcAft>
                <a:spcPts val="1600"/>
              </a:spcAft>
              <a:buSzPct val="100000"/>
              <a:buChar char="•"/>
            </a:pPr>
            <a:r>
              <a:rPr lang="en-US" sz="2200" dirty="0">
                <a:solidFill>
                  <a:schemeClr val="tx1"/>
                </a:solidFill>
              </a:rPr>
              <a:t>公開透明及告知、個人參與及存取</a:t>
            </a:r>
            <a:endParaRPr lang="en-US" sz="2200" dirty="0"/>
          </a:p>
          <a:p>
            <a:pPr marL="228600" indent="-228600">
              <a:spcAft>
                <a:spcPts val="1600"/>
              </a:spcAft>
              <a:buSzPct val="100000"/>
              <a:buChar char="•"/>
            </a:pPr>
            <a:r>
              <a:rPr lang="en-US" sz="2200" dirty="0">
                <a:solidFill>
                  <a:schemeClr val="tx1"/>
                </a:solidFill>
              </a:rPr>
              <a:t>可歸責性、資訊安全、隱私遵循</a:t>
            </a:r>
            <a:endParaRPr lang="en-US" sz="22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法規環境：GDPR 與台灣個資法</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1900" dirty="0">
                <a:solidFill>
                  <a:schemeClr val="tx1"/>
                </a:solidFill>
              </a:rPr>
              <a:t>GDPR：域外效力、第 6 條六種合法基礎</a:t>
            </a:r>
            <a:endParaRPr lang="en-US" sz="19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1900" dirty="0">
                <a:solidFill>
                  <a:schemeClr val="tx1"/>
                </a:solidFill>
              </a:rPr>
              <a:t>GDPR：72 小時通報、高額罰款</a:t>
            </a:r>
            <a:endParaRPr lang="en-US" sz="19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1900" dirty="0">
                <a:solidFill>
                  <a:schemeClr val="tx1"/>
                </a:solidFill>
              </a:rPr>
              <a:t>台灣個資法：告知、特定目的、當事人權利</a:t>
            </a:r>
            <a:endParaRPr lang="en-US" sz="19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1900" dirty="0">
                <a:solidFill>
                  <a:schemeClr val="tx1"/>
                </a:solidFill>
              </a:rPr>
              <a:t>委託處理：受託者視同委託機關</a:t>
            </a:r>
            <a:endParaRPr lang="en-US" sz="19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1900" dirty="0">
                <a:solidFill>
                  <a:schemeClr val="tx1"/>
                </a:solidFill>
              </a:rPr>
              <a:t>修法與罰則依最新公告</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為什麼需要 PIMS</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t"/>
          <a:lstStyle/>
          <a:p>
            <a:pPr marL="228600" indent="-228600">
              <a:spcAft>
                <a:spcPts val="1600"/>
              </a:spcAft>
              <a:buSzPct val="100000"/>
              <a:buChar char="•"/>
            </a:pPr>
            <a:r>
              <a:rPr lang="en-US" sz="2200" dirty="0">
                <a:solidFill>
                  <a:schemeClr val="tx1"/>
                </a:solidFill>
              </a:rPr>
              <a:t>隱私不等於資安</a:t>
            </a:r>
            <a:endParaRPr lang="en-US" sz="2200" dirty="0"/>
          </a:p>
          <a:p>
            <a:pPr marL="228600" indent="-228600">
              <a:spcAft>
                <a:spcPts val="1600"/>
              </a:spcAft>
              <a:buSzPct val="100000"/>
              <a:buChar char="•"/>
            </a:pPr>
            <a:r>
              <a:rPr lang="en-US" sz="2200" dirty="0">
                <a:solidFill>
                  <a:schemeClr val="tx1"/>
                </a:solidFill>
              </a:rPr>
              <a:t>風險評鑑要看對當事人的後果</a:t>
            </a:r>
            <a:endParaRPr lang="en-US" sz="2200" dirty="0"/>
          </a:p>
          <a:p>
            <a:pPr marL="228600" indent="-228600">
              <a:spcAft>
                <a:spcPts val="1600"/>
              </a:spcAft>
              <a:buSzPct val="100000"/>
              <a:buChar char="•"/>
            </a:pPr>
            <a:r>
              <a:rPr lang="en-US" sz="2200" dirty="0">
                <a:solidFill>
                  <a:schemeClr val="tx1"/>
                </a:solidFill>
              </a:rPr>
              <a:t>法遵、信任、可歸責性</a:t>
            </a:r>
            <a:endParaRPr lang="en-US" sz="2200" dirty="0"/>
          </a:p>
          <a:p>
            <a:pPr marL="228600" indent="-228600">
              <a:spcAft>
                <a:spcPts val="1600"/>
              </a:spcAft>
              <a:buSzPct val="100000"/>
              <a:buChar char="•"/>
            </a:pPr>
            <a:r>
              <a:rPr lang="en-US" sz="2200" dirty="0">
                <a:solidFill>
                  <a:schemeClr val="tx1"/>
                </a:solidFill>
              </a:rPr>
              <a:t>釐清供應鏈權責</a:t>
            </a:r>
            <a:endParaRPr lang="en-US" sz="2200" dirty="0"/>
          </a:p>
          <a:p>
            <a:pPr marL="228600" indent="-228600">
              <a:spcAft>
                <a:spcPts val="1600"/>
              </a:spcAft>
              <a:buSzPct val="100000"/>
              <a:buChar char="•"/>
            </a:pPr>
            <a:r>
              <a:rPr lang="en-US" sz="2200" dirty="0">
                <a:solidFill>
                  <a:schemeClr val="tx1"/>
                </a:solidFill>
              </a:rPr>
              <a:t>PDCA 持續改善</a:t>
            </a:r>
            <a:endParaRPr lang="en-US" sz="22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CHAPTER 02</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ISO/IEC 27701:2025 改版重點與標準架構</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條款：1、2、3、4–10、附錄 A–F　｜　建議時間：約 20 分鐘</a:t>
            </a:r>
            <a:endParaRPr lang="en-US" sz="1800" dirty="0"/>
          </a:p>
        </p:txBody>
      </p:sp>
      <p:sp>
        <p:nvSpPr>
          <p:cNvPr id="5" name="allan-frame"/>
          <p:cNvSpPr/>
          <p:nvPr/>
        </p:nvSpPr>
        <p:spPr>
          <a:xfrm>
            <a:off x="8997696" y="768096"/>
            <a:ext cx="2304288" cy="3511296"/>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822960"/>
            <a:ext cx="2194560" cy="3401568"/>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27701:2025 採 HS 共通架構，成為可獨立驗證的 PIMS 管理系統標準，也可與 ISMS 整合</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27701:2025 最大改變</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t"/>
          <a:lstStyle/>
          <a:p>
            <a:pPr marL="228600" indent="-228600">
              <a:spcAft>
                <a:spcPts val="1600"/>
              </a:spcAft>
              <a:buSzPct val="100000"/>
              <a:buChar char="•"/>
            </a:pPr>
            <a:r>
              <a:rPr lang="en-US" sz="2200" dirty="0">
                <a:solidFill>
                  <a:schemeClr val="tx1"/>
                </a:solidFill>
              </a:rPr>
              <a:t>2019：27001／27002 的隱私延伸</a:t>
            </a:r>
            <a:endParaRPr lang="en-US" sz="2200" dirty="0"/>
          </a:p>
          <a:p>
            <a:pPr marL="228600" indent="-228600">
              <a:spcAft>
                <a:spcPts val="1600"/>
              </a:spcAft>
              <a:buSzPct val="100000"/>
              <a:buChar char="•"/>
            </a:pPr>
            <a:r>
              <a:rPr lang="en-US" sz="2200" dirty="0">
                <a:solidFill>
                  <a:schemeClr val="tx1"/>
                </a:solidFill>
              </a:rPr>
              <a:t>2025：獨立 PIMS 管理系統標準</a:t>
            </a:r>
            <a:endParaRPr lang="en-US" sz="2200" dirty="0"/>
          </a:p>
          <a:p>
            <a:pPr marL="228600" indent="-228600">
              <a:spcAft>
                <a:spcPts val="1600"/>
              </a:spcAft>
              <a:buSzPct val="100000"/>
              <a:buChar char="•"/>
            </a:pPr>
            <a:r>
              <a:rPr lang="en-US" sz="2200" dirty="0">
                <a:solidFill>
                  <a:schemeClr val="tx1"/>
                </a:solidFill>
              </a:rPr>
              <a:t>採 HS 共通架構第 4～10 章</a:t>
            </a:r>
            <a:endParaRPr lang="en-US" sz="2200" dirty="0"/>
          </a:p>
          <a:p>
            <a:pPr marL="228600" indent="-228600">
              <a:spcAft>
                <a:spcPts val="1600"/>
              </a:spcAft>
              <a:buSzPct val="100000"/>
              <a:buChar char="•"/>
            </a:pPr>
            <a:r>
              <a:rPr lang="en-US" sz="2200" dirty="0">
                <a:solidFill>
                  <a:schemeClr val="tx1"/>
                </a:solidFill>
              </a:rPr>
              <a:t>唯一引用標準：ISO/IEC 29100</a:t>
            </a:r>
            <a:endParaRPr lang="en-US" sz="2200" dirty="0"/>
          </a:p>
          <a:p>
            <a:pPr marL="228600" indent="-228600">
              <a:spcAft>
                <a:spcPts val="1600"/>
              </a:spcAft>
              <a:buSzPct val="100000"/>
              <a:buChar char="•"/>
            </a:pPr>
            <a:r>
              <a:rPr lang="en-US" sz="2200" dirty="0">
                <a:solidFill>
                  <a:schemeClr val="tx1"/>
                </a:solidFill>
              </a:rPr>
              <a:t>可獨立驗證，亦可與 ISMS 整合</a:t>
            </a:r>
            <a:endParaRPr lang="en-US" sz="22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HS 架構與 2025 新要求</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1900" dirty="0">
                <a:solidFill>
                  <a:schemeClr val="tx1"/>
                </a:solidFill>
              </a:rPr>
              <a:t>第 4～10 章對應 PDCA</a:t>
            </a:r>
            <a:endParaRPr lang="en-US" sz="19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1900" dirty="0">
                <a:solidFill>
                  <a:schemeClr val="tx1"/>
                </a:solidFill>
              </a:rPr>
              <a:t>4.1 氣候變遷、角色判定</a:t>
            </a:r>
            <a:endParaRPr lang="en-US" sz="19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1900" dirty="0">
                <a:solidFill>
                  <a:schemeClr val="tx1"/>
                </a:solidFill>
              </a:rPr>
              <a:t>4.2 關注方含 PII 當事人</a:t>
            </a:r>
            <a:endParaRPr lang="en-US" sz="19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1900" dirty="0">
                <a:solidFill>
                  <a:schemeClr val="tx1"/>
                </a:solidFill>
              </a:rPr>
              <a:t>4.3 範圍納入 PII 處理</a:t>
            </a:r>
            <a:endParaRPr lang="en-US" sz="19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1900" dirty="0">
                <a:solidFill>
                  <a:schemeClr val="tx1"/>
                </a:solidFill>
              </a:rPr>
              <a:t>6.1.2 評估對當事人的後果</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資訊安全方案（3.24、6.1.3 c)）</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t"/>
          <a:lstStyle/>
          <a:p>
            <a:pPr marL="228600" indent="-228600">
              <a:spcAft>
                <a:spcPts val="1600"/>
              </a:spcAft>
              <a:buSzPct val="100000"/>
              <a:buChar char="•"/>
            </a:pPr>
            <a:r>
              <a:rPr lang="en-US" sz="2200" dirty="0">
                <a:solidFill>
                  <a:schemeClr val="tx1"/>
                </a:solidFill>
              </a:rPr>
              <a:t>政策、目標、過程的集合</a:t>
            </a:r>
            <a:endParaRPr lang="en-US" sz="2200" dirty="0"/>
          </a:p>
          <a:p>
            <a:pPr marL="228600" indent="-228600">
              <a:spcAft>
                <a:spcPts val="1600"/>
              </a:spcAft>
              <a:buSzPct val="100000"/>
              <a:buChar char="•"/>
            </a:pPr>
            <a:r>
              <a:rPr lang="en-US" sz="2200" dirty="0">
                <a:solidFill>
                  <a:schemeClr val="tx1"/>
                </a:solidFill>
              </a:rPr>
              <a:t>例如依 27001 建立的 ISMS</a:t>
            </a:r>
            <a:endParaRPr lang="en-US" sz="2200" dirty="0"/>
          </a:p>
          <a:p>
            <a:pPr marL="228600" indent="-228600">
              <a:spcAft>
                <a:spcPts val="1600"/>
              </a:spcAft>
              <a:buSzPct val="100000"/>
              <a:buChar char="•"/>
            </a:pPr>
            <a:r>
              <a:rPr lang="en-US" sz="2200" dirty="0">
                <a:solidFill>
                  <a:schemeClr val="tx1"/>
                </a:solidFill>
              </a:rPr>
              <a:t>最少涵蓋 15 個安全領域</a:t>
            </a:r>
            <a:endParaRPr lang="en-US" sz="2200" dirty="0"/>
          </a:p>
          <a:p>
            <a:pPr marL="228600" indent="-228600">
              <a:spcAft>
                <a:spcPts val="1600"/>
              </a:spcAft>
              <a:buSzPct val="100000"/>
              <a:buChar char="•"/>
            </a:pPr>
            <a:r>
              <a:rPr lang="en-US" sz="2200" dirty="0">
                <a:solidFill>
                  <a:schemeClr val="tx1"/>
                </a:solidFill>
              </a:rPr>
              <a:t>範圍須涵蓋 PIMS 範圍</a:t>
            </a:r>
            <a:endParaRPr lang="en-US" sz="2200" dirty="0"/>
          </a:p>
          <a:p>
            <a:pPr marL="228600" indent="-228600">
              <a:spcAft>
                <a:spcPts val="1600"/>
              </a:spcAft>
              <a:buSzPct val="100000"/>
              <a:buChar char="•"/>
            </a:pPr>
            <a:r>
              <a:rPr lang="en-US" sz="2200" dirty="0">
                <a:solidFill>
                  <a:schemeClr val="tx1"/>
                </a:solidFill>
              </a:rPr>
              <a:t>N/A 控制仍由方案涵蓋</a:t>
            </a:r>
            <a:endParaRPr lang="en-US" sz="22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附錄 A～F 結構</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1900" dirty="0">
                <a:solidFill>
                  <a:schemeClr val="tx1"/>
                </a:solidFill>
              </a:rPr>
              <a:t>表 A.1 控制者 31 項</a:t>
            </a:r>
            <a:endParaRPr lang="en-US" sz="19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1900" dirty="0">
                <a:solidFill>
                  <a:schemeClr val="tx1"/>
                </a:solidFill>
              </a:rPr>
              <a:t>表 A.2 處理者 18 項</a:t>
            </a:r>
            <a:endParaRPr lang="en-US" sz="19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1900" dirty="0">
                <a:solidFill>
                  <a:schemeClr val="tx1"/>
                </a:solidFill>
              </a:rPr>
              <a:t>表 A.3 共通安全 29 項</a:t>
            </a:r>
            <a:endParaRPr lang="en-US" sz="19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1900" dirty="0">
                <a:solidFill>
                  <a:schemeClr val="tx1"/>
                </a:solidFill>
              </a:rPr>
              <a:t>附錄 B 指引編號對應附錄 A</a:t>
            </a:r>
            <a:endParaRPr lang="en-US" sz="19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1900" dirty="0">
                <a:solidFill>
                  <a:schemeClr val="tx1"/>
                </a:solidFill>
              </a:rPr>
              <a:t>C：29100、D：GDPR、E：27018／29151、F：2019</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2019 → 2025 轉版</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t"/>
          <a:lstStyle/>
          <a:p>
            <a:pPr marL="228600" indent="-228600">
              <a:spcAft>
                <a:spcPts val="1600"/>
              </a:spcAft>
              <a:buSzPct val="100000"/>
              <a:buChar char="•"/>
            </a:pPr>
            <a:r>
              <a:rPr lang="en-US" sz="2200" dirty="0">
                <a:solidFill>
                  <a:schemeClr val="tx1"/>
                </a:solidFill>
              </a:rPr>
              <a:t>第 7 章→A.1、第 8 章→A.2</a:t>
            </a:r>
            <a:endParaRPr lang="en-US" sz="2200" dirty="0"/>
          </a:p>
          <a:p>
            <a:pPr marL="228600" indent="-228600">
              <a:spcAft>
                <a:spcPts val="1600"/>
              </a:spcAft>
              <a:buSzPct val="100000"/>
              <a:buChar char="•"/>
            </a:pPr>
            <a:r>
              <a:rPr lang="en-US" sz="2200" dirty="0">
                <a:solidFill>
                  <a:schemeClr val="tx1"/>
                </a:solidFill>
              </a:rPr>
              <a:t>第 6 章部分→A.3，多對一合併</a:t>
            </a:r>
            <a:endParaRPr lang="en-US" sz="2200" dirty="0"/>
          </a:p>
          <a:p>
            <a:pPr marL="228600" indent="-228600">
              <a:spcAft>
                <a:spcPts val="1600"/>
              </a:spcAft>
              <a:buSzPct val="100000"/>
              <a:buChar char="•"/>
            </a:pPr>
            <a:r>
              <a:rPr lang="en-US" sz="2200" dirty="0">
                <a:solidFill>
                  <a:schemeClr val="tx1"/>
                </a:solidFill>
              </a:rPr>
              <a:t>差異分析：條文、方案、風險、SoA</a:t>
            </a:r>
            <a:endParaRPr lang="en-US" sz="2200" dirty="0"/>
          </a:p>
          <a:p>
            <a:pPr marL="228600" indent="-228600">
              <a:spcAft>
                <a:spcPts val="1600"/>
              </a:spcAft>
              <a:buSzPct val="100000"/>
              <a:buChar char="•"/>
            </a:pPr>
            <a:r>
              <a:rPr lang="en-US" sz="2200" dirty="0">
                <a:solidFill>
                  <a:schemeClr val="tx1"/>
                </a:solidFill>
              </a:rPr>
              <a:t>更新文件條號與教育訓練</a:t>
            </a:r>
            <a:endParaRPr lang="en-US" sz="2200" dirty="0"/>
          </a:p>
          <a:p>
            <a:pPr marL="228600" indent="-228600">
              <a:spcAft>
                <a:spcPts val="1600"/>
              </a:spcAft>
              <a:buSzPct val="100000"/>
              <a:buChar char="•"/>
            </a:pPr>
            <a:r>
              <a:rPr lang="en-US" sz="2200" dirty="0">
                <a:solidFill>
                  <a:schemeClr val="tx1"/>
                </a:solidFill>
              </a:rPr>
              <a:t>期限依 TAF／IAF 與驗證機構公告</a:t>
            </a:r>
            <a:endParaRPr lang="en-US" sz="22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這裡要留證據</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CHAPTER 04</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第5章 領導作為：最高管理階層的承諾與隱私政策</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條款：5.1、5.2、5.3　｜　建議時間：約 25 分鐘</a:t>
            </a:r>
            <a:endParaRPr lang="en-US" sz="1800" dirty="0"/>
          </a:p>
        </p:txBody>
      </p:sp>
      <p:sp>
        <p:nvSpPr>
          <p:cNvPr id="5" name="arale-frame"/>
          <p:cNvSpPr/>
          <p:nvPr/>
        </p:nvSpPr>
        <p:spPr>
          <a:xfrm>
            <a:off x="8997696" y="768096"/>
            <a:ext cx="2304288" cy="3028493"/>
          </a:xfrm>
          <a:prstGeom prst="roundRect">
            <a:avLst>
              <a:gd name="adj" fmla="val 7143"/>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052560" y="822960"/>
            <a:ext cx="2194560" cy="2918765"/>
          </a:xfrm>
          <a:prstGeom prst="rect">
            <a:avLst/>
          </a:prstGeom>
        </p:spPr>
      </p:pic>
      <p:sp>
        <p:nvSpPr>
          <p:cNvPr id="7" name="bubble"/>
          <p:cNvSpPr/>
          <p:nvPr/>
        </p:nvSpPr>
        <p:spPr>
          <a:xfrm>
            <a:off x="8138160" y="4572000"/>
            <a:ext cx="3657600" cy="1371600"/>
          </a:xfrm>
          <a:prstGeom prst="roundRect">
            <a:avLst>
              <a:gd name="adj" fmla="val 10000"/>
            </a:avLst>
          </a:prstGeom>
          <a:solidFill>
            <a:srgbClr val="FDE7F1"/>
          </a:solidFill>
          <a:ln w="19050">
            <a:solidFill>
              <a:srgbClr val="E8559A"/>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5.1 的關鍵字是「展現」，要有預算、會議、公告、決策等可見證據</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第 5 章 領導作為：總覽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t"/>
          <a:lstStyle/>
          <a:p>
            <a:pPr marL="228600" indent="-228600">
              <a:spcAft>
                <a:spcPts val="1600"/>
              </a:spcAft>
              <a:buSzPct val="100000"/>
              <a:buChar char="•"/>
            </a:pPr>
            <a:r>
              <a:rPr lang="en-US" sz="2200" dirty="0">
                <a:solidFill>
                  <a:schemeClr val="tx1"/>
                </a:solidFill>
              </a:rPr>
              <a:t>主詞是最高管理階層</a:t>
            </a:r>
            <a:endParaRPr lang="en-US" sz="2200" dirty="0"/>
          </a:p>
          <a:p>
            <a:pPr marL="228600" indent="-228600">
              <a:spcAft>
                <a:spcPts val="1600"/>
              </a:spcAft>
              <a:buSzPct val="100000"/>
              <a:buChar char="•"/>
            </a:pPr>
            <a:r>
              <a:rPr lang="en-US" sz="2200" dirty="0">
                <a:solidFill>
                  <a:schemeClr val="tx1"/>
                </a:solidFill>
              </a:rPr>
              <a:t>5.1 八項領導行動</a:t>
            </a:r>
            <a:endParaRPr lang="en-US" sz="2200" dirty="0"/>
          </a:p>
          <a:p>
            <a:pPr marL="228600" indent="-228600">
              <a:spcAft>
                <a:spcPts val="1600"/>
              </a:spcAft>
              <a:buSzPct val="100000"/>
              <a:buChar char="•"/>
            </a:pPr>
            <a:r>
              <a:rPr lang="en-US" sz="2200" dirty="0">
                <a:solidFill>
                  <a:schemeClr val="tx1"/>
                </a:solidFill>
              </a:rPr>
              <a:t>5.2 隱私政策四內容三要求</a:t>
            </a:r>
            <a:endParaRPr lang="en-US" sz="2200" dirty="0"/>
          </a:p>
          <a:p>
            <a:pPr marL="228600" indent="-228600">
              <a:spcAft>
                <a:spcPts val="1600"/>
              </a:spcAft>
              <a:buSzPct val="100000"/>
              <a:buChar char="•"/>
            </a:pPr>
            <a:r>
              <a:rPr lang="en-US" sz="2200" dirty="0">
                <a:solidFill>
                  <a:schemeClr val="tx1"/>
                </a:solidFill>
              </a:rPr>
              <a:t>5.3 兩項必要指派</a:t>
            </a:r>
            <a:endParaRPr lang="en-US" sz="22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5.1 領導及承諾 a)–h)</a:t>
            </a:r>
            <a:endParaRPr lang="en-US" sz="3000" dirty="0"/>
          </a:p>
        </p:txBody>
      </p:sp>
      <p:sp>
        <p:nvSpPr>
          <p:cNvPr id="3" name="card-0"/>
          <p:cNvSpPr/>
          <p:nvPr/>
        </p:nvSpPr>
        <p:spPr>
          <a:xfrm>
            <a:off x="548640" y="1371600"/>
            <a:ext cx="5394960" cy="1463040"/>
          </a:xfrm>
          <a:prstGeom prst="roundRect">
            <a:avLst>
              <a:gd name="adj" fmla="val 7500"/>
            </a:avLst>
          </a:prstGeom>
          <a:solidFill>
            <a:srgbClr val="EEF2FA"/>
          </a:solidFill>
          <a:ln w="12700">
            <a:solidFill>
              <a:srgbClr val="EEF2FA"/>
            </a:solidFill>
            <a:prstDash val="solid"/>
          </a:ln>
        </p:spPr>
      </p:sp>
      <p:sp>
        <p:nvSpPr>
          <p:cNvPr id="4" name="num-0"/>
          <p:cNvSpPr/>
          <p:nvPr/>
        </p:nvSpPr>
        <p:spPr>
          <a:xfrm>
            <a:off x="777240" y="182880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288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80160"/>
          </a:xfrm>
          <a:prstGeom prst="rect">
            <a:avLst/>
          </a:prstGeom>
          <a:noFill/>
          <a:ln/>
        </p:spPr>
        <p:txBody>
          <a:bodyPr wrap="square" lIns="0" tIns="0" rIns="0" bIns="0" rtlCol="0" anchor="ctr"/>
          <a:lstStyle/>
          <a:p>
            <a:pPr indent="0" marL="0">
              <a:buNone/>
            </a:pPr>
            <a:r>
              <a:rPr lang="en-US" sz="1900" dirty="0">
                <a:solidFill>
                  <a:schemeClr val="tx1"/>
                </a:solidFill>
              </a:rPr>
              <a:t>a 政策目標與策略相容</a:t>
            </a:r>
            <a:endParaRPr lang="en-US" sz="1900" dirty="0"/>
          </a:p>
        </p:txBody>
      </p:sp>
      <p:sp>
        <p:nvSpPr>
          <p:cNvPr id="7" name="card-1"/>
          <p:cNvSpPr/>
          <p:nvPr/>
        </p:nvSpPr>
        <p:spPr>
          <a:xfrm>
            <a:off x="6217920" y="1371600"/>
            <a:ext cx="5394960" cy="1463040"/>
          </a:xfrm>
          <a:prstGeom prst="roundRect">
            <a:avLst>
              <a:gd name="adj" fmla="val 7500"/>
            </a:avLst>
          </a:prstGeom>
          <a:solidFill>
            <a:srgbClr val="EEF2FA"/>
          </a:solidFill>
          <a:ln w="12700">
            <a:solidFill>
              <a:srgbClr val="EEF2FA"/>
            </a:solidFill>
            <a:prstDash val="solid"/>
          </a:ln>
        </p:spPr>
      </p:sp>
      <p:sp>
        <p:nvSpPr>
          <p:cNvPr id="8" name="num-1"/>
          <p:cNvSpPr/>
          <p:nvPr/>
        </p:nvSpPr>
        <p:spPr>
          <a:xfrm>
            <a:off x="6446520" y="182880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288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80160"/>
          </a:xfrm>
          <a:prstGeom prst="rect">
            <a:avLst/>
          </a:prstGeom>
          <a:noFill/>
          <a:ln/>
        </p:spPr>
        <p:txBody>
          <a:bodyPr wrap="square" lIns="0" tIns="0" rIns="0" bIns="0" rtlCol="0" anchor="ctr"/>
          <a:lstStyle/>
          <a:p>
            <a:pPr indent="0" marL="0">
              <a:buNone/>
            </a:pPr>
            <a:r>
              <a:rPr lang="en-US" sz="1900" dirty="0">
                <a:solidFill>
                  <a:schemeClr val="tx1"/>
                </a:solidFill>
              </a:rPr>
              <a:t>b 整合營運過程、c 資源</a:t>
            </a:r>
            <a:endParaRPr lang="en-US" sz="1900" dirty="0"/>
          </a:p>
        </p:txBody>
      </p:sp>
      <p:sp>
        <p:nvSpPr>
          <p:cNvPr id="11" name="card-2"/>
          <p:cNvSpPr/>
          <p:nvPr/>
        </p:nvSpPr>
        <p:spPr>
          <a:xfrm>
            <a:off x="548640" y="3108960"/>
            <a:ext cx="5394960" cy="1463040"/>
          </a:xfrm>
          <a:prstGeom prst="roundRect">
            <a:avLst>
              <a:gd name="adj" fmla="val 7500"/>
            </a:avLst>
          </a:prstGeom>
          <a:solidFill>
            <a:srgbClr val="EEF2FA"/>
          </a:solidFill>
          <a:ln w="12700">
            <a:solidFill>
              <a:srgbClr val="EEF2FA"/>
            </a:solidFill>
            <a:prstDash val="solid"/>
          </a:ln>
        </p:spPr>
      </p:sp>
      <p:sp>
        <p:nvSpPr>
          <p:cNvPr id="12" name="num-2"/>
          <p:cNvSpPr/>
          <p:nvPr/>
        </p:nvSpPr>
        <p:spPr>
          <a:xfrm>
            <a:off x="777240" y="356616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661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200400"/>
            <a:ext cx="4251960" cy="1280160"/>
          </a:xfrm>
          <a:prstGeom prst="rect">
            <a:avLst/>
          </a:prstGeom>
          <a:noFill/>
          <a:ln/>
        </p:spPr>
        <p:txBody>
          <a:bodyPr wrap="square" lIns="0" tIns="0" rIns="0" bIns="0" rtlCol="0" anchor="ctr"/>
          <a:lstStyle/>
          <a:p>
            <a:pPr indent="0" marL="0">
              <a:buNone/>
            </a:pPr>
            <a:r>
              <a:rPr lang="en-US" sz="1900" dirty="0">
                <a:solidFill>
                  <a:schemeClr val="tx1"/>
                </a:solidFill>
              </a:rPr>
              <a:t>d 傳達重要性、e 達成成果</a:t>
            </a:r>
            <a:endParaRPr lang="en-US" sz="1900" dirty="0"/>
          </a:p>
        </p:txBody>
      </p:sp>
      <p:sp>
        <p:nvSpPr>
          <p:cNvPr id="15" name="card-3"/>
          <p:cNvSpPr/>
          <p:nvPr/>
        </p:nvSpPr>
        <p:spPr>
          <a:xfrm>
            <a:off x="6217920" y="3108960"/>
            <a:ext cx="5394960" cy="1463040"/>
          </a:xfrm>
          <a:prstGeom prst="roundRect">
            <a:avLst>
              <a:gd name="adj" fmla="val 7500"/>
            </a:avLst>
          </a:prstGeom>
          <a:solidFill>
            <a:srgbClr val="EEF2FA"/>
          </a:solidFill>
          <a:ln w="12700">
            <a:solidFill>
              <a:srgbClr val="EEF2FA"/>
            </a:solidFill>
            <a:prstDash val="solid"/>
          </a:ln>
        </p:spPr>
      </p:sp>
      <p:sp>
        <p:nvSpPr>
          <p:cNvPr id="16" name="num-3"/>
          <p:cNvSpPr/>
          <p:nvPr/>
        </p:nvSpPr>
        <p:spPr>
          <a:xfrm>
            <a:off x="6446520" y="356616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661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200400"/>
            <a:ext cx="4251960" cy="1280160"/>
          </a:xfrm>
          <a:prstGeom prst="rect">
            <a:avLst/>
          </a:prstGeom>
          <a:noFill/>
          <a:ln/>
        </p:spPr>
        <p:txBody>
          <a:bodyPr wrap="square" lIns="0" tIns="0" rIns="0" bIns="0" rtlCol="0" anchor="ctr"/>
          <a:lstStyle/>
          <a:p>
            <a:pPr indent="0" marL="0">
              <a:buNone/>
            </a:pPr>
            <a:r>
              <a:rPr lang="en-US" sz="1900" dirty="0">
                <a:solidFill>
                  <a:schemeClr val="tx1"/>
                </a:solidFill>
              </a:rPr>
              <a:t>f 支援人員、g 持續改善、h 支持其他主管</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5.2 隱私政策</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t"/>
          <a:lstStyle/>
          <a:p>
            <a:pPr marL="228600" indent="-228600">
              <a:spcAft>
                <a:spcPts val="1600"/>
              </a:spcAft>
              <a:buSzPct val="100000"/>
              <a:buChar char="•"/>
            </a:pPr>
            <a:r>
              <a:rPr lang="en-US" sz="2200" dirty="0">
                <a:solidFill>
                  <a:schemeClr val="tx1"/>
                </a:solidFill>
              </a:rPr>
              <a:t>四內容：目的、目標框架</a:t>
            </a:r>
            <a:endParaRPr lang="en-US" sz="2200" dirty="0"/>
          </a:p>
          <a:p>
            <a:pPr marL="228600" indent="-228600">
              <a:spcAft>
                <a:spcPts val="1600"/>
              </a:spcAft>
              <a:buSzPct val="100000"/>
              <a:buChar char="•"/>
            </a:pPr>
            <a:r>
              <a:rPr lang="en-US" sz="2200" dirty="0">
                <a:solidFill>
                  <a:schemeClr val="tx1"/>
                </a:solidFill>
              </a:rPr>
              <a:t>四內容：遵循承諾、持續改善</a:t>
            </a:r>
            <a:endParaRPr lang="en-US" sz="2200" dirty="0"/>
          </a:p>
          <a:p>
            <a:pPr marL="228600" indent="-228600">
              <a:spcAft>
                <a:spcPts val="1600"/>
              </a:spcAft>
              <a:buSzPct val="100000"/>
              <a:buChar char="•"/>
            </a:pPr>
            <a:r>
              <a:rPr lang="en-US" sz="2200" dirty="0">
                <a:solidFill>
                  <a:schemeClr val="tx1"/>
                </a:solidFill>
              </a:rPr>
              <a:t>三要求：文件化、內部傳達</a:t>
            </a:r>
            <a:endParaRPr lang="en-US" sz="2200" dirty="0"/>
          </a:p>
          <a:p>
            <a:pPr marL="228600" indent="-228600">
              <a:spcAft>
                <a:spcPts val="1600"/>
              </a:spcAft>
              <a:buSzPct val="100000"/>
              <a:buChar char="•"/>
            </a:pPr>
            <a:r>
              <a:rPr lang="en-US" sz="2200" dirty="0">
                <a:solidFill>
                  <a:schemeClr val="tx1"/>
                </a:solidFill>
              </a:rPr>
              <a:t>三要求：適切時關注方可取得</a:t>
            </a:r>
            <a:endParaRPr lang="en-US" sz="22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內部政策 vs 對外隱私聲明</a:t>
            </a:r>
            <a:endParaRPr lang="en-US" sz="3000" dirty="0"/>
          </a:p>
        </p:txBody>
      </p:sp>
      <p:sp>
        <p:nvSpPr>
          <p:cNvPr id="3" name="card-0"/>
          <p:cNvSpPr/>
          <p:nvPr/>
        </p:nvSpPr>
        <p:spPr>
          <a:xfrm>
            <a:off x="548640" y="1371600"/>
            <a:ext cx="5394960" cy="1463040"/>
          </a:xfrm>
          <a:prstGeom prst="roundRect">
            <a:avLst>
              <a:gd name="adj" fmla="val 7500"/>
            </a:avLst>
          </a:prstGeom>
          <a:solidFill>
            <a:srgbClr val="EEF2FA"/>
          </a:solidFill>
          <a:ln w="12700">
            <a:solidFill>
              <a:srgbClr val="EEF2FA"/>
            </a:solidFill>
            <a:prstDash val="solid"/>
          </a:ln>
        </p:spPr>
      </p:sp>
      <p:sp>
        <p:nvSpPr>
          <p:cNvPr id="4" name="num-0"/>
          <p:cNvSpPr/>
          <p:nvPr/>
        </p:nvSpPr>
        <p:spPr>
          <a:xfrm>
            <a:off x="777240" y="182880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288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80160"/>
          </a:xfrm>
          <a:prstGeom prst="rect">
            <a:avLst/>
          </a:prstGeom>
          <a:noFill/>
          <a:ln/>
        </p:spPr>
        <p:txBody>
          <a:bodyPr wrap="square" lIns="0" tIns="0" rIns="0" bIns="0" rtlCol="0" anchor="ctr"/>
          <a:lstStyle/>
          <a:p>
            <a:pPr indent="0" marL="0">
              <a:buNone/>
            </a:pPr>
            <a:r>
              <a:rPr lang="en-US" sz="1900" dirty="0">
                <a:solidFill>
                  <a:schemeClr val="tx1"/>
                </a:solidFill>
              </a:rPr>
              <a:t>對象：內部人員 vs PII 當事人</a:t>
            </a:r>
            <a:endParaRPr lang="en-US" sz="1900" dirty="0"/>
          </a:p>
        </p:txBody>
      </p:sp>
      <p:sp>
        <p:nvSpPr>
          <p:cNvPr id="7" name="card-1"/>
          <p:cNvSpPr/>
          <p:nvPr/>
        </p:nvSpPr>
        <p:spPr>
          <a:xfrm>
            <a:off x="6217920" y="1371600"/>
            <a:ext cx="5394960" cy="1463040"/>
          </a:xfrm>
          <a:prstGeom prst="roundRect">
            <a:avLst>
              <a:gd name="adj" fmla="val 7500"/>
            </a:avLst>
          </a:prstGeom>
          <a:solidFill>
            <a:srgbClr val="EEF2FA"/>
          </a:solidFill>
          <a:ln w="12700">
            <a:solidFill>
              <a:srgbClr val="EEF2FA"/>
            </a:solidFill>
            <a:prstDash val="solid"/>
          </a:ln>
        </p:spPr>
      </p:sp>
      <p:sp>
        <p:nvSpPr>
          <p:cNvPr id="8" name="num-1"/>
          <p:cNvSpPr/>
          <p:nvPr/>
        </p:nvSpPr>
        <p:spPr>
          <a:xfrm>
            <a:off x="6446520" y="182880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288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80160"/>
          </a:xfrm>
          <a:prstGeom prst="rect">
            <a:avLst/>
          </a:prstGeom>
          <a:noFill/>
          <a:ln/>
        </p:spPr>
        <p:txBody>
          <a:bodyPr wrap="square" lIns="0" tIns="0" rIns="0" bIns="0" rtlCol="0" anchor="ctr"/>
          <a:lstStyle/>
          <a:p>
            <a:pPr indent="0" marL="0">
              <a:buNone/>
            </a:pPr>
            <a:r>
              <a:rPr lang="en-US" sz="1900" dirty="0">
                <a:solidFill>
                  <a:schemeClr val="tx1"/>
                </a:solidFill>
              </a:rPr>
              <a:t>目的：給方向 vs 告知權益</a:t>
            </a:r>
            <a:endParaRPr lang="en-US" sz="1900" dirty="0"/>
          </a:p>
        </p:txBody>
      </p:sp>
      <p:sp>
        <p:nvSpPr>
          <p:cNvPr id="11" name="card-2"/>
          <p:cNvSpPr/>
          <p:nvPr/>
        </p:nvSpPr>
        <p:spPr>
          <a:xfrm>
            <a:off x="548640" y="3108960"/>
            <a:ext cx="5394960" cy="1463040"/>
          </a:xfrm>
          <a:prstGeom prst="roundRect">
            <a:avLst>
              <a:gd name="adj" fmla="val 7500"/>
            </a:avLst>
          </a:prstGeom>
          <a:solidFill>
            <a:srgbClr val="EEF2FA"/>
          </a:solidFill>
          <a:ln w="12700">
            <a:solidFill>
              <a:srgbClr val="EEF2FA"/>
            </a:solidFill>
            <a:prstDash val="solid"/>
          </a:ln>
        </p:spPr>
      </p:sp>
      <p:sp>
        <p:nvSpPr>
          <p:cNvPr id="12" name="num-2"/>
          <p:cNvSpPr/>
          <p:nvPr/>
        </p:nvSpPr>
        <p:spPr>
          <a:xfrm>
            <a:off x="777240" y="356616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661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200400"/>
            <a:ext cx="4251960" cy="1280160"/>
          </a:xfrm>
          <a:prstGeom prst="rect">
            <a:avLst/>
          </a:prstGeom>
          <a:noFill/>
          <a:ln/>
        </p:spPr>
        <p:txBody>
          <a:bodyPr wrap="square" lIns="0" tIns="0" rIns="0" bIns="0" rtlCol="0" anchor="ctr"/>
          <a:lstStyle/>
          <a:p>
            <a:pPr indent="0" marL="0">
              <a:buNone/>
            </a:pPr>
            <a:r>
              <a:rPr lang="en-US" sz="1900" dirty="0">
                <a:solidFill>
                  <a:schemeClr val="tx1"/>
                </a:solidFill>
              </a:rPr>
              <a:t>條文：5.2 vs 附錄 A 告知控制</a:t>
            </a:r>
            <a:endParaRPr lang="en-US" sz="1900" dirty="0"/>
          </a:p>
        </p:txBody>
      </p:sp>
      <p:sp>
        <p:nvSpPr>
          <p:cNvPr id="15" name="card-3"/>
          <p:cNvSpPr/>
          <p:nvPr/>
        </p:nvSpPr>
        <p:spPr>
          <a:xfrm>
            <a:off x="6217920" y="3108960"/>
            <a:ext cx="5394960" cy="1463040"/>
          </a:xfrm>
          <a:prstGeom prst="roundRect">
            <a:avLst>
              <a:gd name="adj" fmla="val 7500"/>
            </a:avLst>
          </a:prstGeom>
          <a:solidFill>
            <a:srgbClr val="EEF2FA"/>
          </a:solidFill>
          <a:ln w="12700">
            <a:solidFill>
              <a:srgbClr val="EEF2FA"/>
            </a:solidFill>
            <a:prstDash val="solid"/>
          </a:ln>
        </p:spPr>
      </p:sp>
      <p:sp>
        <p:nvSpPr>
          <p:cNvPr id="16" name="num-3"/>
          <p:cNvSpPr/>
          <p:nvPr/>
        </p:nvSpPr>
        <p:spPr>
          <a:xfrm>
            <a:off x="6446520" y="356616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661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200400"/>
            <a:ext cx="4251960" cy="1280160"/>
          </a:xfrm>
          <a:prstGeom prst="rect">
            <a:avLst/>
          </a:prstGeom>
          <a:noFill/>
          <a:ln/>
        </p:spPr>
        <p:txBody>
          <a:bodyPr wrap="square" lIns="0" tIns="0" rIns="0" bIns="0" rtlCol="0" anchor="ctr"/>
          <a:lstStyle/>
          <a:p>
            <a:pPr indent="0" marL="0">
              <a:buNone/>
            </a:pPr>
            <a:r>
              <a:rPr lang="en-US" sz="1900" dirty="0">
                <a:solidFill>
                  <a:schemeClr val="tx1"/>
                </a:solidFill>
              </a:rPr>
              <a:t>建議分開或清楚分章</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5.3 角色責任與 RACI</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t"/>
          <a:lstStyle/>
          <a:p>
            <a:pPr marL="228600" indent="-228600">
              <a:spcAft>
                <a:spcPts val="1600"/>
              </a:spcAft>
              <a:buSzPct val="100000"/>
              <a:buChar char="•"/>
            </a:pPr>
            <a:r>
              <a:rPr lang="en-US" sz="2200" dirty="0">
                <a:solidFill>
                  <a:schemeClr val="tx1"/>
                </a:solidFill>
              </a:rPr>
              <a:t>指派並傳達相關角色責任</a:t>
            </a:r>
            <a:endParaRPr lang="en-US" sz="2200" dirty="0"/>
          </a:p>
          <a:p>
            <a:pPr marL="228600" indent="-228600">
              <a:spcAft>
                <a:spcPts val="1600"/>
              </a:spcAft>
              <a:buSzPct val="100000"/>
              <a:buChar char="•"/>
            </a:pPr>
            <a:r>
              <a:rPr lang="en-US" sz="2200" dirty="0">
                <a:solidFill>
                  <a:schemeClr val="tx1"/>
                </a:solidFill>
              </a:rPr>
              <a:t>a 確保 PIMS 符合本標準</a:t>
            </a:r>
            <a:endParaRPr lang="en-US" sz="2200" dirty="0"/>
          </a:p>
          <a:p>
            <a:pPr marL="228600" indent="-228600">
              <a:spcAft>
                <a:spcPts val="1600"/>
              </a:spcAft>
              <a:buSzPct val="100000"/>
              <a:buChar char="•"/>
            </a:pPr>
            <a:r>
              <a:rPr lang="en-US" sz="2200" dirty="0">
                <a:solidFill>
                  <a:schemeClr val="tx1"/>
                </a:solidFill>
              </a:rPr>
              <a:t>b 向最高管理階層報告績效</a:t>
            </a:r>
            <a:endParaRPr lang="en-US" sz="2200" dirty="0"/>
          </a:p>
          <a:p>
            <a:pPr marL="228600" indent="-228600">
              <a:spcAft>
                <a:spcPts val="1600"/>
              </a:spcAft>
              <a:buSzPct val="100000"/>
              <a:buChar char="•"/>
            </a:pPr>
            <a:r>
              <a:rPr lang="en-US" sz="2200" dirty="0">
                <a:solidFill>
                  <a:schemeClr val="tx1"/>
                </a:solidFill>
              </a:rPr>
              <a:t>DPO 獨立性、RACI、職務說明書</a:t>
            </a:r>
            <a:endParaRPr lang="en-US" sz="22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稽核實務：老闆訪談與不符合</a:t>
            </a:r>
            <a:endParaRPr lang="en-US" sz="3000" dirty="0"/>
          </a:p>
        </p:txBody>
      </p:sp>
      <p:sp>
        <p:nvSpPr>
          <p:cNvPr id="3" name="card-0"/>
          <p:cNvSpPr/>
          <p:nvPr/>
        </p:nvSpPr>
        <p:spPr>
          <a:xfrm>
            <a:off x="548640" y="1371600"/>
            <a:ext cx="5394960" cy="1463040"/>
          </a:xfrm>
          <a:prstGeom prst="roundRect">
            <a:avLst>
              <a:gd name="adj" fmla="val 7500"/>
            </a:avLst>
          </a:prstGeom>
          <a:solidFill>
            <a:srgbClr val="EEF2FA"/>
          </a:solidFill>
          <a:ln w="12700">
            <a:solidFill>
              <a:srgbClr val="EEF2FA"/>
            </a:solidFill>
            <a:prstDash val="solid"/>
          </a:ln>
        </p:spPr>
      </p:sp>
      <p:sp>
        <p:nvSpPr>
          <p:cNvPr id="4" name="num-0"/>
          <p:cNvSpPr/>
          <p:nvPr/>
        </p:nvSpPr>
        <p:spPr>
          <a:xfrm>
            <a:off x="777240" y="182880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288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80160"/>
          </a:xfrm>
          <a:prstGeom prst="rect">
            <a:avLst/>
          </a:prstGeom>
          <a:noFill/>
          <a:ln/>
        </p:spPr>
        <p:txBody>
          <a:bodyPr wrap="square" lIns="0" tIns="0" rIns="0" bIns="0" rtlCol="0" anchor="ctr"/>
          <a:lstStyle/>
          <a:p>
            <a:pPr indent="0" marL="0">
              <a:buNone/>
            </a:pPr>
            <a:r>
              <a:rPr lang="en-US" sz="1900" dirty="0">
                <a:solidFill>
                  <a:schemeClr val="tx1"/>
                </a:solidFill>
              </a:rPr>
              <a:t>稽核員問策略、目標、資源</a:t>
            </a:r>
            <a:endParaRPr lang="en-US" sz="1900" dirty="0"/>
          </a:p>
        </p:txBody>
      </p:sp>
      <p:sp>
        <p:nvSpPr>
          <p:cNvPr id="7" name="card-1"/>
          <p:cNvSpPr/>
          <p:nvPr/>
        </p:nvSpPr>
        <p:spPr>
          <a:xfrm>
            <a:off x="6217920" y="1371600"/>
            <a:ext cx="5394960" cy="1463040"/>
          </a:xfrm>
          <a:prstGeom prst="roundRect">
            <a:avLst>
              <a:gd name="adj" fmla="val 7500"/>
            </a:avLst>
          </a:prstGeom>
          <a:solidFill>
            <a:srgbClr val="EEF2FA"/>
          </a:solidFill>
          <a:ln w="12700">
            <a:solidFill>
              <a:srgbClr val="EEF2FA"/>
            </a:solidFill>
            <a:prstDash val="solid"/>
          </a:ln>
        </p:spPr>
      </p:sp>
      <p:sp>
        <p:nvSpPr>
          <p:cNvPr id="8" name="num-1"/>
          <p:cNvSpPr/>
          <p:nvPr/>
        </p:nvSpPr>
        <p:spPr>
          <a:xfrm>
            <a:off x="6446520" y="182880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288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80160"/>
          </a:xfrm>
          <a:prstGeom prst="rect">
            <a:avLst/>
          </a:prstGeom>
          <a:noFill/>
          <a:ln/>
        </p:spPr>
        <p:txBody>
          <a:bodyPr wrap="square" lIns="0" tIns="0" rIns="0" bIns="0" rtlCol="0" anchor="ctr"/>
          <a:lstStyle/>
          <a:p>
            <a:pPr indent="0" marL="0">
              <a:buNone/>
            </a:pPr>
            <a:r>
              <a:rPr lang="en-US" sz="1900" dirty="0">
                <a:solidFill>
                  <a:schemeClr val="tx1"/>
                </a:solidFill>
              </a:rPr>
              <a:t>衝突時如何決策</a:t>
            </a:r>
            <a:endParaRPr lang="en-US" sz="1900" dirty="0"/>
          </a:p>
        </p:txBody>
      </p:sp>
      <p:sp>
        <p:nvSpPr>
          <p:cNvPr id="11" name="card-2"/>
          <p:cNvSpPr/>
          <p:nvPr/>
        </p:nvSpPr>
        <p:spPr>
          <a:xfrm>
            <a:off x="548640" y="3108960"/>
            <a:ext cx="5394960" cy="1463040"/>
          </a:xfrm>
          <a:prstGeom prst="roundRect">
            <a:avLst>
              <a:gd name="adj" fmla="val 7500"/>
            </a:avLst>
          </a:prstGeom>
          <a:solidFill>
            <a:srgbClr val="EEF2FA"/>
          </a:solidFill>
          <a:ln w="12700">
            <a:solidFill>
              <a:srgbClr val="EEF2FA"/>
            </a:solidFill>
            <a:prstDash val="solid"/>
          </a:ln>
        </p:spPr>
      </p:sp>
      <p:sp>
        <p:nvSpPr>
          <p:cNvPr id="12" name="num-2"/>
          <p:cNvSpPr/>
          <p:nvPr/>
        </p:nvSpPr>
        <p:spPr>
          <a:xfrm>
            <a:off x="777240" y="356616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661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200400"/>
            <a:ext cx="4251960" cy="1280160"/>
          </a:xfrm>
          <a:prstGeom prst="rect">
            <a:avLst/>
          </a:prstGeom>
          <a:noFill/>
          <a:ln/>
        </p:spPr>
        <p:txBody>
          <a:bodyPr wrap="square" lIns="0" tIns="0" rIns="0" bIns="0" rtlCol="0" anchor="ctr"/>
          <a:lstStyle/>
          <a:p>
            <a:pPr indent="0" marL="0">
              <a:buNone/>
            </a:pPr>
            <a:r>
              <a:rPr lang="en-US" sz="1900" dirty="0">
                <a:solidFill>
                  <a:schemeClr val="tx1"/>
                </a:solidFill>
              </a:rPr>
              <a:t>常見：政策缺承諾、未傳達</a:t>
            </a:r>
            <a:endParaRPr lang="en-US" sz="1900" dirty="0"/>
          </a:p>
        </p:txBody>
      </p:sp>
      <p:sp>
        <p:nvSpPr>
          <p:cNvPr id="15" name="card-3"/>
          <p:cNvSpPr/>
          <p:nvPr/>
        </p:nvSpPr>
        <p:spPr>
          <a:xfrm>
            <a:off x="6217920" y="3108960"/>
            <a:ext cx="5394960" cy="1463040"/>
          </a:xfrm>
          <a:prstGeom prst="roundRect">
            <a:avLst>
              <a:gd name="adj" fmla="val 7500"/>
            </a:avLst>
          </a:prstGeom>
          <a:solidFill>
            <a:srgbClr val="EEF2FA"/>
          </a:solidFill>
          <a:ln w="12700">
            <a:solidFill>
              <a:srgbClr val="EEF2FA"/>
            </a:solidFill>
            <a:prstDash val="solid"/>
          </a:ln>
        </p:spPr>
      </p:sp>
      <p:sp>
        <p:nvSpPr>
          <p:cNvPr id="16" name="num-3"/>
          <p:cNvSpPr/>
          <p:nvPr/>
        </p:nvSpPr>
        <p:spPr>
          <a:xfrm>
            <a:off x="6446520" y="356616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661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200400"/>
            <a:ext cx="4251960" cy="1280160"/>
          </a:xfrm>
          <a:prstGeom prst="rect">
            <a:avLst/>
          </a:prstGeom>
          <a:noFill/>
          <a:ln/>
        </p:spPr>
        <p:txBody>
          <a:bodyPr wrap="square" lIns="0" tIns="0" rIns="0" bIns="0" rtlCol="0" anchor="ctr"/>
          <a:lstStyle/>
          <a:p>
            <a:pPr indent="0" marL="0">
              <a:buNone/>
            </a:pPr>
            <a:r>
              <a:rPr lang="en-US" sz="1900" dirty="0">
                <a:solidFill>
                  <a:schemeClr val="tx1"/>
                </a:solidFill>
              </a:rPr>
              <a:t>常見：未指派報告、管審缺席</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CHAPTER 05</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第6章 規劃：隱私風險評鑑與處理</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條款：6.1、6.1.1、6.1.2、6.1.3、6.2、6.3　｜　建議時間：約 25 分鐘</a:t>
            </a:r>
            <a:endParaRPr lang="en-US" sz="1800" dirty="0"/>
          </a:p>
        </p:txBody>
      </p:sp>
      <p:sp>
        <p:nvSpPr>
          <p:cNvPr id="5" name="arale-frame"/>
          <p:cNvSpPr/>
          <p:nvPr/>
        </p:nvSpPr>
        <p:spPr>
          <a:xfrm>
            <a:off x="8997696" y="768096"/>
            <a:ext cx="2304288" cy="3028493"/>
          </a:xfrm>
          <a:prstGeom prst="roundRect">
            <a:avLst>
              <a:gd name="adj" fmla="val 7143"/>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052560" y="822960"/>
            <a:ext cx="2194560" cy="2918765"/>
          </a:xfrm>
          <a:prstGeom prst="rect">
            <a:avLst/>
          </a:prstGeom>
        </p:spPr>
      </p:pic>
      <p:sp>
        <p:nvSpPr>
          <p:cNvPr id="7" name="bubble"/>
          <p:cNvSpPr/>
          <p:nvPr/>
        </p:nvSpPr>
        <p:spPr>
          <a:xfrm>
            <a:off x="8138160" y="4572000"/>
            <a:ext cx="3657600" cy="1371600"/>
          </a:xfrm>
          <a:prstGeom prst="roundRect">
            <a:avLst>
              <a:gd name="adj" fmla="val 10000"/>
            </a:avLst>
          </a:prstGeom>
          <a:solidFill>
            <a:srgbClr val="FDE7F1"/>
          </a:solidFill>
          <a:ln w="19050">
            <a:solidFill>
              <a:srgbClr val="E8559A"/>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6.1.2 隱私風險評鑑必須評鑑對組織及 PII 當事人的雙重後果，並識別風險擁有者</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第 6 章 規劃：總覽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t"/>
          <a:lstStyle/>
          <a:p>
            <a:pPr marL="228600" indent="-228600">
              <a:spcAft>
                <a:spcPts val="1600"/>
              </a:spcAft>
              <a:buSzPct val="100000"/>
              <a:buChar char="•"/>
            </a:pPr>
            <a:r>
              <a:rPr lang="en-US" sz="2200" dirty="0">
                <a:solidFill>
                  <a:schemeClr val="tx1"/>
                </a:solidFill>
              </a:rPr>
              <a:t>6.1.1 風險及機會</a:t>
            </a:r>
            <a:endParaRPr lang="en-US" sz="2200" dirty="0"/>
          </a:p>
          <a:p>
            <a:pPr marL="228600" indent="-228600">
              <a:spcAft>
                <a:spcPts val="1600"/>
              </a:spcAft>
              <a:buSzPct val="100000"/>
              <a:buChar char="•"/>
            </a:pPr>
            <a:r>
              <a:rPr lang="en-US" sz="2200" dirty="0">
                <a:solidFill>
                  <a:schemeClr val="tx1"/>
                </a:solidFill>
              </a:rPr>
              <a:t>6.1.2 隱私風險評鑑</a:t>
            </a:r>
            <a:endParaRPr lang="en-US" sz="2200" dirty="0"/>
          </a:p>
          <a:p>
            <a:pPr marL="228600" indent="-228600">
              <a:spcAft>
                <a:spcPts val="1600"/>
              </a:spcAft>
              <a:buSzPct val="100000"/>
              <a:buChar char="•"/>
            </a:pPr>
            <a:r>
              <a:rPr lang="en-US" sz="2200" dirty="0">
                <a:solidFill>
                  <a:schemeClr val="tx1"/>
                </a:solidFill>
              </a:rPr>
              <a:t>6.1.3 隱私風險處理與 SoA</a:t>
            </a:r>
            <a:endParaRPr lang="en-US" sz="2200" dirty="0"/>
          </a:p>
          <a:p>
            <a:pPr marL="228600" indent="-228600">
              <a:spcAft>
                <a:spcPts val="1600"/>
              </a:spcAft>
              <a:buSzPct val="100000"/>
              <a:buChar char="•"/>
            </a:pPr>
            <a:r>
              <a:rPr lang="en-US" sz="2200" dirty="0">
                <a:solidFill>
                  <a:schemeClr val="tx1"/>
                </a:solidFill>
              </a:rPr>
              <a:t>6.2 隱私目標、6.3 變更</a:t>
            </a:r>
            <a:endParaRPr lang="en-US" sz="22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6.1.2 隱私風險評鑑五步驟</a:t>
            </a:r>
            <a:endParaRPr lang="en-US" sz="3000" dirty="0"/>
          </a:p>
        </p:txBody>
      </p:sp>
      <p:sp>
        <p:nvSpPr>
          <p:cNvPr id="3" name="card-0"/>
          <p:cNvSpPr/>
          <p:nvPr/>
        </p:nvSpPr>
        <p:spPr>
          <a:xfrm>
            <a:off x="548640" y="1371600"/>
            <a:ext cx="5394960" cy="1463040"/>
          </a:xfrm>
          <a:prstGeom prst="roundRect">
            <a:avLst>
              <a:gd name="adj" fmla="val 7500"/>
            </a:avLst>
          </a:prstGeom>
          <a:solidFill>
            <a:srgbClr val="EEF2FA"/>
          </a:solidFill>
          <a:ln w="12700">
            <a:solidFill>
              <a:srgbClr val="EEF2FA"/>
            </a:solidFill>
            <a:prstDash val="solid"/>
          </a:ln>
        </p:spPr>
      </p:sp>
      <p:sp>
        <p:nvSpPr>
          <p:cNvPr id="4" name="num-0"/>
          <p:cNvSpPr/>
          <p:nvPr/>
        </p:nvSpPr>
        <p:spPr>
          <a:xfrm>
            <a:off x="777240" y="182880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288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80160"/>
          </a:xfrm>
          <a:prstGeom prst="rect">
            <a:avLst/>
          </a:prstGeom>
          <a:noFill/>
          <a:ln/>
        </p:spPr>
        <p:txBody>
          <a:bodyPr wrap="square" lIns="0" tIns="0" rIns="0" bIns="0" rtlCol="0" anchor="ctr"/>
          <a:lstStyle/>
          <a:p>
            <a:pPr indent="0" marL="0">
              <a:buNone/>
            </a:pPr>
            <a:r>
              <a:rPr lang="en-US" sz="1900" dirty="0">
                <a:solidFill>
                  <a:schemeClr val="tx1"/>
                </a:solidFill>
              </a:rPr>
              <a:t>a 準則：接受準則、評鑑準則</a:t>
            </a:r>
            <a:endParaRPr lang="en-US" sz="1900" dirty="0"/>
          </a:p>
        </p:txBody>
      </p:sp>
      <p:sp>
        <p:nvSpPr>
          <p:cNvPr id="7" name="card-1"/>
          <p:cNvSpPr/>
          <p:nvPr/>
        </p:nvSpPr>
        <p:spPr>
          <a:xfrm>
            <a:off x="6217920" y="1371600"/>
            <a:ext cx="5394960" cy="1463040"/>
          </a:xfrm>
          <a:prstGeom prst="roundRect">
            <a:avLst>
              <a:gd name="adj" fmla="val 7500"/>
            </a:avLst>
          </a:prstGeom>
          <a:solidFill>
            <a:srgbClr val="EEF2FA"/>
          </a:solidFill>
          <a:ln w="12700">
            <a:solidFill>
              <a:srgbClr val="EEF2FA"/>
            </a:solidFill>
            <a:prstDash val="solid"/>
          </a:ln>
        </p:spPr>
      </p:sp>
      <p:sp>
        <p:nvSpPr>
          <p:cNvPr id="8" name="num-1"/>
          <p:cNvSpPr/>
          <p:nvPr/>
        </p:nvSpPr>
        <p:spPr>
          <a:xfrm>
            <a:off x="6446520" y="182880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288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80160"/>
          </a:xfrm>
          <a:prstGeom prst="rect">
            <a:avLst/>
          </a:prstGeom>
          <a:noFill/>
          <a:ln/>
        </p:spPr>
        <p:txBody>
          <a:bodyPr wrap="square" lIns="0" tIns="0" rIns="0" bIns="0" rtlCol="0" anchor="ctr"/>
          <a:lstStyle/>
          <a:p>
            <a:pPr indent="0" marL="0">
              <a:buNone/>
            </a:pPr>
            <a:r>
              <a:rPr lang="en-US" sz="1900" dirty="0">
                <a:solidFill>
                  <a:schemeClr val="tx1"/>
                </a:solidFill>
              </a:rPr>
              <a:t>b 一致、有效、可比較</a:t>
            </a:r>
            <a:endParaRPr lang="en-US" sz="1900" dirty="0"/>
          </a:p>
        </p:txBody>
      </p:sp>
      <p:sp>
        <p:nvSpPr>
          <p:cNvPr id="11" name="card-2"/>
          <p:cNvSpPr/>
          <p:nvPr/>
        </p:nvSpPr>
        <p:spPr>
          <a:xfrm>
            <a:off x="548640" y="3108960"/>
            <a:ext cx="5394960" cy="1463040"/>
          </a:xfrm>
          <a:prstGeom prst="roundRect">
            <a:avLst>
              <a:gd name="adj" fmla="val 7500"/>
            </a:avLst>
          </a:prstGeom>
          <a:solidFill>
            <a:srgbClr val="EEF2FA"/>
          </a:solidFill>
          <a:ln w="12700">
            <a:solidFill>
              <a:srgbClr val="EEF2FA"/>
            </a:solidFill>
            <a:prstDash val="solid"/>
          </a:ln>
        </p:spPr>
      </p:sp>
      <p:sp>
        <p:nvSpPr>
          <p:cNvPr id="12" name="num-2"/>
          <p:cNvSpPr/>
          <p:nvPr/>
        </p:nvSpPr>
        <p:spPr>
          <a:xfrm>
            <a:off x="777240" y="356616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661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200400"/>
            <a:ext cx="4251960" cy="1280160"/>
          </a:xfrm>
          <a:prstGeom prst="rect">
            <a:avLst/>
          </a:prstGeom>
          <a:noFill/>
          <a:ln/>
        </p:spPr>
        <p:txBody>
          <a:bodyPr wrap="square" lIns="0" tIns="0" rIns="0" bIns="0" rtlCol="0" anchor="ctr"/>
          <a:lstStyle/>
          <a:p>
            <a:pPr indent="0" marL="0">
              <a:buNone/>
            </a:pPr>
            <a:r>
              <a:rPr lang="en-US" sz="1900" dirty="0">
                <a:solidFill>
                  <a:schemeClr val="tx1"/>
                </a:solidFill>
              </a:rPr>
              <a:t>c 識別風險與風險擁有者</a:t>
            </a:r>
            <a:endParaRPr lang="en-US" sz="1900" dirty="0"/>
          </a:p>
        </p:txBody>
      </p:sp>
      <p:sp>
        <p:nvSpPr>
          <p:cNvPr id="15" name="card-3"/>
          <p:cNvSpPr/>
          <p:nvPr/>
        </p:nvSpPr>
        <p:spPr>
          <a:xfrm>
            <a:off x="6217920" y="3108960"/>
            <a:ext cx="5394960" cy="1463040"/>
          </a:xfrm>
          <a:prstGeom prst="roundRect">
            <a:avLst>
              <a:gd name="adj" fmla="val 7500"/>
            </a:avLst>
          </a:prstGeom>
          <a:solidFill>
            <a:srgbClr val="EEF2FA"/>
          </a:solidFill>
          <a:ln w="12700">
            <a:solidFill>
              <a:srgbClr val="EEF2FA"/>
            </a:solidFill>
            <a:prstDash val="solid"/>
          </a:ln>
        </p:spPr>
      </p:sp>
      <p:sp>
        <p:nvSpPr>
          <p:cNvPr id="16" name="num-3"/>
          <p:cNvSpPr/>
          <p:nvPr/>
        </p:nvSpPr>
        <p:spPr>
          <a:xfrm>
            <a:off x="6446520" y="356616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661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200400"/>
            <a:ext cx="4251960" cy="1280160"/>
          </a:xfrm>
          <a:prstGeom prst="rect">
            <a:avLst/>
          </a:prstGeom>
          <a:noFill/>
          <a:ln/>
        </p:spPr>
        <p:txBody>
          <a:bodyPr wrap="square" lIns="0" tIns="0" rIns="0" bIns="0" rtlCol="0" anchor="ctr"/>
          <a:lstStyle/>
          <a:p>
            <a:pPr indent="0" marL="0">
              <a:buNone/>
            </a:pPr>
            <a:r>
              <a:rPr lang="en-US" sz="1900" dirty="0">
                <a:solidFill>
                  <a:schemeClr val="tx1"/>
                </a:solidFill>
              </a:rPr>
              <a:t>d 雙重後果、e 評估排序</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衝擊準則與風險矩陣</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t"/>
          <a:lstStyle/>
          <a:p>
            <a:pPr marL="228600" indent="-228600">
              <a:spcAft>
                <a:spcPts val="1600"/>
              </a:spcAft>
              <a:buSzPct val="100000"/>
              <a:buChar char="•"/>
            </a:pPr>
            <a:r>
              <a:rPr lang="en-US" sz="2200" dirty="0">
                <a:solidFill>
                  <a:schemeClr val="tx1"/>
                </a:solidFill>
              </a:rPr>
              <a:t>當事人衝擊 1 輕微到 4 極嚴重</a:t>
            </a:r>
            <a:endParaRPr lang="en-US" sz="2200" dirty="0"/>
          </a:p>
          <a:p>
            <a:pPr marL="228600" indent="-228600">
              <a:spcAft>
                <a:spcPts val="1600"/>
              </a:spcAft>
              <a:buSzPct val="100000"/>
              <a:buChar char="•"/>
            </a:pPr>
            <a:r>
              <a:rPr lang="en-US" sz="2200" dirty="0">
                <a:solidFill>
                  <a:schemeClr val="tx1"/>
                </a:solidFill>
              </a:rPr>
              <a:t>組織衝擊同樣分四級</a:t>
            </a:r>
            <a:endParaRPr lang="en-US" sz="2200" dirty="0"/>
          </a:p>
          <a:p>
            <a:pPr marL="228600" indent="-228600">
              <a:spcAft>
                <a:spcPts val="1600"/>
              </a:spcAft>
              <a:buSzPct val="100000"/>
              <a:buChar char="•"/>
            </a:pPr>
            <a:r>
              <a:rPr lang="en-US" sz="2200" dirty="0">
                <a:solidFill>
                  <a:schemeClr val="tx1"/>
                </a:solidFill>
              </a:rPr>
              <a:t>可能性四級需考量既有控制</a:t>
            </a:r>
            <a:endParaRPr lang="en-US" sz="2200" dirty="0"/>
          </a:p>
          <a:p>
            <a:pPr marL="228600" indent="-228600">
              <a:spcAft>
                <a:spcPts val="1600"/>
              </a:spcAft>
              <a:buSzPct val="100000"/>
              <a:buChar char="•"/>
            </a:pPr>
            <a:r>
              <a:rPr lang="en-US" sz="2200" dirty="0">
                <a:solidFill>
                  <a:schemeClr val="tx1"/>
                </a:solidFill>
              </a:rPr>
              <a:t>風險值＝衝擊×可能性</a:t>
            </a:r>
            <a:endParaRPr lang="en-US" sz="22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6.1.3 隱私風險處理 a)–h)</a:t>
            </a:r>
            <a:endParaRPr lang="en-US" sz="3000" dirty="0"/>
          </a:p>
        </p:txBody>
      </p:sp>
      <p:sp>
        <p:nvSpPr>
          <p:cNvPr id="3" name="card-0"/>
          <p:cNvSpPr/>
          <p:nvPr/>
        </p:nvSpPr>
        <p:spPr>
          <a:xfrm>
            <a:off x="548640" y="1371600"/>
            <a:ext cx="5394960" cy="1463040"/>
          </a:xfrm>
          <a:prstGeom prst="roundRect">
            <a:avLst>
              <a:gd name="adj" fmla="val 7500"/>
            </a:avLst>
          </a:prstGeom>
          <a:solidFill>
            <a:srgbClr val="EEF2FA"/>
          </a:solidFill>
          <a:ln w="12700">
            <a:solidFill>
              <a:srgbClr val="EEF2FA"/>
            </a:solidFill>
            <a:prstDash val="solid"/>
          </a:ln>
        </p:spPr>
      </p:sp>
      <p:sp>
        <p:nvSpPr>
          <p:cNvPr id="4" name="num-0"/>
          <p:cNvSpPr/>
          <p:nvPr/>
        </p:nvSpPr>
        <p:spPr>
          <a:xfrm>
            <a:off x="777240" y="182880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288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80160"/>
          </a:xfrm>
          <a:prstGeom prst="rect">
            <a:avLst/>
          </a:prstGeom>
          <a:noFill/>
          <a:ln/>
        </p:spPr>
        <p:txBody>
          <a:bodyPr wrap="square" lIns="0" tIns="0" rIns="0" bIns="0" rtlCol="0" anchor="ctr"/>
          <a:lstStyle/>
          <a:p>
            <a:pPr indent="0" marL="0">
              <a:buNone/>
            </a:pPr>
            <a:r>
              <a:rPr lang="en-US" sz="1900" dirty="0">
                <a:solidFill>
                  <a:schemeClr val="tx1"/>
                </a:solidFill>
              </a:rPr>
              <a:t>選項、控制措施、資訊安全方案</a:t>
            </a:r>
            <a:endParaRPr lang="en-US" sz="1900" dirty="0"/>
          </a:p>
        </p:txBody>
      </p:sp>
      <p:sp>
        <p:nvSpPr>
          <p:cNvPr id="7" name="card-1"/>
          <p:cNvSpPr/>
          <p:nvPr/>
        </p:nvSpPr>
        <p:spPr>
          <a:xfrm>
            <a:off x="6217920" y="1371600"/>
            <a:ext cx="5394960" cy="1463040"/>
          </a:xfrm>
          <a:prstGeom prst="roundRect">
            <a:avLst>
              <a:gd name="adj" fmla="val 7500"/>
            </a:avLst>
          </a:prstGeom>
          <a:solidFill>
            <a:srgbClr val="EEF2FA"/>
          </a:solidFill>
          <a:ln w="12700">
            <a:solidFill>
              <a:srgbClr val="EEF2FA"/>
            </a:solidFill>
            <a:prstDash val="solid"/>
          </a:ln>
        </p:spPr>
      </p:sp>
      <p:sp>
        <p:nvSpPr>
          <p:cNvPr id="8" name="num-1"/>
          <p:cNvSpPr/>
          <p:nvPr/>
        </p:nvSpPr>
        <p:spPr>
          <a:xfrm>
            <a:off x="6446520" y="182880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288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80160"/>
          </a:xfrm>
          <a:prstGeom prst="rect">
            <a:avLst/>
          </a:prstGeom>
          <a:noFill/>
          <a:ln/>
        </p:spPr>
        <p:txBody>
          <a:bodyPr wrap="square" lIns="0" tIns="0" rIns="0" bIns="0" rtlCol="0" anchor="ctr"/>
          <a:lstStyle/>
          <a:p>
            <a:pPr indent="0" marL="0">
              <a:buNone/>
            </a:pPr>
            <a:r>
              <a:rPr lang="en-US" sz="1900" dirty="0">
                <a:solidFill>
                  <a:schemeClr val="tx1"/>
                </a:solidFill>
              </a:rPr>
              <a:t>與附錄 A 比對，產出 SoA</a:t>
            </a:r>
            <a:endParaRPr lang="en-US" sz="1900" dirty="0"/>
          </a:p>
        </p:txBody>
      </p:sp>
      <p:sp>
        <p:nvSpPr>
          <p:cNvPr id="11" name="card-2"/>
          <p:cNvSpPr/>
          <p:nvPr/>
        </p:nvSpPr>
        <p:spPr>
          <a:xfrm>
            <a:off x="548640" y="3108960"/>
            <a:ext cx="5394960" cy="1463040"/>
          </a:xfrm>
          <a:prstGeom prst="roundRect">
            <a:avLst>
              <a:gd name="adj" fmla="val 7500"/>
            </a:avLst>
          </a:prstGeom>
          <a:solidFill>
            <a:srgbClr val="EEF2FA"/>
          </a:solidFill>
          <a:ln w="12700">
            <a:solidFill>
              <a:srgbClr val="EEF2FA"/>
            </a:solidFill>
            <a:prstDash val="solid"/>
          </a:ln>
        </p:spPr>
      </p:sp>
      <p:sp>
        <p:nvSpPr>
          <p:cNvPr id="12" name="num-2"/>
          <p:cNvSpPr/>
          <p:nvPr/>
        </p:nvSpPr>
        <p:spPr>
          <a:xfrm>
            <a:off x="777240" y="356616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661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200400"/>
            <a:ext cx="4251960" cy="1280160"/>
          </a:xfrm>
          <a:prstGeom prst="rect">
            <a:avLst/>
          </a:prstGeom>
          <a:noFill/>
          <a:ln/>
        </p:spPr>
        <p:txBody>
          <a:bodyPr wrap="square" lIns="0" tIns="0" rIns="0" bIns="0" rtlCol="0" anchor="ctr"/>
          <a:lstStyle/>
          <a:p>
            <a:pPr indent="0" marL="0">
              <a:buNone/>
            </a:pPr>
            <a:r>
              <a:rPr lang="en-US" sz="1900" dirty="0">
                <a:solidFill>
                  <a:schemeClr val="tx1"/>
                </a:solidFill>
              </a:rPr>
              <a:t>處理計畫、風險擁有者核准</a:t>
            </a:r>
            <a:endParaRPr lang="en-US" sz="1900" dirty="0"/>
          </a:p>
        </p:txBody>
      </p:sp>
      <p:sp>
        <p:nvSpPr>
          <p:cNvPr id="15" name="card-3"/>
          <p:cNvSpPr/>
          <p:nvPr/>
        </p:nvSpPr>
        <p:spPr>
          <a:xfrm>
            <a:off x="6217920" y="3108960"/>
            <a:ext cx="5394960" cy="1463040"/>
          </a:xfrm>
          <a:prstGeom prst="roundRect">
            <a:avLst>
              <a:gd name="adj" fmla="val 7500"/>
            </a:avLst>
          </a:prstGeom>
          <a:solidFill>
            <a:srgbClr val="EEF2FA"/>
          </a:solidFill>
          <a:ln w="12700">
            <a:solidFill>
              <a:srgbClr val="EEF2FA"/>
            </a:solidFill>
            <a:prstDash val="solid"/>
          </a:ln>
        </p:spPr>
      </p:sp>
      <p:sp>
        <p:nvSpPr>
          <p:cNvPr id="16" name="num-3"/>
          <p:cNvSpPr/>
          <p:nvPr/>
        </p:nvSpPr>
        <p:spPr>
          <a:xfrm>
            <a:off x="6446520" y="356616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661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200400"/>
            <a:ext cx="4251960" cy="1280160"/>
          </a:xfrm>
          <a:prstGeom prst="rect">
            <a:avLst/>
          </a:prstGeom>
          <a:noFill/>
          <a:ln/>
        </p:spPr>
        <p:txBody>
          <a:bodyPr wrap="square" lIns="0" tIns="0" rIns="0" bIns="0" rtlCol="0" anchor="ctr"/>
          <a:lstStyle/>
          <a:p>
            <a:pPr indent="0" marL="0">
              <a:buNone/>
            </a:pPr>
            <a:r>
              <a:rPr lang="en-US" sz="1900" dirty="0">
                <a:solidFill>
                  <a:schemeClr val="tx1"/>
                </a:solidFill>
              </a:rPr>
              <a:t>考量附錄 B 實作指引</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SoA 範例與撰寫要點</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t"/>
          <a:lstStyle/>
          <a:p>
            <a:pPr marL="228600" indent="-228600">
              <a:spcAft>
                <a:spcPts val="1600"/>
              </a:spcAft>
              <a:buSzPct val="100000"/>
              <a:buChar char="•"/>
            </a:pPr>
            <a:r>
              <a:rPr lang="en-US" sz="2200" dirty="0">
                <a:solidFill>
                  <a:schemeClr val="tx1"/>
                </a:solidFill>
              </a:rPr>
              <a:t>四要素缺一不可</a:t>
            </a:r>
            <a:endParaRPr lang="en-US" sz="2200" dirty="0"/>
          </a:p>
          <a:p>
            <a:pPr marL="228600" indent="-228600">
              <a:spcAft>
                <a:spcPts val="1600"/>
              </a:spcAft>
              <a:buSzPct val="100000"/>
              <a:buChar char="•"/>
            </a:pPr>
            <a:r>
              <a:rPr lang="en-US" sz="2200" dirty="0">
                <a:solidFill>
                  <a:schemeClr val="tx1"/>
                </a:solidFill>
              </a:rPr>
              <a:t>排除理由要具體有依據</a:t>
            </a:r>
            <a:endParaRPr lang="en-US" sz="2200" dirty="0"/>
          </a:p>
          <a:p>
            <a:pPr marL="228600" indent="-228600">
              <a:spcAft>
                <a:spcPts val="1600"/>
              </a:spcAft>
              <a:buSzPct val="100000"/>
              <a:buChar char="•"/>
            </a:pPr>
            <a:r>
              <a:rPr lang="en-US" sz="2200" dirty="0">
                <a:solidFill>
                  <a:schemeClr val="tx1"/>
                </a:solidFill>
              </a:rPr>
              <a:t>雙重角色需區分適用角色</a:t>
            </a:r>
            <a:endParaRPr lang="en-US" sz="2200" dirty="0"/>
          </a:p>
          <a:p>
            <a:pPr marL="228600" indent="-228600">
              <a:spcAft>
                <a:spcPts val="1600"/>
              </a:spcAft>
              <a:buSzPct val="100000"/>
              <a:buChar char="•"/>
            </a:pPr>
            <a:r>
              <a:rPr lang="en-US" sz="2200" dirty="0">
                <a:solidFill>
                  <a:schemeClr val="tx1"/>
                </a:solidFill>
              </a:rPr>
              <a:t>可加入自訂控制措施</a:t>
            </a:r>
            <a:endParaRPr lang="en-US" sz="22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以 ISO 27001 ISMS 證明資訊安全方案</a:t>
            </a:r>
            <a:endParaRPr lang="en-US" sz="3000" dirty="0"/>
          </a:p>
        </p:txBody>
      </p:sp>
      <p:sp>
        <p:nvSpPr>
          <p:cNvPr id="3" name="card-0"/>
          <p:cNvSpPr/>
          <p:nvPr/>
        </p:nvSpPr>
        <p:spPr>
          <a:xfrm>
            <a:off x="548640" y="1371600"/>
            <a:ext cx="5394960" cy="1463040"/>
          </a:xfrm>
          <a:prstGeom prst="roundRect">
            <a:avLst>
              <a:gd name="adj" fmla="val 7500"/>
            </a:avLst>
          </a:prstGeom>
          <a:solidFill>
            <a:srgbClr val="EEF2FA"/>
          </a:solidFill>
          <a:ln w="12700">
            <a:solidFill>
              <a:srgbClr val="EEF2FA"/>
            </a:solidFill>
            <a:prstDash val="solid"/>
          </a:ln>
        </p:spPr>
      </p:sp>
      <p:sp>
        <p:nvSpPr>
          <p:cNvPr id="4" name="num-0"/>
          <p:cNvSpPr/>
          <p:nvPr/>
        </p:nvSpPr>
        <p:spPr>
          <a:xfrm>
            <a:off x="777240" y="182880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288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80160"/>
          </a:xfrm>
          <a:prstGeom prst="rect">
            <a:avLst/>
          </a:prstGeom>
          <a:noFill/>
          <a:ln/>
        </p:spPr>
        <p:txBody>
          <a:bodyPr wrap="square" lIns="0" tIns="0" rIns="0" bIns="0" rtlCol="0" anchor="ctr"/>
          <a:lstStyle/>
          <a:p>
            <a:pPr indent="0" marL="0">
              <a:buNone/>
            </a:pPr>
            <a:r>
              <a:rPr lang="en-US" sz="1900" dirty="0">
                <a:solidFill>
                  <a:schemeClr val="tx1"/>
                </a:solidFill>
              </a:rPr>
              <a:t>範圍比對：ISMS 是否涵蓋 PII</a:t>
            </a:r>
            <a:endParaRPr lang="en-US" sz="1900" dirty="0"/>
          </a:p>
        </p:txBody>
      </p:sp>
      <p:sp>
        <p:nvSpPr>
          <p:cNvPr id="7" name="card-1"/>
          <p:cNvSpPr/>
          <p:nvPr/>
        </p:nvSpPr>
        <p:spPr>
          <a:xfrm>
            <a:off x="6217920" y="1371600"/>
            <a:ext cx="5394960" cy="1463040"/>
          </a:xfrm>
          <a:prstGeom prst="roundRect">
            <a:avLst>
              <a:gd name="adj" fmla="val 7500"/>
            </a:avLst>
          </a:prstGeom>
          <a:solidFill>
            <a:srgbClr val="EEF2FA"/>
          </a:solidFill>
          <a:ln w="12700">
            <a:solidFill>
              <a:srgbClr val="EEF2FA"/>
            </a:solidFill>
            <a:prstDash val="solid"/>
          </a:ln>
        </p:spPr>
      </p:sp>
      <p:sp>
        <p:nvSpPr>
          <p:cNvPr id="8" name="num-1"/>
          <p:cNvSpPr/>
          <p:nvPr/>
        </p:nvSpPr>
        <p:spPr>
          <a:xfrm>
            <a:off x="6446520" y="182880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288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80160"/>
          </a:xfrm>
          <a:prstGeom prst="rect">
            <a:avLst/>
          </a:prstGeom>
          <a:noFill/>
          <a:ln/>
        </p:spPr>
        <p:txBody>
          <a:bodyPr wrap="square" lIns="0" tIns="0" rIns="0" bIns="0" rtlCol="0" anchor="ctr"/>
          <a:lstStyle/>
          <a:p>
            <a:pPr indent="0" marL="0">
              <a:buNone/>
            </a:pPr>
            <a:r>
              <a:rPr lang="en-US" sz="1900" dirty="0">
                <a:solidFill>
                  <a:schemeClr val="tx1"/>
                </a:solidFill>
              </a:rPr>
              <a:t>領域對照表逐項對應</a:t>
            </a:r>
            <a:endParaRPr lang="en-US" sz="1900" dirty="0"/>
          </a:p>
        </p:txBody>
      </p:sp>
      <p:sp>
        <p:nvSpPr>
          <p:cNvPr id="11" name="card-2"/>
          <p:cNvSpPr/>
          <p:nvPr/>
        </p:nvSpPr>
        <p:spPr>
          <a:xfrm>
            <a:off x="548640" y="3108960"/>
            <a:ext cx="5394960" cy="1463040"/>
          </a:xfrm>
          <a:prstGeom prst="roundRect">
            <a:avLst>
              <a:gd name="adj" fmla="val 7500"/>
            </a:avLst>
          </a:prstGeom>
          <a:solidFill>
            <a:srgbClr val="EEF2FA"/>
          </a:solidFill>
          <a:ln w="12700">
            <a:solidFill>
              <a:srgbClr val="EEF2FA"/>
            </a:solidFill>
            <a:prstDash val="solid"/>
          </a:ln>
        </p:spPr>
      </p:sp>
      <p:sp>
        <p:nvSpPr>
          <p:cNvPr id="12" name="num-2"/>
          <p:cNvSpPr/>
          <p:nvPr/>
        </p:nvSpPr>
        <p:spPr>
          <a:xfrm>
            <a:off x="777240" y="356616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661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200400"/>
            <a:ext cx="4251960" cy="1280160"/>
          </a:xfrm>
          <a:prstGeom prst="rect">
            <a:avLst/>
          </a:prstGeom>
          <a:noFill/>
          <a:ln/>
        </p:spPr>
        <p:txBody>
          <a:bodyPr wrap="square" lIns="0" tIns="0" rIns="0" bIns="0" rtlCol="0" anchor="ctr"/>
          <a:lstStyle/>
          <a:p>
            <a:pPr indent="0" marL="0">
              <a:buNone/>
            </a:pPr>
            <a:r>
              <a:rPr lang="en-US" sz="1900" dirty="0">
                <a:solidFill>
                  <a:schemeClr val="tx1"/>
                </a:solidFill>
              </a:rPr>
              <a:t>PII 觀點風險是否有評</a:t>
            </a:r>
            <a:endParaRPr lang="en-US" sz="1900" dirty="0"/>
          </a:p>
        </p:txBody>
      </p:sp>
      <p:sp>
        <p:nvSpPr>
          <p:cNvPr id="15" name="card-3"/>
          <p:cNvSpPr/>
          <p:nvPr/>
        </p:nvSpPr>
        <p:spPr>
          <a:xfrm>
            <a:off x="6217920" y="3108960"/>
            <a:ext cx="5394960" cy="1463040"/>
          </a:xfrm>
          <a:prstGeom prst="roundRect">
            <a:avLst>
              <a:gd name="adj" fmla="val 7500"/>
            </a:avLst>
          </a:prstGeom>
          <a:solidFill>
            <a:srgbClr val="EEF2FA"/>
          </a:solidFill>
          <a:ln w="12700">
            <a:solidFill>
              <a:srgbClr val="EEF2FA"/>
            </a:solidFill>
            <a:prstDash val="solid"/>
          </a:ln>
        </p:spPr>
      </p:sp>
      <p:sp>
        <p:nvSpPr>
          <p:cNvPr id="16" name="num-3"/>
          <p:cNvSpPr/>
          <p:nvPr/>
        </p:nvSpPr>
        <p:spPr>
          <a:xfrm>
            <a:off x="6446520" y="356616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661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200400"/>
            <a:ext cx="4251960" cy="1280160"/>
          </a:xfrm>
          <a:prstGeom prst="rect">
            <a:avLst/>
          </a:prstGeom>
          <a:noFill/>
          <a:ln/>
        </p:spPr>
        <p:txBody>
          <a:bodyPr wrap="square" lIns="0" tIns="0" rIns="0" bIns="0" rtlCol="0" anchor="ctr"/>
          <a:lstStyle/>
          <a:p>
            <a:pPr indent="0" marL="0">
              <a:buNone/>
            </a:pPr>
            <a:r>
              <a:rPr lang="en-US" sz="1900" dirty="0">
                <a:solidFill>
                  <a:schemeClr val="tx1"/>
                </a:solidFill>
              </a:rPr>
              <a:t>無 27001 者自行文件化</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6.2 目標與稽核實務</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t"/>
          <a:lstStyle/>
          <a:p>
            <a:pPr marL="228600" indent="-228600">
              <a:spcAft>
                <a:spcPts val="1600"/>
              </a:spcAft>
              <a:buSzPct val="100000"/>
              <a:buChar char="•"/>
            </a:pPr>
            <a:r>
              <a:rPr lang="en-US" sz="2200" dirty="0">
                <a:solidFill>
                  <a:schemeClr val="tx1"/>
                </a:solidFill>
              </a:rPr>
              <a:t>目標 a)–g) 與規劃五要素</a:t>
            </a:r>
            <a:endParaRPr lang="en-US" sz="2200" dirty="0"/>
          </a:p>
          <a:p>
            <a:pPr marL="228600" indent="-228600">
              <a:spcAft>
                <a:spcPts val="1600"/>
              </a:spcAft>
              <a:buSzPct val="100000"/>
              <a:buChar char="•"/>
            </a:pPr>
            <a:r>
              <a:rPr lang="en-US" sz="2200" dirty="0">
                <a:solidFill>
                  <a:schemeClr val="tx1"/>
                </a:solidFill>
              </a:rPr>
              <a:t>KPI：DSAR、PIA、訓練完成率</a:t>
            </a:r>
            <a:endParaRPr lang="en-US" sz="2200" dirty="0"/>
          </a:p>
          <a:p>
            <a:pPr marL="228600" indent="-228600">
              <a:spcAft>
                <a:spcPts val="1600"/>
              </a:spcAft>
              <a:buSzPct val="100000"/>
              <a:buChar char="•"/>
            </a:pPr>
            <a:r>
              <a:rPr lang="en-US" sz="2200" dirty="0">
                <a:solidFill>
                  <a:schemeClr val="tx1"/>
                </a:solidFill>
              </a:rPr>
              <a:t>稽核追蹤法：風險到核准</a:t>
            </a:r>
            <a:endParaRPr lang="en-US" sz="2200" dirty="0"/>
          </a:p>
          <a:p>
            <a:pPr marL="228600" indent="-228600">
              <a:spcAft>
                <a:spcPts val="1600"/>
              </a:spcAft>
              <a:buSzPct val="100000"/>
              <a:buChar char="•"/>
            </a:pPr>
            <a:r>
              <a:rPr lang="en-US" sz="2200" dirty="0">
                <a:solidFill>
                  <a:schemeClr val="tx1"/>
                </a:solidFill>
              </a:rPr>
              <a:t>常見不符合：缺當事人衝擊</a:t>
            </a:r>
            <a:endParaRPr lang="en-US" sz="22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原來如此！</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CHAPTER 09</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附錄A A.1.2 蒐集及處理的條件</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條款：A.1.2.2、A.1.2.3、A.1.2.4、A.1.2.5、A.1.2.6、A.1.2.7、A.1.2.8、A.1.2.9　｜　建議時間：約 20 分鐘</a:t>
            </a:r>
            <a:endParaRPr lang="en-US" sz="1800" dirty="0"/>
          </a:p>
        </p:txBody>
      </p:sp>
      <p:sp>
        <p:nvSpPr>
          <p:cNvPr id="5" name="allan-frame"/>
          <p:cNvSpPr/>
          <p:nvPr/>
        </p:nvSpPr>
        <p:spPr>
          <a:xfrm>
            <a:off x="8997696" y="768096"/>
            <a:ext cx="2304288" cy="3511296"/>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822960"/>
            <a:ext cx="2194560" cy="3401568"/>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A.1.2 的核心是「能證明」處理合法且目的明確正當</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A.1.2 蒐集及處理的條件總覽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t"/>
          <a:lstStyle/>
          <a:p>
            <a:pPr marL="228600" indent="-228600">
              <a:spcAft>
                <a:spcPts val="1600"/>
              </a:spcAft>
              <a:buSzPct val="100000"/>
              <a:buChar char="•"/>
            </a:pPr>
            <a:r>
              <a:rPr lang="en-US" sz="2200" dirty="0">
                <a:solidFill>
                  <a:schemeClr val="tx1"/>
                </a:solidFill>
              </a:rPr>
              <a:t>控制目標：證明處理合法、目的正當</a:t>
            </a:r>
            <a:endParaRPr lang="en-US" sz="2200" dirty="0"/>
          </a:p>
          <a:p>
            <a:pPr marL="228600" indent="-228600">
              <a:spcAft>
                <a:spcPts val="1600"/>
              </a:spcAft>
              <a:buSzPct val="100000"/>
              <a:buChar char="•"/>
            </a:pPr>
            <a:r>
              <a:rPr lang="en-US" sz="2200" dirty="0">
                <a:solidFill>
                  <a:schemeClr val="tx1"/>
                </a:solidFill>
              </a:rPr>
              <a:t>8 項控制：A.1.2.2–A.1.2.9</a:t>
            </a:r>
            <a:endParaRPr lang="en-US" sz="2200" dirty="0"/>
          </a:p>
          <a:p>
            <a:pPr marL="228600" indent="-228600">
              <a:spcAft>
                <a:spcPts val="1600"/>
              </a:spcAft>
              <a:buSzPct val="100000"/>
              <a:buChar char="•"/>
            </a:pPr>
            <a:r>
              <a:rPr lang="en-US" sz="2200" dirty="0">
                <a:solidFill>
                  <a:schemeClr val="tx1"/>
                </a:solidFill>
              </a:rPr>
              <a:t>目的→合法基礎→同意→PIA</a:t>
            </a:r>
            <a:endParaRPr lang="en-US" sz="2200" dirty="0"/>
          </a:p>
          <a:p>
            <a:pPr marL="228600" indent="-228600">
              <a:spcAft>
                <a:spcPts val="1600"/>
              </a:spcAft>
              <a:buSzPct val="100000"/>
              <a:buChar char="•"/>
            </a:pPr>
            <a:r>
              <a:rPr lang="en-US" sz="2200" dirty="0">
                <a:solidFill>
                  <a:schemeClr val="tx1"/>
                </a:solidFill>
              </a:rPr>
              <a:t>契約、共同控制者、RoPA</a:t>
            </a:r>
            <a:endParaRPr lang="en-US" sz="22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目的與合法基礎</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1900" dirty="0">
                <a:solidFill>
                  <a:schemeClr val="tx1"/>
                </a:solidFill>
              </a:rPr>
              <a:t>目的要具體，避免「其他合法用途」</a:t>
            </a:r>
            <a:endParaRPr lang="en-US" sz="19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1900" dirty="0">
                <a:solidFill>
                  <a:schemeClr val="tx1"/>
                </a:solidFill>
              </a:rPr>
              <a:t>GDPR 六種合法基礎</a:t>
            </a:r>
            <a:endParaRPr lang="en-US" sz="19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1900" dirty="0">
                <a:solidFill>
                  <a:schemeClr val="tx1"/>
                </a:solidFill>
              </a:rPr>
              <a:t>台灣：特定目的＋法定要件</a:t>
            </a:r>
            <a:endParaRPr lang="en-US" sz="19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1900" dirty="0">
                <a:solidFill>
                  <a:schemeClr val="tx1"/>
                </a:solidFill>
              </a:rPr>
              <a:t>特殊類別／特種個資加強控制</a:t>
            </a:r>
            <a:endParaRPr lang="en-US" sz="19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1900" dirty="0">
                <a:solidFill>
                  <a:schemeClr val="tx1"/>
                </a:solidFill>
              </a:rPr>
              <a:t>變更目的要重新檢視基礎</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同意：程序與紀錄</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t"/>
          <a:lstStyle/>
          <a:p>
            <a:pPr marL="228600" indent="-228600">
              <a:spcAft>
                <a:spcPts val="1600"/>
              </a:spcAft>
              <a:buSzPct val="100000"/>
              <a:buChar char="•"/>
            </a:pPr>
            <a:r>
              <a:rPr lang="en-US" sz="2200" dirty="0">
                <a:solidFill>
                  <a:schemeClr val="tx1"/>
                </a:solidFill>
              </a:rPr>
              <a:t>是否、何時、如何取得同意</a:t>
            </a:r>
            <a:endParaRPr lang="en-US" sz="2200" dirty="0"/>
          </a:p>
          <a:p>
            <a:pPr marL="228600" indent="-228600">
              <a:spcAft>
                <a:spcPts val="1600"/>
              </a:spcAft>
              <a:buSzPct val="100000"/>
              <a:buChar char="•"/>
            </a:pPr>
            <a:r>
              <a:rPr lang="en-US" sz="2200" dirty="0">
                <a:solidFill>
                  <a:schemeClr val="tx1"/>
                </a:solidFill>
              </a:rPr>
              <a:t>自由、特定、明確不含糊</a:t>
            </a:r>
            <a:endParaRPr lang="en-US" sz="2200" dirty="0"/>
          </a:p>
          <a:p>
            <a:pPr marL="228600" indent="-228600">
              <a:spcAft>
                <a:spcPts val="1600"/>
              </a:spcAft>
              <a:buSzPct val="100000"/>
              <a:buChar char="•"/>
            </a:pPr>
            <a:r>
              <a:rPr lang="en-US" sz="2200" dirty="0">
                <a:solidFill>
                  <a:schemeClr val="tx1"/>
                </a:solidFill>
              </a:rPr>
              <a:t>不綑綁、兒童與研究另有要求</a:t>
            </a:r>
            <a:endParaRPr lang="en-US" sz="2200" dirty="0"/>
          </a:p>
          <a:p>
            <a:pPr marL="228600" indent="-228600">
              <a:spcAft>
                <a:spcPts val="1600"/>
              </a:spcAft>
              <a:buSzPct val="100000"/>
              <a:buChar char="•"/>
            </a:pPr>
            <a:r>
              <a:rPr lang="en-US" sz="2200" dirty="0">
                <a:solidFill>
                  <a:schemeClr val="tx1"/>
                </a:solidFill>
              </a:rPr>
              <a:t>紀錄：時間、身分、聲明版本</a:t>
            </a:r>
            <a:endParaRPr lang="en-US" sz="2200" dirty="0"/>
          </a:p>
          <a:p>
            <a:pPr marL="228600" indent="-228600">
              <a:spcAft>
                <a:spcPts val="1600"/>
              </a:spcAft>
              <a:buSzPct val="100000"/>
              <a:buChar char="•"/>
            </a:pPr>
            <a:r>
              <a:rPr lang="en-US" sz="2200" dirty="0">
                <a:solidFill>
                  <a:schemeClr val="tx1"/>
                </a:solidFill>
              </a:rPr>
              <a:t>紀錄只增不改，撤回也記錄</a:t>
            </a:r>
            <a:endParaRPr lang="en-US" sz="22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PIA、處理者契約與共同控制者</a:t>
            </a:r>
            <a:endParaRPr lang="en-US" sz="3000" dirty="0"/>
          </a:p>
        </p:txBody>
      </p:sp>
      <p:sp>
        <p:nvSpPr>
          <p:cNvPr id="3" name="card-0"/>
          <p:cNvSpPr/>
          <p:nvPr/>
        </p:nvSpPr>
        <p:spPr>
          <a:xfrm>
            <a:off x="548640" y="1371600"/>
            <a:ext cx="5394960" cy="1463040"/>
          </a:xfrm>
          <a:prstGeom prst="roundRect">
            <a:avLst>
              <a:gd name="adj" fmla="val 7500"/>
            </a:avLst>
          </a:prstGeom>
          <a:solidFill>
            <a:srgbClr val="EEF2FA"/>
          </a:solidFill>
          <a:ln w="12700">
            <a:solidFill>
              <a:srgbClr val="EEF2FA"/>
            </a:solidFill>
            <a:prstDash val="solid"/>
          </a:ln>
        </p:spPr>
      </p:sp>
      <p:sp>
        <p:nvSpPr>
          <p:cNvPr id="4" name="num-0"/>
          <p:cNvSpPr/>
          <p:nvPr/>
        </p:nvSpPr>
        <p:spPr>
          <a:xfrm>
            <a:off x="777240" y="182880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288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80160"/>
          </a:xfrm>
          <a:prstGeom prst="rect">
            <a:avLst/>
          </a:prstGeom>
          <a:noFill/>
          <a:ln/>
        </p:spPr>
        <p:txBody>
          <a:bodyPr wrap="square" lIns="0" tIns="0" rIns="0" bIns="0" rtlCol="0" anchor="ctr"/>
          <a:lstStyle/>
          <a:p>
            <a:pPr indent="0" marL="0">
              <a:buNone/>
            </a:pPr>
            <a:r>
              <a:rPr lang="en-US" sz="1900" dirty="0">
                <a:solidFill>
                  <a:schemeClr val="tx1"/>
                </a:solidFill>
              </a:rPr>
              <a:t>新處理或變更先做門檻評估</a:t>
            </a:r>
            <a:endParaRPr lang="en-US" sz="1900" dirty="0"/>
          </a:p>
        </p:txBody>
      </p:sp>
      <p:sp>
        <p:nvSpPr>
          <p:cNvPr id="7" name="card-1"/>
          <p:cNvSpPr/>
          <p:nvPr/>
        </p:nvSpPr>
        <p:spPr>
          <a:xfrm>
            <a:off x="6217920" y="1371600"/>
            <a:ext cx="5394960" cy="1463040"/>
          </a:xfrm>
          <a:prstGeom prst="roundRect">
            <a:avLst>
              <a:gd name="adj" fmla="val 7500"/>
            </a:avLst>
          </a:prstGeom>
          <a:solidFill>
            <a:srgbClr val="EEF2FA"/>
          </a:solidFill>
          <a:ln w="12700">
            <a:solidFill>
              <a:srgbClr val="EEF2FA"/>
            </a:solidFill>
            <a:prstDash val="solid"/>
          </a:ln>
        </p:spPr>
      </p:sp>
      <p:sp>
        <p:nvSpPr>
          <p:cNvPr id="8" name="num-1"/>
          <p:cNvSpPr/>
          <p:nvPr/>
        </p:nvSpPr>
        <p:spPr>
          <a:xfrm>
            <a:off x="6446520" y="182880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288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80160"/>
          </a:xfrm>
          <a:prstGeom prst="rect">
            <a:avLst/>
          </a:prstGeom>
          <a:noFill/>
          <a:ln/>
        </p:spPr>
        <p:txBody>
          <a:bodyPr wrap="square" lIns="0" tIns="0" rIns="0" bIns="0" rtlCol="0" anchor="ctr"/>
          <a:lstStyle/>
          <a:p>
            <a:pPr indent="0" marL="0">
              <a:buNone/>
            </a:pPr>
            <a:r>
              <a:rPr lang="en-US" sz="1900" dirty="0">
                <a:solidFill>
                  <a:schemeClr val="tx1"/>
                </a:solidFill>
              </a:rPr>
              <a:t>高風險觸發完整 PIA</a:t>
            </a:r>
            <a:endParaRPr lang="en-US" sz="1900" dirty="0"/>
          </a:p>
        </p:txBody>
      </p:sp>
      <p:sp>
        <p:nvSpPr>
          <p:cNvPr id="11" name="card-2"/>
          <p:cNvSpPr/>
          <p:nvPr/>
        </p:nvSpPr>
        <p:spPr>
          <a:xfrm>
            <a:off x="548640" y="3108960"/>
            <a:ext cx="5394960" cy="1463040"/>
          </a:xfrm>
          <a:prstGeom prst="roundRect">
            <a:avLst>
              <a:gd name="adj" fmla="val 7500"/>
            </a:avLst>
          </a:prstGeom>
          <a:solidFill>
            <a:srgbClr val="EEF2FA"/>
          </a:solidFill>
          <a:ln w="12700">
            <a:solidFill>
              <a:srgbClr val="EEF2FA"/>
            </a:solidFill>
            <a:prstDash val="solid"/>
          </a:ln>
        </p:spPr>
      </p:sp>
      <p:sp>
        <p:nvSpPr>
          <p:cNvPr id="12" name="num-2"/>
          <p:cNvSpPr/>
          <p:nvPr/>
        </p:nvSpPr>
        <p:spPr>
          <a:xfrm>
            <a:off x="777240" y="356616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661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200400"/>
            <a:ext cx="4251960" cy="1280160"/>
          </a:xfrm>
          <a:prstGeom prst="rect">
            <a:avLst/>
          </a:prstGeom>
          <a:noFill/>
          <a:ln/>
        </p:spPr>
        <p:txBody>
          <a:bodyPr wrap="square" lIns="0" tIns="0" rIns="0" bIns="0" rtlCol="0" anchor="ctr"/>
          <a:lstStyle/>
          <a:p>
            <a:pPr indent="0" marL="0">
              <a:buNone/>
            </a:pPr>
            <a:r>
              <a:rPr lang="en-US" sz="1900" dirty="0">
                <a:solidFill>
                  <a:schemeClr val="tx1"/>
                </a:solidFill>
              </a:rPr>
              <a:t>處理者契約預設涵蓋表 A.2</a:t>
            </a:r>
            <a:endParaRPr lang="en-US" sz="1900" dirty="0"/>
          </a:p>
        </p:txBody>
      </p:sp>
      <p:sp>
        <p:nvSpPr>
          <p:cNvPr id="15" name="card-3"/>
          <p:cNvSpPr/>
          <p:nvPr/>
        </p:nvSpPr>
        <p:spPr>
          <a:xfrm>
            <a:off x="6217920" y="3108960"/>
            <a:ext cx="5394960" cy="1463040"/>
          </a:xfrm>
          <a:prstGeom prst="roundRect">
            <a:avLst>
              <a:gd name="adj" fmla="val 7500"/>
            </a:avLst>
          </a:prstGeom>
          <a:solidFill>
            <a:srgbClr val="EEF2FA"/>
          </a:solidFill>
          <a:ln w="12700">
            <a:solidFill>
              <a:srgbClr val="EEF2FA"/>
            </a:solidFill>
            <a:prstDash val="solid"/>
          </a:ln>
        </p:spPr>
      </p:sp>
      <p:sp>
        <p:nvSpPr>
          <p:cNvPr id="16" name="num-3"/>
          <p:cNvSpPr/>
          <p:nvPr/>
        </p:nvSpPr>
        <p:spPr>
          <a:xfrm>
            <a:off x="6446520" y="356616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661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200400"/>
            <a:ext cx="4251960" cy="1280160"/>
          </a:xfrm>
          <a:prstGeom prst="rect">
            <a:avLst/>
          </a:prstGeom>
          <a:noFill/>
          <a:ln/>
        </p:spPr>
        <p:txBody>
          <a:bodyPr wrap="square" lIns="0" tIns="0" rIns="0" bIns="0" rtlCol="0" anchor="ctr"/>
          <a:lstStyle/>
          <a:p>
            <a:pPr indent="0" marL="0">
              <a:buNone/>
            </a:pPr>
            <a:r>
              <a:rPr lang="en-US" sz="1900" dirty="0">
                <a:solidFill>
                  <a:schemeClr val="tx1"/>
                </a:solidFill>
              </a:rPr>
              <a:t>共同控制者協議寫清外洩責任</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RoPA 與稽核準備</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t"/>
          <a:lstStyle/>
          <a:p>
            <a:pPr marL="228600" indent="-228600">
              <a:spcAft>
                <a:spcPts val="1600"/>
              </a:spcAft>
              <a:buSzPct val="100000"/>
              <a:buChar char="•"/>
            </a:pPr>
            <a:r>
              <a:rPr lang="en-US" sz="2200" dirty="0">
                <a:solidFill>
                  <a:schemeClr val="tx1"/>
                </a:solidFill>
              </a:rPr>
              <a:t>RoPA 欄位：目的、類別、接收者</a:t>
            </a:r>
            <a:endParaRPr lang="en-US" sz="2200" dirty="0"/>
          </a:p>
          <a:p>
            <a:pPr marL="228600" indent="-228600">
              <a:spcAft>
                <a:spcPts val="1600"/>
              </a:spcAft>
              <a:buSzPct val="100000"/>
              <a:buChar char="•"/>
            </a:pPr>
            <a:r>
              <a:rPr lang="en-US" sz="2200" dirty="0">
                <a:solidFill>
                  <a:schemeClr val="tx1"/>
                </a:solidFill>
              </a:rPr>
              <a:t>加上合法基礎、保存、PIA 編號</a:t>
            </a:r>
            <a:endParaRPr lang="en-US" sz="2200" dirty="0"/>
          </a:p>
          <a:p>
            <a:pPr marL="228600" indent="-228600">
              <a:spcAft>
                <a:spcPts val="1600"/>
              </a:spcAft>
              <a:buSzPct val="100000"/>
              <a:buChar char="•"/>
            </a:pPr>
            <a:r>
              <a:rPr lang="en-US" sz="2200" dirty="0">
                <a:solidFill>
                  <a:schemeClr val="tx1"/>
                </a:solidFill>
              </a:rPr>
              <a:t>指派 Owner，定期審查</a:t>
            </a:r>
            <a:endParaRPr lang="en-US" sz="2200" dirty="0"/>
          </a:p>
          <a:p>
            <a:pPr marL="228600" indent="-228600">
              <a:spcAft>
                <a:spcPts val="1600"/>
              </a:spcAft>
              <a:buSzPct val="100000"/>
              <a:buChar char="•"/>
            </a:pPr>
            <a:r>
              <a:rPr lang="en-US" sz="2200" dirty="0">
                <a:solidFill>
                  <a:schemeClr val="tx1"/>
                </a:solidFill>
              </a:rPr>
              <a:t>稽核員反向追蹤與時序檢查</a:t>
            </a:r>
            <a:endParaRPr lang="en-US" sz="2200" dirty="0"/>
          </a:p>
          <a:p>
            <a:pPr marL="228600" indent="-228600">
              <a:spcAft>
                <a:spcPts val="1600"/>
              </a:spcAft>
              <a:buSzPct val="100000"/>
              <a:buChar char="•"/>
            </a:pPr>
            <a:r>
              <a:rPr lang="en-US" sz="2200" dirty="0">
                <a:solidFill>
                  <a:schemeClr val="tx1"/>
                </a:solidFill>
              </a:rPr>
              <a:t>不符合事項：依據＋事實＋證據</a:t>
            </a:r>
            <a:endParaRPr lang="en-US" sz="22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這裡要留證據</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CHAPTER 12</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附錄 A 表 A.2：PII 處理者控制措施</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條款：A.2.2.2、A.2.2.3、A.2.2.4、A.2.2.5、A.2.2.6、A.2.2.7、A.2.3.2、A.2.4.2、A.2.4.3、A.2.4.4、A.2.5.2、A.2.5.3、A.2.5.4、A.2.5.5、A.2.5.6、A.2.5.7、A.2.5.8、A.2.5.9　｜　建議時間：約 25 分鐘</a:t>
            </a:r>
            <a:endParaRPr lang="en-US" sz="1800" dirty="0"/>
          </a:p>
        </p:txBody>
      </p:sp>
      <p:sp>
        <p:nvSpPr>
          <p:cNvPr id="5" name="arale-frame"/>
          <p:cNvSpPr/>
          <p:nvPr/>
        </p:nvSpPr>
        <p:spPr>
          <a:xfrm>
            <a:off x="8997696" y="768096"/>
            <a:ext cx="2304288" cy="3028493"/>
          </a:xfrm>
          <a:prstGeom prst="roundRect">
            <a:avLst>
              <a:gd name="adj" fmla="val 7143"/>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052560" y="822960"/>
            <a:ext cx="2194560" cy="2918765"/>
          </a:xfrm>
          <a:prstGeom prst="rect">
            <a:avLst/>
          </a:prstGeom>
        </p:spPr>
      </p:pic>
      <p:sp>
        <p:nvSpPr>
          <p:cNvPr id="7" name="bubble"/>
          <p:cNvSpPr/>
          <p:nvPr/>
        </p:nvSpPr>
        <p:spPr>
          <a:xfrm>
            <a:off x="8138160" y="4572000"/>
            <a:ext cx="3657600" cy="1371600"/>
          </a:xfrm>
          <a:prstGeom prst="roundRect">
            <a:avLst>
              <a:gd name="adj" fmla="val 10000"/>
            </a:avLst>
          </a:prstGeom>
          <a:solidFill>
            <a:srgbClr val="FDE7F1"/>
          </a:solidFill>
          <a:ln w="19050">
            <a:solidFill>
              <a:srgbClr val="E8559A"/>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處理者依客戶書面指令處理 PII，適用表 A.2 共 18 項，角色需依服務分別判定</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PII 處理者與表 A.2 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t"/>
          <a:lstStyle/>
          <a:p>
            <a:pPr marL="228600" indent="-228600">
              <a:spcAft>
                <a:spcPts val="1600"/>
              </a:spcAft>
              <a:buSzPct val="100000"/>
              <a:buChar char="•"/>
            </a:pPr>
            <a:r>
              <a:rPr lang="en-US" sz="2200" dirty="0">
                <a:solidFill>
                  <a:schemeClr val="tx1"/>
                </a:solidFill>
              </a:rPr>
              <a:t>處理者：代表客戶、依指令處理 PII</a:t>
            </a:r>
            <a:endParaRPr lang="en-US" sz="2200" dirty="0"/>
          </a:p>
          <a:p>
            <a:pPr marL="228600" indent="-228600">
              <a:spcAft>
                <a:spcPts val="1600"/>
              </a:spcAft>
              <a:buSzPct val="100000"/>
              <a:buChar char="•"/>
            </a:pPr>
            <a:r>
              <a:rPr lang="en-US" sz="2200" dirty="0">
                <a:solidFill>
                  <a:schemeClr val="tx1"/>
                </a:solidFill>
              </a:rPr>
              <a:t>4.1 角色要依服務分別判定</a:t>
            </a:r>
            <a:endParaRPr lang="en-US" sz="2200" dirty="0"/>
          </a:p>
          <a:p>
            <a:pPr marL="228600" indent="-228600">
              <a:spcAft>
                <a:spcPts val="1600"/>
              </a:spcAft>
              <a:buSzPct val="100000"/>
              <a:buChar char="•"/>
            </a:pPr>
            <a:r>
              <a:rPr lang="en-US" sz="2200" dirty="0">
                <a:solidFill>
                  <a:schemeClr val="tx1"/>
                </a:solidFill>
              </a:rPr>
              <a:t>表 A.2 共 18 項，分四個控制目標</a:t>
            </a:r>
            <a:endParaRPr lang="en-US" sz="2200" dirty="0"/>
          </a:p>
          <a:p>
            <a:pPr marL="228600" indent="-228600">
              <a:spcAft>
                <a:spcPts val="1600"/>
              </a:spcAft>
              <a:buSzPct val="100000"/>
              <a:buChar char="•"/>
            </a:pPr>
            <a:r>
              <a:rPr lang="en-US" sz="2200" dirty="0">
                <a:solidFill>
                  <a:schemeClr val="tx1"/>
                </a:solidFill>
              </a:rPr>
              <a:t>另適用表 A.3 共通安全控制</a:t>
            </a:r>
            <a:endParaRPr lang="en-US" sz="22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A.2.2 合約、目的與紀錄</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1900" dirty="0">
                <a:solidFill>
                  <a:schemeClr val="tx1"/>
                </a:solidFill>
              </a:rPr>
              <a:t>A.2.2.2 DPA 寫明協助角色</a:t>
            </a:r>
            <a:endParaRPr lang="en-US" sz="19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1900" dirty="0">
                <a:solidFill>
                  <a:schemeClr val="tx1"/>
                </a:solidFill>
              </a:rPr>
              <a:t>A.2.2.3 只依書面指令目的</a:t>
            </a:r>
            <a:endParaRPr lang="en-US" sz="19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1900" dirty="0">
                <a:solidFill>
                  <a:schemeClr val="tx1"/>
                </a:solidFill>
              </a:rPr>
              <a:t>A.2.2.4 禁止行銷廣告使用</a:t>
            </a:r>
            <a:endParaRPr lang="en-US" sz="19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1900" dirty="0">
                <a:solidFill>
                  <a:schemeClr val="tx1"/>
                </a:solidFill>
              </a:rPr>
              <a:t>A.2.2.5 違法指令要通知</a:t>
            </a:r>
            <a:endParaRPr lang="en-US" sz="19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1900" dirty="0">
                <a:solidFill>
                  <a:schemeClr val="tx1"/>
                </a:solidFill>
              </a:rPr>
              <a:t>A.2.2.6–7 保證資訊與處理紀錄</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A.2.3–A.2.4 協助與處置</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t"/>
          <a:lstStyle/>
          <a:p>
            <a:pPr marL="228600" indent="-228600">
              <a:spcAft>
                <a:spcPts val="1600"/>
              </a:spcAft>
              <a:buSzPct val="100000"/>
              <a:buChar char="•"/>
            </a:pPr>
            <a:r>
              <a:rPr lang="en-US" sz="2200" dirty="0">
                <a:solidFill>
                  <a:schemeClr val="tx1"/>
                </a:solidFill>
              </a:rPr>
              <a:t>A.2.3.2 提供客戶回應當事人的工具</a:t>
            </a:r>
            <a:endParaRPr lang="en-US" sz="2200" dirty="0"/>
          </a:p>
          <a:p>
            <a:pPr marL="228600" indent="-228600">
              <a:spcAft>
                <a:spcPts val="1600"/>
              </a:spcAft>
              <a:buSzPct val="100000"/>
              <a:buChar char="•"/>
            </a:pPr>
            <a:r>
              <a:rPr lang="en-US" sz="2200" dirty="0">
                <a:solidFill>
                  <a:schemeClr val="tx1"/>
                </a:solidFill>
              </a:rPr>
              <a:t>A.2.4.2 暫存檔依期限清除並查證</a:t>
            </a:r>
            <a:endParaRPr lang="en-US" sz="2200" dirty="0"/>
          </a:p>
          <a:p>
            <a:pPr marL="228600" indent="-228600">
              <a:spcAft>
                <a:spcPts val="1600"/>
              </a:spcAft>
              <a:buSzPct val="100000"/>
              <a:buChar char="•"/>
            </a:pPr>
            <a:r>
              <a:rPr lang="en-US" sz="2200" dirty="0">
                <a:solidFill>
                  <a:schemeClr val="tx1"/>
                </a:solidFill>
              </a:rPr>
              <a:t>A.2.4.3 解約安全歸還、移轉、刪除</a:t>
            </a:r>
            <a:endParaRPr lang="en-US" sz="2200" dirty="0"/>
          </a:p>
          <a:p>
            <a:pPr marL="228600" indent="-228600">
              <a:spcAft>
                <a:spcPts val="1600"/>
              </a:spcAft>
              <a:buSzPct val="100000"/>
              <a:buChar char="•"/>
            </a:pPr>
            <a:r>
              <a:rPr lang="en-US" sz="2200" dirty="0">
                <a:solidFill>
                  <a:schemeClr val="tx1"/>
                </a:solidFill>
              </a:rPr>
              <a:t>備份與分包商不能漏</a:t>
            </a:r>
            <a:endParaRPr lang="en-US" sz="2200" dirty="0"/>
          </a:p>
          <a:p>
            <a:pPr marL="228600" indent="-228600">
              <a:spcAft>
                <a:spcPts val="1600"/>
              </a:spcAft>
              <a:buSzPct val="100000"/>
              <a:buChar char="•"/>
            </a:pPr>
            <a:r>
              <a:rPr lang="en-US" sz="2200" dirty="0">
                <a:solidFill>
                  <a:schemeClr val="tx1"/>
                </a:solidFill>
              </a:rPr>
              <a:t>A.2.4.4 傳輸送達正確對象</a:t>
            </a:r>
            <a:endParaRPr lang="en-US" sz="22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A.2.5 跨境、揭露與調閱</a:t>
            </a:r>
            <a:endParaRPr lang="en-US" sz="3000" dirty="0"/>
          </a:p>
        </p:txBody>
      </p:sp>
      <p:sp>
        <p:nvSpPr>
          <p:cNvPr id="3" name="card-0"/>
          <p:cNvSpPr/>
          <p:nvPr/>
        </p:nvSpPr>
        <p:spPr>
          <a:xfrm>
            <a:off x="548640" y="1371600"/>
            <a:ext cx="5394960" cy="1463040"/>
          </a:xfrm>
          <a:prstGeom prst="roundRect">
            <a:avLst>
              <a:gd name="adj" fmla="val 7500"/>
            </a:avLst>
          </a:prstGeom>
          <a:solidFill>
            <a:srgbClr val="EEF2FA"/>
          </a:solidFill>
          <a:ln w="12700">
            <a:solidFill>
              <a:srgbClr val="EEF2FA"/>
            </a:solidFill>
            <a:prstDash val="solid"/>
          </a:ln>
        </p:spPr>
      </p:sp>
      <p:sp>
        <p:nvSpPr>
          <p:cNvPr id="4" name="num-0"/>
          <p:cNvSpPr/>
          <p:nvPr/>
        </p:nvSpPr>
        <p:spPr>
          <a:xfrm>
            <a:off x="777240" y="182880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288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80160"/>
          </a:xfrm>
          <a:prstGeom prst="rect">
            <a:avLst/>
          </a:prstGeom>
          <a:noFill/>
          <a:ln/>
        </p:spPr>
        <p:txBody>
          <a:bodyPr wrap="square" lIns="0" tIns="0" rIns="0" bIns="0" rtlCol="0" anchor="ctr"/>
          <a:lstStyle/>
          <a:p>
            <a:pPr indent="0" marL="0">
              <a:buNone/>
            </a:pPr>
            <a:r>
              <a:rPr lang="en-US" sz="1900" dirty="0">
                <a:solidFill>
                  <a:schemeClr val="tx1"/>
                </a:solidFill>
              </a:rPr>
              <a:t>A.2.5.2 跨境依據與變更事先通知</a:t>
            </a:r>
            <a:endParaRPr lang="en-US" sz="1900" dirty="0"/>
          </a:p>
        </p:txBody>
      </p:sp>
      <p:sp>
        <p:nvSpPr>
          <p:cNvPr id="7" name="card-1"/>
          <p:cNvSpPr/>
          <p:nvPr/>
        </p:nvSpPr>
        <p:spPr>
          <a:xfrm>
            <a:off x="6217920" y="1371600"/>
            <a:ext cx="5394960" cy="1463040"/>
          </a:xfrm>
          <a:prstGeom prst="roundRect">
            <a:avLst>
              <a:gd name="adj" fmla="val 7500"/>
            </a:avLst>
          </a:prstGeom>
          <a:solidFill>
            <a:srgbClr val="EEF2FA"/>
          </a:solidFill>
          <a:ln w="12700">
            <a:solidFill>
              <a:srgbClr val="EEF2FA"/>
            </a:solidFill>
            <a:prstDash val="solid"/>
          </a:ln>
        </p:spPr>
      </p:sp>
      <p:sp>
        <p:nvSpPr>
          <p:cNvPr id="8" name="num-1"/>
          <p:cNvSpPr/>
          <p:nvPr/>
        </p:nvSpPr>
        <p:spPr>
          <a:xfrm>
            <a:off x="6446520" y="182880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288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80160"/>
          </a:xfrm>
          <a:prstGeom prst="rect">
            <a:avLst/>
          </a:prstGeom>
          <a:noFill/>
          <a:ln/>
        </p:spPr>
        <p:txBody>
          <a:bodyPr wrap="square" lIns="0" tIns="0" rIns="0" bIns="0" rtlCol="0" anchor="ctr"/>
          <a:lstStyle/>
          <a:p>
            <a:pPr indent="0" marL="0">
              <a:buNone/>
            </a:pPr>
            <a:r>
              <a:rPr lang="en-US" sz="1900" dirty="0">
                <a:solidFill>
                  <a:schemeClr val="tx1"/>
                </a:solidFill>
              </a:rPr>
              <a:t>A.2.5.3 國家清單含分包商所在國</a:t>
            </a:r>
            <a:endParaRPr lang="en-US" sz="1900" dirty="0"/>
          </a:p>
        </p:txBody>
      </p:sp>
      <p:sp>
        <p:nvSpPr>
          <p:cNvPr id="11" name="card-2"/>
          <p:cNvSpPr/>
          <p:nvPr/>
        </p:nvSpPr>
        <p:spPr>
          <a:xfrm>
            <a:off x="548640" y="3108960"/>
            <a:ext cx="5394960" cy="1463040"/>
          </a:xfrm>
          <a:prstGeom prst="roundRect">
            <a:avLst>
              <a:gd name="adj" fmla="val 7500"/>
            </a:avLst>
          </a:prstGeom>
          <a:solidFill>
            <a:srgbClr val="EEF2FA"/>
          </a:solidFill>
          <a:ln w="12700">
            <a:solidFill>
              <a:srgbClr val="EEF2FA"/>
            </a:solidFill>
            <a:prstDash val="solid"/>
          </a:ln>
        </p:spPr>
      </p:sp>
      <p:sp>
        <p:nvSpPr>
          <p:cNvPr id="12" name="num-2"/>
          <p:cNvSpPr/>
          <p:nvPr/>
        </p:nvSpPr>
        <p:spPr>
          <a:xfrm>
            <a:off x="777240" y="356616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661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200400"/>
            <a:ext cx="4251960" cy="1280160"/>
          </a:xfrm>
          <a:prstGeom prst="rect">
            <a:avLst/>
          </a:prstGeom>
          <a:noFill/>
          <a:ln/>
        </p:spPr>
        <p:txBody>
          <a:bodyPr wrap="square" lIns="0" tIns="0" rIns="0" bIns="0" rtlCol="0" anchor="ctr"/>
          <a:lstStyle/>
          <a:p>
            <a:pPr indent="0" marL="0">
              <a:buNone/>
            </a:pPr>
            <a:r>
              <a:rPr lang="en-US" sz="1900" dirty="0">
                <a:solidFill>
                  <a:schemeClr val="tx1"/>
                </a:solidFill>
              </a:rPr>
              <a:t>A.2.5.4 揭露紀錄含授權來源</a:t>
            </a:r>
            <a:endParaRPr lang="en-US" sz="1900" dirty="0"/>
          </a:p>
        </p:txBody>
      </p:sp>
      <p:sp>
        <p:nvSpPr>
          <p:cNvPr id="15" name="card-3"/>
          <p:cNvSpPr/>
          <p:nvPr/>
        </p:nvSpPr>
        <p:spPr>
          <a:xfrm>
            <a:off x="6217920" y="3108960"/>
            <a:ext cx="5394960" cy="1463040"/>
          </a:xfrm>
          <a:prstGeom prst="roundRect">
            <a:avLst>
              <a:gd name="adj" fmla="val 7500"/>
            </a:avLst>
          </a:prstGeom>
          <a:solidFill>
            <a:srgbClr val="EEF2FA"/>
          </a:solidFill>
          <a:ln w="12700">
            <a:solidFill>
              <a:srgbClr val="EEF2FA"/>
            </a:solidFill>
            <a:prstDash val="solid"/>
          </a:ln>
        </p:spPr>
      </p:sp>
      <p:sp>
        <p:nvSpPr>
          <p:cNvPr id="16" name="num-3"/>
          <p:cNvSpPr/>
          <p:nvPr/>
        </p:nvSpPr>
        <p:spPr>
          <a:xfrm>
            <a:off x="6446520" y="356616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661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200400"/>
            <a:ext cx="4251960" cy="1280160"/>
          </a:xfrm>
          <a:prstGeom prst="rect">
            <a:avLst/>
          </a:prstGeom>
          <a:noFill/>
          <a:ln/>
        </p:spPr>
        <p:txBody>
          <a:bodyPr wrap="square" lIns="0" tIns="0" rIns="0" bIns="0" rtlCol="0" anchor="ctr"/>
          <a:lstStyle/>
          <a:p>
            <a:pPr indent="0" marL="0">
              <a:buNone/>
            </a:pPr>
            <a:r>
              <a:rPr lang="en-US" sz="1900" dirty="0">
                <a:solidFill>
                  <a:schemeClr val="tx1"/>
                </a:solidFill>
              </a:rPr>
              <a:t>A.2.5.5–6 調閱請求通知與把關</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A.2.5.7–A.2.5.9 分包商管理</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t"/>
          <a:lstStyle/>
          <a:p>
            <a:pPr marL="228600" indent="-228600">
              <a:spcAft>
                <a:spcPts val="1600"/>
              </a:spcAft>
              <a:buSzPct val="100000"/>
              <a:buChar char="•"/>
            </a:pPr>
            <a:r>
              <a:rPr lang="en-US" sz="2200" dirty="0">
                <a:solidFill>
                  <a:schemeClr val="tx1"/>
                </a:solidFill>
              </a:rPr>
              <a:t>使用前揭露名稱、國家、義務方式</a:t>
            </a:r>
            <a:endParaRPr lang="en-US" sz="2200" dirty="0"/>
          </a:p>
          <a:p>
            <a:pPr marL="228600" indent="-228600">
              <a:spcAft>
                <a:spcPts val="1600"/>
              </a:spcAft>
              <a:buSzPct val="100000"/>
              <a:buChar char="•"/>
            </a:pPr>
            <a:r>
              <a:rPr lang="en-US" sz="2200" dirty="0">
                <a:solidFill>
                  <a:schemeClr val="tx1"/>
                </a:solidFill>
              </a:rPr>
              <a:t>依客戶契約取得書面授權</a:t>
            </a:r>
            <a:endParaRPr lang="en-US" sz="2200" dirty="0"/>
          </a:p>
          <a:p>
            <a:pPr marL="228600" indent="-228600">
              <a:spcAft>
                <a:spcPts val="1600"/>
              </a:spcAft>
              <a:buSzPct val="100000"/>
              <a:buChar char="•"/>
            </a:pPr>
            <a:r>
              <a:rPr lang="en-US" sz="2200" dirty="0">
                <a:solidFill>
                  <a:schemeClr val="tx1"/>
                </a:solidFill>
              </a:rPr>
              <a:t>分包契約要求表 A.2 控制</a:t>
            </a:r>
            <a:endParaRPr lang="en-US" sz="2200" dirty="0"/>
          </a:p>
          <a:p>
            <a:pPr marL="228600" indent="-228600">
              <a:spcAft>
                <a:spcPts val="1600"/>
              </a:spcAft>
              <a:buSzPct val="100000"/>
              <a:buChar char="•"/>
            </a:pPr>
            <a:r>
              <a:rPr lang="en-US" sz="2200" dirty="0">
                <a:solidFill>
                  <a:schemeClr val="tx1"/>
                </a:solidFill>
              </a:rPr>
              <a:t>排除項目需說明理由</a:t>
            </a:r>
            <a:endParaRPr lang="en-US" sz="2200" dirty="0"/>
          </a:p>
          <a:p>
            <a:pPr marL="228600" indent="-228600">
              <a:spcAft>
                <a:spcPts val="1600"/>
              </a:spcAft>
              <a:buSzPct val="100000"/>
              <a:buChar char="•"/>
            </a:pPr>
            <a:r>
              <a:rPr lang="en-US" sz="2200" dirty="0">
                <a:solidFill>
                  <a:schemeClr val="tx1"/>
                </a:solidFill>
              </a:rPr>
              <a:t>變更前通知，客戶可反對</a:t>
            </a:r>
            <a:endParaRPr lang="en-US" sz="22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稽核重點與不符合範例</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1900" dirty="0">
                <a:solidFill>
                  <a:schemeClr val="tx1"/>
                </a:solidFill>
              </a:rPr>
              <a:t>從合約往下追蹤的稽核路徑</a:t>
            </a:r>
            <a:endParaRPr lang="en-US" sz="19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1900" dirty="0">
                <a:solidFill>
                  <a:schemeClr val="tx1"/>
                </a:solidFill>
              </a:rPr>
              <a:t>分包商變更未通知客戶</a:t>
            </a:r>
            <a:endParaRPr lang="en-US" sz="19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1900" dirty="0">
                <a:solidFill>
                  <a:schemeClr val="tx1"/>
                </a:solidFill>
              </a:rPr>
              <a:t>處置證明未涵蓋備份</a:t>
            </a:r>
            <a:endParaRPr lang="en-US" sz="19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1900" dirty="0">
                <a:solidFill>
                  <a:schemeClr val="tx1"/>
                </a:solidFill>
              </a:rPr>
              <a:t>國家清單漏列海外日誌</a:t>
            </a:r>
            <a:endParaRPr lang="en-US" sz="19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1900" dirty="0">
                <a:solidFill>
                  <a:schemeClr val="tx1"/>
                </a:solidFill>
              </a:rPr>
              <a:t>第一線口頭揭露給來電者</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CHAPTER 14</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PIMS 導入實務與整合</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條款：4、5、6、7、8、9、10、附錄C、附錄D、附錄E　｜　建議時間：約 25 分鐘</a:t>
            </a:r>
            <a:endParaRPr lang="en-US" sz="1800" dirty="0"/>
          </a:p>
        </p:txBody>
      </p:sp>
      <p:sp>
        <p:nvSpPr>
          <p:cNvPr id="5" name="arale-frame"/>
          <p:cNvSpPr/>
          <p:nvPr/>
        </p:nvSpPr>
        <p:spPr>
          <a:xfrm>
            <a:off x="8997696" y="768096"/>
            <a:ext cx="2304288" cy="3028493"/>
          </a:xfrm>
          <a:prstGeom prst="roundRect">
            <a:avLst>
              <a:gd name="adj" fmla="val 7143"/>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052560" y="822960"/>
            <a:ext cx="2194560" cy="2918765"/>
          </a:xfrm>
          <a:prstGeom prst="rect">
            <a:avLst/>
          </a:prstGeom>
        </p:spPr>
      </p:pic>
      <p:sp>
        <p:nvSpPr>
          <p:cNvPr id="7" name="bubble"/>
          <p:cNvSpPr/>
          <p:nvPr/>
        </p:nvSpPr>
        <p:spPr>
          <a:xfrm>
            <a:off x="8138160" y="4572000"/>
            <a:ext cx="3657600" cy="1371600"/>
          </a:xfrm>
          <a:prstGeom prst="roundRect">
            <a:avLst>
              <a:gd name="adj" fmla="val 10000"/>
            </a:avLst>
          </a:prstGeom>
          <a:solidFill>
            <a:srgbClr val="FDE7F1"/>
          </a:solidFill>
          <a:ln w="19050">
            <a:solidFill>
              <a:srgbClr val="E8559A"/>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導入順序由條款輸入輸出決定：角色與範圍、盤點、風險、SoA、文件、運作、內稽、管審、驗證</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PIMS 導入路徑 12 步驟</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t"/>
          <a:lstStyle/>
          <a:p>
            <a:pPr marL="228600" indent="-228600">
              <a:spcAft>
                <a:spcPts val="1600"/>
              </a:spcAft>
              <a:buSzPct val="100000"/>
              <a:buChar char="•"/>
            </a:pPr>
            <a:r>
              <a:rPr lang="en-US" sz="2200" dirty="0">
                <a:solidFill>
                  <a:schemeClr val="tx1"/>
                </a:solidFill>
              </a:rPr>
              <a:t>啟動、差異分析、盤點與 RoPA</a:t>
            </a:r>
            <a:endParaRPr lang="en-US" sz="2200" dirty="0"/>
          </a:p>
          <a:p>
            <a:pPr marL="228600" indent="-228600">
              <a:spcAft>
                <a:spcPts val="1600"/>
              </a:spcAft>
              <a:buSzPct val="100000"/>
              <a:buChar char="•"/>
            </a:pPr>
            <a:r>
              <a:rPr lang="en-US" sz="2200" dirty="0">
                <a:solidFill>
                  <a:schemeClr val="tx1"/>
                </a:solidFill>
              </a:rPr>
              <a:t>角色判定、風險評鑑與 PIA</a:t>
            </a:r>
            <a:endParaRPr lang="en-US" sz="2200" dirty="0"/>
          </a:p>
          <a:p>
            <a:pPr marL="228600" indent="-228600">
              <a:spcAft>
                <a:spcPts val="1600"/>
              </a:spcAft>
              <a:buSzPct val="100000"/>
              <a:buChar char="•"/>
            </a:pPr>
            <a:r>
              <a:rPr lang="en-US" sz="2200" dirty="0">
                <a:solidFill>
                  <a:schemeClr val="tx1"/>
                </a:solidFill>
              </a:rPr>
              <a:t>SoA 與風險處理計畫</a:t>
            </a:r>
            <a:endParaRPr lang="en-US" sz="2200" dirty="0"/>
          </a:p>
          <a:p>
            <a:pPr marL="228600" indent="-228600">
              <a:spcAft>
                <a:spcPts val="1600"/>
              </a:spcAft>
              <a:buSzPct val="100000"/>
              <a:buChar char="•"/>
            </a:pPr>
            <a:r>
              <a:rPr lang="en-US" sz="2200" dirty="0">
                <a:solidFill>
                  <a:schemeClr val="tx1"/>
                </a:solidFill>
              </a:rPr>
              <a:t>文件、訓練、試運行</a:t>
            </a:r>
            <a:endParaRPr lang="en-US" sz="2200" dirty="0"/>
          </a:p>
          <a:p>
            <a:pPr marL="228600" indent="-228600">
              <a:spcAft>
                <a:spcPts val="1600"/>
              </a:spcAft>
              <a:buSzPct val="100000"/>
              <a:buChar char="•"/>
            </a:pPr>
            <a:r>
              <a:rPr lang="en-US" sz="2200" dirty="0">
                <a:solidFill>
                  <a:schemeClr val="tx1"/>
                </a:solidFill>
              </a:rPr>
              <a:t>內稽、管審、驗證</a:t>
            </a:r>
            <a:endParaRPr lang="en-US" sz="22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建議時程 6–9 個月</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1900" dirty="0">
                <a:solidFill>
                  <a:schemeClr val="tx1"/>
                </a:solidFill>
              </a:rPr>
              <a:t>已有 ISMS：約 6–7 個月</a:t>
            </a:r>
            <a:endParaRPr lang="en-US" sz="19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1900" dirty="0">
                <a:solidFill>
                  <a:schemeClr val="tx1"/>
                </a:solidFill>
              </a:rPr>
              <a:t>無 ISMS：預留 9 個月以上</a:t>
            </a:r>
            <a:endParaRPr lang="en-US" sz="19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1900" dirty="0">
                <a:solidFill>
                  <a:schemeClr val="tx1"/>
                </a:solidFill>
              </a:rPr>
              <a:t>試運行至少 2–3 個月</a:t>
            </a:r>
            <a:endParaRPr lang="en-US" sz="19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1900" dirty="0">
                <a:solidFill>
                  <a:schemeClr val="tx1"/>
                </a:solidFill>
              </a:rPr>
              <a:t>安排外洩演練與 DSAR 模擬</a:t>
            </a:r>
            <a:endParaRPr lang="en-US" sz="19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1900" dirty="0">
                <a:solidFill>
                  <a:schemeClr val="tx1"/>
                </a:solidFill>
              </a:rPr>
              <a:t>第 3–4 個月預約驗證機構</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PIMS 文件架構</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t"/>
          <a:lstStyle/>
          <a:p>
            <a:pPr marL="228600" indent="-228600">
              <a:spcAft>
                <a:spcPts val="1600"/>
              </a:spcAft>
              <a:buSzPct val="100000"/>
              <a:buChar char="•"/>
            </a:pPr>
            <a:r>
              <a:rPr lang="en-US" sz="2200" dirty="0">
                <a:solidFill>
                  <a:schemeClr val="tx1"/>
                </a:solidFill>
              </a:rPr>
              <a:t>一階政策：隱私政策、範圍、目標</a:t>
            </a:r>
            <a:endParaRPr lang="en-US" sz="2200" dirty="0"/>
          </a:p>
          <a:p>
            <a:pPr marL="228600" indent="-228600">
              <a:spcAft>
                <a:spcPts val="1600"/>
              </a:spcAft>
              <a:buSzPct val="100000"/>
              <a:buChar char="•"/>
            </a:pPr>
            <a:r>
              <a:rPr lang="en-US" sz="2200" dirty="0">
                <a:solidFill>
                  <a:schemeClr val="tx1"/>
                </a:solidFill>
              </a:rPr>
              <a:t>二階程序：風險、DSAR、事故、委外</a:t>
            </a:r>
            <a:endParaRPr lang="en-US" sz="2200" dirty="0"/>
          </a:p>
          <a:p>
            <a:pPr marL="228600" indent="-228600">
              <a:spcAft>
                <a:spcPts val="1600"/>
              </a:spcAft>
              <a:buSzPct val="100000"/>
              <a:buChar char="•"/>
            </a:pPr>
            <a:r>
              <a:rPr lang="en-US" sz="2200" dirty="0">
                <a:solidFill>
                  <a:schemeClr val="tx1"/>
                </a:solidFill>
              </a:rPr>
              <a:t>三階作業說明：同意、遮罩、銷毀</a:t>
            </a:r>
            <a:endParaRPr lang="en-US" sz="2200" dirty="0"/>
          </a:p>
          <a:p>
            <a:pPr marL="228600" indent="-228600">
              <a:spcAft>
                <a:spcPts val="1600"/>
              </a:spcAft>
              <a:buSzPct val="100000"/>
              <a:buChar char="•"/>
            </a:pPr>
            <a:r>
              <a:rPr lang="en-US" sz="2200" dirty="0">
                <a:solidFill>
                  <a:schemeClr val="tx1"/>
                </a:solidFill>
              </a:rPr>
              <a:t>四階紀錄：RoPA、SoA、登記簿</a:t>
            </a:r>
            <a:endParaRPr lang="en-US" sz="2200" dirty="0"/>
          </a:p>
          <a:p>
            <a:pPr marL="228600" indent="-228600">
              <a:spcAft>
                <a:spcPts val="1600"/>
              </a:spcAft>
              <a:buSzPct val="100000"/>
              <a:buChar char="•"/>
            </a:pPr>
            <a:r>
              <a:rPr lang="en-US" sz="2200" dirty="0">
                <a:solidFill>
                  <a:schemeClr val="tx1"/>
                </a:solidFill>
              </a:rPr>
              <a:t>標準要求的文件化資訊不可少</a:t>
            </a:r>
            <a:endParaRPr lang="en-US" sz="22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與 ISO/IEC 27001 整合</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1900" dirty="0">
                <a:solidFill>
                  <a:schemeClr val="tx1"/>
                </a:solidFill>
              </a:rPr>
              <a:t>共通架構第 4–10 章可共用流程</a:t>
            </a:r>
            <a:endParaRPr lang="en-US" sz="19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1900" dirty="0">
                <a:solidFill>
                  <a:schemeClr val="tx1"/>
                </a:solidFill>
              </a:rPr>
              <a:t>風險評鑑加入當事人後果欄位</a:t>
            </a:r>
            <a:endParaRPr lang="en-US" sz="19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1900" dirty="0">
                <a:solidFill>
                  <a:schemeClr val="tx1"/>
                </a:solidFill>
              </a:rPr>
              <a:t>SoA 兩份或合併皆可</a:t>
            </a:r>
            <a:endParaRPr lang="en-US" sz="19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1900" dirty="0">
                <a:solidFill>
                  <a:schemeClr val="tx1"/>
                </a:solidFill>
              </a:rPr>
              <a:t>內稽、管審可合併但須可區分</a:t>
            </a:r>
            <a:endParaRPr lang="en-US" sz="19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1900" dirty="0">
                <a:solidFill>
                  <a:schemeClr val="tx1"/>
                </a:solidFill>
              </a:rPr>
              <a:t>6.1.3 c) 可引用 ISMS 為安全方案</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附錄 C/D/E 與台灣個資法</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t"/>
          <a:lstStyle/>
          <a:p>
            <a:pPr marL="228600" indent="-228600">
              <a:spcAft>
                <a:spcPts val="1600"/>
              </a:spcAft>
              <a:buSzPct val="100000"/>
              <a:buChar char="•"/>
            </a:pPr>
            <a:r>
              <a:rPr lang="en-US" sz="2200" dirty="0">
                <a:solidFill>
                  <a:schemeClr val="tx1"/>
                </a:solidFill>
              </a:rPr>
              <a:t>附錄 C：對應 ISO/IEC 29100 原則</a:t>
            </a:r>
            <a:endParaRPr lang="en-US" sz="2200" dirty="0"/>
          </a:p>
          <a:p>
            <a:pPr marL="228600" indent="-228600">
              <a:spcAft>
                <a:spcPts val="1600"/>
              </a:spcAft>
              <a:buSzPct val="100000"/>
              <a:buChar char="•"/>
            </a:pPr>
            <a:r>
              <a:rPr lang="en-US" sz="2200" dirty="0">
                <a:solidFill>
                  <a:schemeClr val="tx1"/>
                </a:solidFill>
              </a:rPr>
              <a:t>附錄 D：對應 GDPR，屬指示性</a:t>
            </a:r>
            <a:endParaRPr lang="en-US" sz="2200" dirty="0"/>
          </a:p>
          <a:p>
            <a:pPr marL="228600" indent="-228600">
              <a:spcAft>
                <a:spcPts val="1600"/>
              </a:spcAft>
              <a:buSzPct val="100000"/>
              <a:buChar char="•"/>
            </a:pPr>
            <a:r>
              <a:rPr lang="en-US" sz="2200" dirty="0">
                <a:solidFill>
                  <a:schemeClr val="tx1"/>
                </a:solidFill>
              </a:rPr>
              <a:t>附錄 E：對應 27018、29151</a:t>
            </a:r>
            <a:endParaRPr lang="en-US" sz="2200" dirty="0"/>
          </a:p>
          <a:p>
            <a:pPr marL="228600" indent="-228600">
              <a:spcAft>
                <a:spcPts val="1600"/>
              </a:spcAft>
              <a:buSzPct val="100000"/>
              <a:buChar char="•"/>
            </a:pPr>
            <a:r>
              <a:rPr lang="en-US" sz="2200" dirty="0">
                <a:solidFill>
                  <a:schemeClr val="tx1"/>
                </a:solidFill>
              </a:rPr>
              <a:t>自建個資法 × 27701 對照表</a:t>
            </a:r>
            <a:endParaRPr lang="en-US" sz="2200" dirty="0"/>
          </a:p>
          <a:p>
            <a:pPr marL="228600" indent="-228600">
              <a:spcAft>
                <a:spcPts val="1600"/>
              </a:spcAft>
              <a:buSzPct val="100000"/>
              <a:buChar char="•"/>
            </a:pPr>
            <a:r>
              <a:rPr lang="en-US" sz="2200" dirty="0">
                <a:solidFill>
                  <a:schemeClr val="tx1"/>
                </a:solidFill>
              </a:rPr>
              <a:t>安全維護計畫引用 PIMS 文件</a:t>
            </a:r>
            <a:endParaRPr lang="en-US" sz="22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中小企業簡化與驗證前準備</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1900" dirty="0">
                <a:solidFill>
                  <a:schemeClr val="tx1"/>
                </a:solidFill>
              </a:rPr>
              <a:t>一本 PIMS 手冊＋10–15 份表單</a:t>
            </a:r>
            <a:endParaRPr lang="en-US" sz="19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1900" dirty="0">
                <a:solidFill>
                  <a:schemeClr val="tx1"/>
                </a:solidFill>
              </a:rPr>
              <a:t>Excel 管理 RoPA 與揭露紀錄</a:t>
            </a:r>
            <a:endParaRPr lang="en-US" sz="19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1900" dirty="0">
                <a:solidFill>
                  <a:schemeClr val="tx1"/>
                </a:solidFill>
              </a:rPr>
              <a:t>投資順序：RoPA 到事故程序</a:t>
            </a:r>
            <a:endParaRPr lang="en-US" sz="19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1900" dirty="0">
                <a:solidFill>
                  <a:schemeClr val="tx1"/>
                </a:solidFill>
              </a:rPr>
              <a:t>20 項驗證前檢核表</a:t>
            </a:r>
            <a:endParaRPr lang="en-US" sz="19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1900" dirty="0">
                <a:solidFill>
                  <a:schemeClr val="tx1"/>
                </a:solidFill>
              </a:rPr>
              <a:t>準備證據索引表與受訪人員</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731520" y="1097280"/>
            <a:ext cx="6949440" cy="822960"/>
          </a:xfrm>
          <a:prstGeom prst="rect">
            <a:avLst/>
          </a:prstGeom>
          <a:noFill/>
          <a:ln/>
        </p:spPr>
        <p:txBody>
          <a:bodyPr wrap="square" lIns="0" tIns="0" rIns="0" bIns="0" rtlCol="0" anchor="ctr"/>
          <a:lstStyle/>
          <a:p>
            <a:pPr indent="0" marL="0">
              <a:buNone/>
            </a:pPr>
            <a:r>
              <a:rPr lang="en-US" sz="3600" b="1" dirty="0">
                <a:solidFill>
                  <a:srgbClr val="FFFFFF"/>
                </a:solidFill>
              </a:rPr>
              <a:t>課後學習與測驗</a:t>
            </a:r>
            <a:endParaRPr lang="en-US" sz="3600" dirty="0"/>
          </a:p>
        </p:txBody>
      </p:sp>
      <p:sp>
        <p:nvSpPr>
          <p:cNvPr id="3" name="Text 1"/>
          <p:cNvSpPr txBox="1"/>
          <p:nvPr/>
        </p:nvSpPr>
        <p:spPr>
          <a:xfrm>
            <a:off x="731520" y="2103120"/>
            <a:ext cx="6949440" cy="2743200"/>
          </a:xfrm>
          <a:prstGeom prst="rect">
            <a:avLst/>
          </a:prstGeom>
          <a:noFill/>
          <a:ln/>
        </p:spPr>
        <p:txBody>
          <a:bodyPr wrap="square" lIns="0" tIns="0" rIns="0" bIns="0" rtlCol="0" anchor="ctr"/>
          <a:lstStyle/>
          <a:p>
            <a:pPr marL="342900" indent="-342900">
              <a:spcAft>
                <a:spcPts val="1200"/>
              </a:spcAft>
              <a:buSzPct val="100000"/>
              <a:buChar char="•"/>
            </a:pPr>
            <a:r>
              <a:rPr lang="en-US" sz="1800" dirty="0">
                <a:solidFill>
                  <a:srgbClr val="CADCFC"/>
                </a:solidFill>
              </a:rPr>
              <a:t>線上文字教材：比簡報更完整的條文解說、範本與稽核案例</a:t>
            </a:r>
            <a:endParaRPr lang="en-US" sz="1800" dirty="0"/>
          </a:p>
          <a:p>
            <a:pPr marL="342900" indent="-342900">
              <a:spcAft>
                <a:spcPts val="1200"/>
              </a:spcAft>
              <a:buSzPct val="100000"/>
              <a:buChar char="•"/>
            </a:pPr>
            <a:r>
              <a:rPr lang="en-US" sz="1800" dirty="0">
                <a:solidFill>
                  <a:srgbClr val="CADCFC"/>
                </a:solidFill>
              </a:rPr>
              <a:t>互動影音：Allan × 阿拉蕾對話教學，可選章節、跳場景</a:t>
            </a:r>
            <a:endParaRPr lang="en-US" sz="1800" dirty="0"/>
          </a:p>
          <a:p>
            <a:pPr marL="342900" indent="-342900">
              <a:spcAft>
                <a:spcPts val="1200"/>
              </a:spcAft>
              <a:buSzPct val="100000"/>
              <a:buChar char="•"/>
            </a:pPr>
            <a:r>
              <a:rPr lang="en-US" sz="1800" dirty="0">
                <a:solidFill>
                  <a:srgbClr val="CADCFC"/>
                </a:solidFill>
              </a:rPr>
              <a:t>課後測驗：10 題、80 分及格，可下載結業證書（附題目與解答）</a:t>
            </a:r>
            <a:endParaRPr lang="en-US" sz="1800" dirty="0"/>
          </a:p>
          <a:p>
            <a:pPr marL="342900" indent="-342900">
              <a:spcAft>
                <a:spcPts val="1200"/>
              </a:spcAft>
              <a:buSzPct val="100000"/>
              <a:buChar char="•"/>
            </a:pPr>
            <a:r>
              <a:rPr lang="en-US" sz="1800" dirty="0">
                <a:solidFill>
                  <a:srgbClr val="CADCFC"/>
                </a:solidFill>
              </a:rPr>
              <a:t>未及格：重新閱讀相關章節後再測一次</a:t>
            </a:r>
            <a:endParaRPr lang="en-US" sz="1800" dirty="0"/>
          </a:p>
        </p:txBody>
      </p:sp>
      <p:sp>
        <p:nvSpPr>
          <p:cNvPr id="4" name="Text 2"/>
          <p:cNvSpPr txBox="1"/>
          <p:nvPr/>
        </p:nvSpPr>
        <p:spPr>
          <a:xfrm>
            <a:off x="731520" y="5120640"/>
            <a:ext cx="6949440" cy="731520"/>
          </a:xfrm>
          <a:prstGeom prst="rect">
            <a:avLst/>
          </a:prstGeom>
          <a:noFill/>
          <a:ln/>
        </p:spPr>
        <p:txBody>
          <a:bodyPr wrap="square" lIns="0" tIns="0" rIns="0" bIns="0" rtlCol="0" anchor="ctr"/>
          <a:lstStyle/>
          <a:p>
            <a:pPr indent="0" marL="0">
              <a:buNone/>
            </a:pPr>
            <a:r>
              <a:rPr lang="en-US" sz="2800" b="1" dirty="0">
                <a:solidFill>
                  <a:srgbClr val="F2A541"/>
                </a:solidFill>
              </a:rPr>
              <a:t>Q &amp; A｜謝謝大家！</a:t>
            </a:r>
            <a:endParaRPr lang="en-US" sz="2800" dirty="0"/>
          </a:p>
        </p:txBody>
      </p:sp>
      <p:sp>
        <p:nvSpPr>
          <p:cNvPr id="5" name="arale-frame"/>
          <p:cNvSpPr/>
          <p:nvPr/>
        </p:nvSpPr>
        <p:spPr>
          <a:xfrm>
            <a:off x="7763256" y="2688336"/>
            <a:ext cx="1847088" cy="2420417"/>
          </a:xfrm>
          <a:prstGeom prst="roundRect">
            <a:avLst>
              <a:gd name="adj" fmla="val 8911"/>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7818120" y="2743200"/>
            <a:ext cx="1737360" cy="2310689"/>
          </a:xfrm>
          <a:prstGeom prst="rect">
            <a:avLst/>
          </a:prstGeom>
        </p:spPr>
      </p:pic>
      <p:sp>
        <p:nvSpPr>
          <p:cNvPr id="7" name="Text 4"/>
          <p:cNvSpPr txBox="1"/>
          <p:nvPr/>
        </p:nvSpPr>
        <p:spPr>
          <a:xfrm>
            <a:off x="7635240" y="5163617"/>
            <a:ext cx="2103120" cy="320040"/>
          </a:xfrm>
          <a:prstGeom prst="rect">
            <a:avLst/>
          </a:prstGeom>
          <a:noFill/>
          <a:ln/>
        </p:spPr>
        <p:txBody>
          <a:bodyPr wrap="square" lIns="0" tIns="0" rIns="0" bIns="0" rtlCol="0" anchor="ctr"/>
          <a:lstStyle/>
          <a:p>
            <a:pPr algn="ctr" indent="0" marL="0">
              <a:buNone/>
            </a:pPr>
            <a:r>
              <a:rPr lang="en-US" sz="1300" b="1" dirty="0">
                <a:solidFill>
                  <a:srgbClr val="E8559A"/>
                </a:solidFill>
              </a:rPr>
              <a:t>助教 阿拉蕾</a:t>
            </a:r>
            <a:endParaRPr lang="en-US" sz="1300" dirty="0"/>
          </a:p>
        </p:txBody>
      </p:sp>
      <p:sp>
        <p:nvSpPr>
          <p:cNvPr id="8" name="allan-frame"/>
          <p:cNvSpPr/>
          <p:nvPr/>
        </p:nvSpPr>
        <p:spPr>
          <a:xfrm>
            <a:off x="9774936" y="950976"/>
            <a:ext cx="1938528" cy="2944368"/>
          </a:xfrm>
          <a:prstGeom prst="roundRect">
            <a:avLst>
              <a:gd name="adj" fmla="val 8491"/>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9" name="allan-img" descr="Allan 講師">    </p:cNvPr>
          <p:cNvPicPr>
            <a:picLocks noChangeAspect="1"/>
          </p:cNvPicPr>
          <p:nvPr/>
        </p:nvPicPr>
        <p:blipFill>
          <a:blip r:embed="rId2"/>
          <a:srcRect l="0" r="0" t="0" b="0"/>
          <a:stretch/>
        </p:blipFill>
        <p:spPr>
          <a:xfrm>
            <a:off x="9829800" y="1005840"/>
            <a:ext cx="1828800" cy="2834640"/>
          </a:xfrm>
          <a:prstGeom prst="rect">
            <a:avLst/>
          </a:prstGeom>
        </p:spPr>
      </p:pic>
      <p:sp>
        <p:nvSpPr>
          <p:cNvPr id="10" name="Text 6"/>
          <p:cNvSpPr txBox="1"/>
          <p:nvPr/>
        </p:nvSpPr>
        <p:spPr>
          <a:xfrm>
            <a:off x="9646920" y="3950208"/>
            <a:ext cx="219456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Tree>
  </p:cSld>
  <p:clrMapOvr>
    <a:masterClrMapping/>
  </p:clrMapOvr>
</p:sld>
</file>

<file path=ppt/theme/theme1.xml><?xml version="1.0" encoding="utf-8"?>
<a:theme xmlns:a="http://schemas.openxmlformats.org/drawingml/2006/main" name="PIMS Navy">
  <a:themeElements>
    <a:clrScheme name="PIMS Navy">
      <a:dk1>
        <a:srgbClr val="1B2340"/>
      </a:dk1>
      <a:lt1>
        <a:srgbClr val="FFFFFF"/>
      </a:lt1>
      <a:dk2>
        <a:srgbClr val="1E2761"/>
      </a:dk2>
      <a:lt2>
        <a:srgbClr val="EEF2FA"/>
      </a:lt2>
      <a:accent1>
        <a:srgbClr val="0F8B8D"/>
      </a:accent1>
      <a:accent2>
        <a:srgbClr val="E8559A"/>
      </a:accent2>
      <a:accent3>
        <a:srgbClr val="F2A541"/>
      </a:accent3>
      <a:accent4>
        <a:srgbClr val="2B5BD7"/>
      </a:accent4>
      <a:accent5>
        <a:srgbClr val="6B7A99"/>
      </a:accent5>
      <a:accent6>
        <a:srgbClr val="1F9D55"/>
      </a:accent6>
      <a:hlink>
        <a:srgbClr val="2B5BD7"/>
      </a:hlink>
      <a:folHlink>
        <a:srgbClr val="6B7A99"/>
      </a:folHlink>
    </a:clrScheme>
    <a:fontScheme name="PIMS Navy">
      <a:majorFont>
        <a:latin typeface="Microsoft Jheng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Jheng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ISO/IEC 27701:2025 隱私資訊管理系統（PIMS）</dc:title>
  <dc:subject>ISO/IEC 27701:2025 標準解說、PIMS 管理作法與稽核實務</dc:subject>
  <dc:creator>Allan</dc:creator>
  <cp:lastModifiedBy>Allan</cp:lastModifiedBy>
  <cp:revision>1</cp:revision>
  <dcterms:created xsi:type="dcterms:W3CDTF">2026-10-09T09:36:27Z</dcterms:created>
  <dcterms:modified xsi:type="dcterms:W3CDTF">2026-10-09T09:36:27Z</dcterms:modified>
</cp:coreProperties>
</file>