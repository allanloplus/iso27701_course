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 課程導覽" id="{3067c7f9-07ed-8623-df8d-bf14e33e15ab}">
          <p14:sldIdLst>
            <p14:sldId id="258"/>
            <p14:sldId id="259"/>
            <p14:sldId id="260"/>
            <p14:sldId id="261"/>
          </p14:sldIdLst>
        </p14:section>
        <p14:section name="1. 基礎觀念" id="{99793748-de0a-532c-85c7-1787e355b1b2}">
          <p14:sldIdLst>
            <p14:sldId id="262"/>
            <p14:sldId id="263"/>
            <p14:sldId id="264"/>
            <p14:sldId id="265"/>
            <p14:sldId id="266"/>
            <p14:sldId id="267"/>
          </p14:sldIdLst>
        </p14:section>
        <p14:section name="2. 改版架構" id="{88078094-d27b-a9dc-fbba-7f521b94ce3d}">
          <p14:sldIdLst>
            <p14:sldId id="268"/>
            <p14:sldId id="269"/>
            <p14:sldId id="270"/>
            <p14:sldId id="271"/>
            <p14:sldId id="272"/>
            <p14:sldId id="273"/>
          </p14:sldIdLst>
        </p14:section>
        <p14:section name="3. 組織全景" id="{3ee4a242-761a-9b67-94c7-dbb87293412d}">
          <p14:sldIdLst>
            <p14:sldId id="274"/>
            <p14:sldId id="275"/>
            <p14:sldId id="276"/>
            <p14:sldId id="277"/>
            <p14:sldId id="278"/>
            <p14:sldId id="279"/>
          </p14:sldIdLst>
        </p14:section>
        <p14:section name="4. 領導作為" id="{67fe1b09-d8c7-5ccb-b08a-2d18142cb863}">
          <p14:sldIdLst>
            <p14:sldId id="280"/>
            <p14:sldId id="281"/>
            <p14:sldId id="282"/>
            <p14:sldId id="283"/>
            <p14:sldId id="284"/>
            <p14:sldId id="285"/>
            <p14:sldId id="286"/>
          </p14:sldIdLst>
        </p14:section>
        <p14:section name="5. 規劃" id="{834f869f-1cbc-c71d-e011-3c74316aead9}">
          <p14:sldIdLst>
            <p14:sldId id="287"/>
            <p14:sldId id="288"/>
            <p14:sldId id="289"/>
            <p14:sldId id="290"/>
            <p14:sldId id="291"/>
            <p14:sldId id="292"/>
            <p14:sldId id="293"/>
            <p14:sldId id="294"/>
          </p14:sldIdLst>
        </p14:section>
        <p14:section name="6. 支援" id="{35bb50a1-e32a-6055-f58f-f75f592256c8}">
          <p14:sldIdLst>
            <p14:sldId id="295"/>
            <p14:sldId id="296"/>
            <p14:sldId id="297"/>
            <p14:sldId id="298"/>
            <p14:sldId id="299"/>
            <p14:sldId id="300"/>
          </p14:sldIdLst>
        </p14:section>
        <p14:section name="7. 運作" id="{bc363354-be3a-cb65-f008-1370b7fd595c}">
          <p14:sldIdLst>
            <p14:sldId id="301"/>
            <p14:sldId id="302"/>
            <p14:sldId id="303"/>
            <p14:sldId id="304"/>
            <p14:sldId id="305"/>
            <p14:sldId id="306"/>
            <p14:sldId id="307"/>
          </p14:sldIdLst>
        </p14:section>
        <p14:section name="8. 績效改善" id="{ee200bb2-c351-add7-c197-af68962ae206}">
          <p14:sldIdLst>
            <p14:sldId id="308"/>
            <p14:sldId id="309"/>
            <p14:sldId id="310"/>
            <p14:sldId id="311"/>
            <p14:sldId id="312"/>
            <p14:sldId id="313"/>
            <p14:sldId id="314"/>
          </p14:sldIdLst>
        </p14:section>
        <p14:section name="9. 蒐集處理條件" id="{953b89bd-8c0c-82a3-72ae-d2c7f6f2ba2a}">
          <p14:sldIdLst>
            <p14:sldId id="315"/>
            <p14:sldId id="316"/>
            <p14:sldId id="317"/>
            <p14:sldId id="318"/>
            <p14:sldId id="319"/>
            <p14:sldId id="320"/>
          </p14:sldIdLst>
        </p14:section>
        <p14:section name="10. 當事人義務" id="{09d60f3c-3373-e2bc-c3eb-574497e4fe14}">
          <p14:sldIdLst>
            <p14:sldId id="321"/>
            <p14:sldId id="322"/>
            <p14:sldId id="323"/>
            <p14:sldId id="324"/>
            <p14:sldId id="325"/>
            <p14:sldId id="326"/>
          </p14:sldIdLst>
        </p14:section>
        <p14:section name="11. 隱私設計移轉" id="{5cf3c175-1fef-7deb-7087-301a0393faec}">
          <p14:sldIdLst>
            <p14:sldId id="327"/>
            <p14:sldId id="328"/>
            <p14:sldId id="329"/>
            <p14:sldId id="330"/>
            <p14:sldId id="331"/>
            <p14:sldId id="332"/>
            <p14:sldId id="333"/>
          </p14:sldIdLst>
        </p14:section>
        <p14:section name="12. 處理者控制" id="{af5c0a8c-b3cd-ae65-0caa-62ddd793ad46}">
          <p14:sldIdLst>
            <p14:sldId id="334"/>
            <p14:sldId id="335"/>
            <p14:sldId id="336"/>
            <p14:sldId id="337"/>
            <p14:sldId id="338"/>
            <p14:sldId id="339"/>
            <p14:sldId id="340"/>
          </p14:sldIdLst>
        </p14:section>
        <p14:section name="13. 共通安全控制" id="{b3085afc-4fd2-a3cb-f70e-d8528ab48ad5}">
          <p14:sldIdLst>
            <p14:sldId id="341"/>
            <p14:sldId id="342"/>
            <p14:sldId id="343"/>
            <p14:sldId id="344"/>
            <p14:sldId id="345"/>
            <p14:sldId id="346"/>
            <p14:sldId id="347"/>
          </p14:sldIdLst>
        </p14:section>
        <p14:section name="14. 導入實務" id="{d5ad99e9-208d-fa98-52a5-f75e94522331}">
          <p14:sldIdLst>
            <p14:sldId id="348"/>
            <p14:sldId id="349"/>
            <p14:sldId id="350"/>
            <p14:sldId id="351"/>
            <p14:sldId id="352"/>
            <p14:sldId id="353"/>
            <p14:sldId id="354"/>
          </p14:sldIdLst>
        </p14:section>
        <p14:section name="15. 稽核實務" id="{b891747e-b097-1db8-30fd-5f52ef211e2e}">
          <p14:sldIdLst>
            <p14:sldId id="355"/>
            <p14:sldId id="356"/>
            <p14:sldId id="357"/>
            <p14:sldId id="358"/>
            <p14:sldId id="359"/>
            <p14:sldId id="360"/>
            <p14:sldId id="361"/>
          </p14:sldIdLst>
        </p14:section>
        <p14:section name="16. 課程總結" id="{69082fe0-f51c-c0cf-3e72-043e0c206697}">
          <p14:sldIdLst>
            <p14:sldId id="362"/>
            <p14:sldId id="363"/>
            <p14:sldId id="364"/>
            <p14:sldId id="365"/>
          </p14:sldIdLst>
        </p14:section>
        <p14:section name="結語" id="{151f1aa5-ec60-146f-041c-c0e21a46e8c2}">
          <p14:sldIdLst>
            <p14:sldId id="3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開場：歡迎學員，自我介紹（ISMS/PIMS 輔導顧問、驗證機構稽核員，專長資安與企業 MIS 管理）。介紹助教阿拉蕾會在線上影音陪大家學習。說明本課程三大面向：標準詳細解說、PIMS 管理作法、常見稽核實務。提醒學員課後可到線上文字教材與互動影音複習，完成 10 題課後測驗（80 分及格）可下載結業證書。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小時實體課建議配置：教學約 170 分鐘＋中場休息 10 分鐘（建議排在第 8 章之後）。各章分鐘數依簡報張數估算，可依學員背景調整；例如學員已熟悉 ISO 27001，可縮短第 6、7 章，把時間留給第 9～13 章附錄 A 控制措施與第 15 章稽核實務。線上教材與互動影音內容比簡報更完整，請學員課後補充。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0｜課程導覽：認識講師、學習地圖與使用方式】
學習目標：
1. 認識講師 Allan 與助教阿拉蕾，了解本課程的定位與適合對象
2. 掌握課程三大面向：標準解說、PIMS 管理作法、稽核實務
3. 了解各章節的安排與建議學習順序
4. 會使用線上文字教材、互動影音與課後測驗，並知道取得證書的條件
本章重點：
・ISO/IEC 27701:2025 已成為可獨立驗證的 PIMS 管理系統標準
・本課程每章以標準解說、PIMS 管理作法、稽核實務三大面向呈現
・建議依序學習：基礎觀念、改版架構，再逐條進入第 4～10 章與附錄 A
・課後測驗 10 題、80 分及格，及格可下載結業證書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開場先做破冰：請學員舉手，今天到教室前已經交出過幾次個資？捷運卡、外送 App、門禁打卡、停車場車牌辨識都算。接著點出 27701:2025 最大的改變——從 27001 的延伸變成可獨立驗證的管理系統，所以沒有 ISMS 的組織也可以直接導入 PIMS。介紹自己的背景時，強調同時具備顧問與稽核員兩種角色，因此課程會一直切換「怎麼做」與「怎麼查」兩種視角。最後請學員簡單自我介紹：所屬產業、在公司的角色（個資窗口、資安、法務、稽核）、目前是否已有 27001 或 27701:2019 證書，方便後續舉例時貼近學員情境。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說明每章固定三段式結構：標準解說讓大家知道條文要求與關鍵字；管理作法提供程序、表單欄位、紀錄與步驟；稽核實務列出稽核員提問、證據與不符合事項範例。章節安排上，第 1 章是觀念打底（PII、角色、29100 原則、法規），第 2 章是改版與架構，特別提醒持有 2019 版證書的學員要注意轉版。第 3 章起依標準第 4 到 10 章逐條講解，再進入附錄 A 控制措施專題。可以問學員：你的公司比較像 PII 控制者還是處理者？先埋下第 1 章角色判定的伏筆。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示範線上平台操作：文字教材有目錄與章末自我檢核；互動影音播放中會出現小問題，答對答錯都會看到解說。說明課後測驗規則：共 10 題、80 分及格，也就是最多錯 2 題，及格後可下載結業證書；未及格可複習後再測。提醒學員：本課程條文以精要改寫呈現，正式依據以標準原文為準；法規細節以主管機關最新公告為準。最後交代學習小功課：準備一份自家公司的個資處理清單草稿，第 1 章與第 3 章做角色判定與範圍界定時會用到。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1｜隱私與個資保護基礎觀念】
學習目標：
1. 能說明 PII 的定義，並辨識一般 PII 與敏感／特種 PII
2. 能依「誰決定處理目的與方式」判定 PII 控制者、共同控制者、處理者、分包處理者與第三方
3. 能說出 ISO/IEC 29100 的 11 項隱私原則，並舉出企業實務例子
4. 能掌握 GDPR 與台灣個人資料保護法的核心要求
5. 能說明組織為什麼需要建立 PIMS
本章重點：
・PII 是能直接或間接識別自然人的資訊；假名化資料通常仍屬 PII，敏感／特種個資需更嚴格保護
・角色判定看「誰決定處理的目的與方式」，並以每一項處理活動為單位；兼具兩種角色須分別判定
・ISO/IEC 29100 的 11 項隱私原則是 27701 控制措施的基礎，附錄 C 提供對應
・GDPR 與台灣個資法是主要外部議題；修法、罰則等細節以主管機關最新公告為準
・PIMS 關注 PII 當事人權益，彌補 ISMS 只保護資訊資產的觀點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先請學員寫下三種公司會處理、但平常不覺得是個資的資料，通常會出現 IP 位址、車牌、監視器影像、客服錄音。說明 29100 的 PII 定義重點是自然人與可直接或間接識別。接著說明假名化與匿名化的差異：保留對照表的假名化資料仍是 PII。最後比較 29100 敏感 PII、GDPR 第 9 條特殊類別、台灣個資法第 6 條特種個資，強調範圍依適用法規界定，並提醒盤點表加上特種個資欄位，影響後續 PIA、權限、加密、保存期限設計。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用「點菜的客人、廚房、外送平台」比喻控制者、處理者、分包處理者。說明必要方式（蒐集哪些欄位、保存多久、給誰）通常由控制者決定，處理者可在受託範圍內決定技術細節而不會變成控制者。帶入 4.1 備考 2：角色依每次處理活動而定。進行小組練習：發下情境卡（電商、物流、人資外包、客服中心、醫院與大學合作研究、SaaS 與公有雲），請各組判定角色並說明理由，再公布參考答案。提醒受託方若自行把資料用於自己的目的，在該用途上就變成控制者，且可能違約。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逐項用一句白話加一個台灣企業例子說明，例如報名表不再要求身分證字號（蒐集限制）、客服畫面遮蔽中間碼（最小化）、保存期限表（保存限制）、DSAR 流程（個人參與）。提醒附錄 C 的表 C.1、C.2 把附錄 A 控制措施對應到這 11 項原則。強調同意不是唯一的合法基礎，A.1.2.3 先識別合法基礎，A.1.2.4 才決定何時、如何取得同意。可問學員：貴公司哪一項原則最難落實？通常答案是保存限制與個人參與。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GDPR 適用的兩種情境：在歐盟設有據點，或對歐盟境內當事人提供商品服務、監控其行為。介紹第 5 條原則、第 6 條合法基礎、第 28 條處理者契約、第 33 條 72 小時通報、罰款上限。台灣個資法部分介紹第 2 條定義、第 3 條當事人權利、第 6 條特種個資、第 8、9 條告知、第 19、20 條蒐集處理利用、第 27 條安全維護，以及各目的事業主管機關的安全維護辦法。強調修法動態（如獨立監督機關、罰則與通報機制調整）請以最新公告為準，不要背舊數字。附錄 D 只是指示性對應，法遵責任仍在組織。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用客服中心案例開場：系統從未被入侵，但錄音保存八年、便利貼抄電話，這些都是隱私問題。比較 ISMS 與 PIMS：保護對象、風險觀點（6.1.2 d) 要評鑑對組織及 PII 當事人的後果）、典型議題與控制措施。說明 2025 版可獨立驗證，也可與 ISMS 整合。最後帶到稽核實務：稽核員第一個問題通常是你們處理哪些 PII、扮演什麼角色，請學員回去檢查自家的盤點表是否細到欄位、是否標記特種個資、是否以處理活動為單位判定角色。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2｜ISO/IEC 27701:2025 改版重點與標準架構】
學習目標：
1. 能說明 27701 從 2019 版「27001 延伸」到 2025 版「獨立管理系統」的變化與意義
2. 能說出 HS 共通架構第 4～10 章的內容，以及 2025 版新增的關鍵要求
3. 能描述附錄 A 三張表、78 項控制措施的結構，以及附錄 B～F 的用途
4. 能運用附錄 F 對照 2019 與 2025 版控制措施，並規劃轉版差異分析步驟
5. 能掌握轉版稽核時稽核員關注的重點
本章重點：
・27701:2025 採 HS 共通架構，成為可獨立驗證的 PIMS 管理系統標準，也可與 ISMS 整合
・新要求包括氣候變遷判定、角色判定與雙角色分別判定、關注方含 PII 當事人、範圍納入 PII 處理、資訊安全方案、評估對當事人後果
・附錄 A 共 78 項：表 A.1 控制者 31 項、表 A.2 處理者 18 項、表 A.3 共通安全 29 項；附錄 B 指引編號一一對應
・附錄 F 對照 2019 版：第 7 章→A.1、第 8 章→A.2、第 6 章部分→A.3；N/A 項目由資訊安全方案涵蓋
・轉版以差異分析為核心，期限依認證機構與驗證機構公告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用比較表說明 2019 與 2025 的差異：定位、驗證前提、管理系統要求所在章節、安全控制措施處理方式、控制者與處理者控制措施所在位置。強調新標準名稱加入 cybersecurity 字樣，以及第 0.2 節提到可與其他管理系統，特別是 27001 整合。可以問學員：貴公司目前有沒有 27001？若沒有，2025 版讓你可以直接導入 PIMS；若有，可以思考如何整合文件、內稽與管理審查，避免兩套系統重複作業。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快速走過第 4 到 10 章的條款名稱，請學員發現與 9001、27001 的一致性。接著聚焦 2025 版新增或強化的要求：4.1 氣候變遷判定（結論可為不相關但需有判定紀錄）、角色判定與雙角色分別判定、4.2 關注方含 PII 當事人與客戶三種意義、4.3 範圍納入 PII 處理、6.1.2 d) 評鑑對組織及 PII 當事人的後果。可舉機房在易淹水區的例子討論氣候變遷是否相關，讓學員練習寫出判定理由。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3.24 定義，並逐一唸出 6.1.3 c) 列出的領域：風險管理、政策、組織、人資、資產、存取控制、運作、網路、開發、供應商、事故、持續、審查、密碼、實體與環境。解釋設計邏輯：表 A.3 只保留與 PII 特別相關的 29 項安全控制，其餘一般安全要求交給資訊安全方案。有 27001 的組織可直接指定 ISMS，但要確認範圍涵蓋 PIMS 範圍；沒有 27001 的組織要用文件證明各領域已被管理。用附錄 F 中 N/A 的例子（惡意軟體防護、職務區隔）說明不是不用做。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說明附錄 A 為規定性附錄，排除須在 SoA 說明理由，也可增加額外控制。展示表 A.1 與 A.2 四個對稱的控制目標：蒐集及處理條件、對 PII 當事人之義務、隱私設計及預設、PII 分享移轉及揭露。舉例 A.1.2.7 與 A.2.2.2 的對應。說明附錄 B 與 A 編號一一對應，6.1.3 h) 要求考量附錄 B 指引。附錄 C、D、E 皆為指示性對應，D 對應 GDPR 第 5 至 49 條（第 43 條除外），標準明言法律義務仍由組織評鑑。附錄 F 是轉版工具。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示範用表 F.2 進行對照：6.9.4.1 到 6.9.4.3 合併為 A.3.25，6.5.3.1 到 6.5.3.3 合併為 A.3.20。提醒對照時同時比對名稱，並以附錄 A 本文為準。發下差異分析表範本（2019 條號、2025 條號、差異、現況、落差、行動、負責人、期限），請學員以自家一項程序練習。最後說明轉版稽核三大常見問題：SoA 沿用舊編號、資訊安全方案範圍不足、風險評鑑未評估當事人後果，並示範一則不符合事項寫法。轉版期限不寫死，請學員向驗證機構確認。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3｜第4章 組織全景】
學習目標：
1. 能說明 4.1 的要求，包括內外部議題、氣候變遷判定與 PII 控制者／處理者角色判定
2. 能依 4.2 識別關注方（含 PII 當事人）及其要求，並區分「客戶」的三種意義
3. 能依 4.3 撰寫納入 PII 處理的 PIMS 範圍聲明
4. 能建立內外部議題分析表、關注方需求登錄表與 PII 處理活動盤點及角色判定表
5. 能掌握稽核員對第 4 章的提問、證據與常見不符合事項
本章重點：
・4.1 除內外部議題外，還要判定氣候變遷是否相關，以及組織是 PII 控制者（含共同控制者）或處理者
・兼具雙角色時須分別判定，各自適用表 A.1 或表 A.2 的控制措施
・4.2 關注方必須包括 PII 當事人；「客戶」依角色有三種意義，B2C 的個人稱為 PII 當事人
・4.3 範圍須考量 4.1 與 4.2，必須納入 PII 處理，並以文件化資訊維持
・四張工具表彼此一致：議題分析、關注方需求、處理活動盤點與角色判定、範圍聲明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先說明第 4 章是 PIMS 的地基，後續風險評鑑、控制措施都由此展開。講解 4.1 的四項判定，備考 1 列出的議題類型（法律、法規、司法判決、組織全景與治理、行政決策、契約）。氣候變遷部分用機房淹水、颱風停班影響權利請求回應的例子，強調可判定為不相關但需記錄理由。角色判定部分用 HR 外包公司案例：薪資代辦是處理者、自家員工是控制者，SoA 須同時列示表 A.1 與 A.2。可問學員：貴公司有沒有哪一項業務其實是幫別人處理個資？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4.2 三個判定：誰是關注方、要求是什麼、哪些透過 PIMS 因應。強調 2025 版明文要求納入 PII 當事人。逐一解說客戶三種意義：a) 與控制者有契約的組織（含共同控制者）、b) 與處理者有契約的控制者、c) 與分包商有契約的處理者，並舉聯名卡銀行、委託客服的銀行、把資料放公有雲的 SaaS 業者為例。提醒備考 3：B2C 的個人稱為 PII 當事人，讀表 A.2 時「客戶協議」指的是處理者與控制者間的契約。請學員各自列出三個關注方及其主要期望。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說明範圍是證書上會印出的文字，也是稽核邊界。好的範圍聲明回答五個問題：地點、單位、處理活動、角色、系統與介面。展示電商與客服中心兩個範例，並比較不良範例「資訊部系統維運服務」為何不符合 4.3 要求納入 PII 處理。提醒不要為了好過稽核而刻意縮小範圍、排除高風險處理活動。4.4 可用過程地圖呈現管理過程、核心過程（PII 生命週期、權利請求、委外管理）、支援過程與其輸入輸出。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逐一展示範本欄位。議題分析表：構面、議題、內外、影響、因應與連結，示範電商的 AI 客服與氣候變遷兩列。關注方登錄表：關注方、與 PII 處理關係、需要期望、來源、是否納入、對應作法、負責單位、檢視日期。盤點與角色判定表：處理活動、PII 類別與特種標記、當事人、目的、決定目的方式者、角色、適用表、範圍內。強調每一列都要能連到後續動作：風險評鑑、控制措施、SoA。可安排 15 分鐘小組練習，以學員公司的一個流程填寫盤點表。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說明稽核員第一天通常訪談最高管理階層與 PIMS 負責人了解第 4 章。列出提問與證據清單，強調交叉驗證：範圍內部門現場訪談對照盤點表、角色判定對照合約、SoA 是否分列 A.1 與 A.2。示範不符合事項三段式寫法：事實陳述、不符合條文、證據（含文件名稱與版次）。帶學員讀四則範例：角色未分別判定、未判定氣候變遷、關注方漏列當事人、範圍未納入 PII 處理。最後提醒受稽方準備：四份文件一致性檢查，並找第一線主管預演說明部門處理的個資。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4｜第5章 領導作為：最高管理階層的承諾與隱私政策】
學習目標：
1. 說明 5.1 最高管理階層展現領導及承諾的 a)–h) 八項行動與可呈現之證據
2. 列出 5.2 隱私政策的四項內容與三項提供／傳達要求
3. 區分內部隱私政策與對外隱私聲明（privacy notice）的差異
4. 依 5.3 規劃隱私組織、DPO／隱私長／管理代表分工與 RACI 表
5. 掌握稽核員訪談最高管理階層的重點與常見不符合事項寫法
本章重點：
・5.1 的關鍵字是「展現」，要有預算、會議、公告、決策等可見證據
・隱私政策必須有四項內容：適合目的、目標框架、遵循承諾、持續改善承諾
・內部隱私政策與官網隱私聲明是不同文件，對應不同條文
・5.3 必須指派「確保 PIMS 符合本標準」及「向最高管理階層報告績效」兩項責任
・稽核時老闆能說出具體決策案例，是第 5 章最有力的證據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開場先問學員：貴公司的隱私工作是誰在推？多數人會回答法務或資訊室。藉此帶出第 5 章重點：最高管理階層要展現領導，而不是只簽名。說明最高管理階層的定義，若 PIMS 範圍只涵蓋某事業群，可為該事業群最高主管，但須有調度資源的權限。提醒 2025 版已是可獨立驗證的管理系統標準，第 5 章會是第二階段稽核的必排項目。可以順帶說明本章三個條款與後續章節的關聯：5.2 政策是 6.2 目標的框架，5.3 指派的報告責任則連到 9.3 管理審查，讓學員先建立整體地圖。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逐項說明並請學員舉出可呈現的證據。強調展現兩字：承諾書只能部分佐證 d)，其他需要會議紀錄、預算、公告、決策紀錄。舉例：某電商總經理因 PIA 結果延後會員分析專案，即同時證明 a、b、f。可問學員：貴公司老闆最近一次談隱私是何時？若答不出來，就是 d) 的弱點。也可以請學員分組，每組挑兩項，列出公司裡現成可用的證據與還缺的證據，五分鐘後分享。最後補充 h)：各部門主管被指派為資料擁有者或部門隱私窗口，就是最高管理階層支持其他角色展現領導的具體作法。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說明適用要求事項不只個資法，還包含主管機關個資安全維護相關規範、契約、客戶要求、GDPR（如適用）。展示政策範本九大章節。強調官網隱私權聲明不等於 5.2 政策，請學員回去檢查自己公司提供給稽核員的是哪一份。不確定的法規條號與罰則不要寫死，以最新公告為準。可以請學員現場拿出自己公司的政策，對照四項內容逐一打勾，通常最容易缺的是目標框架與持續改善承諾。再問學員：政策多久審查一次？最近一次是誰核准？藉此帶到第 7 章文件化資訊的管制。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用比較表講解。說明對外隱私聲明可能有多份：官網、App、求職者、員工、CCTV 告示，屬 A.1.3.3、A.1.3.4 管理範疇。舉電商案例：管理代表拿官網聲明給稽核員，被指出缺少目標框架與持續改善承諾、無最高管理階層核准。讓學員討論自己公司有幾份對外聲明。補充提醒：兩份文件的更新觸發條件也不同，內部政策隨策略、法規、組織重大變更而審查；對外聲明則在新增處理目的、新增第三方、法規變更時就要更新，並同步檢視是否需要重新取得同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展示隱私小組組織圖與 RACI 表範例。說明標準未規定職稱，但兩項責任一定要指派。DPO 若為 GDPR 法定角色，注意利益衝突。RACI 每列只能一個 A。可做小練習：請學員為「個資事故通報」填 RACI。最後提醒傳達方式：PIMS 手冊、內網、職務說明書、教育訓練。也要提醒組織圖中內部稽核小組的位置，應確保其獨立於受稽單位，避免自己稽核自己。若學員公司規模小，可說明一人可兼多角色，但要避開明顯的利益衝突，並在文件中寫清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模擬稽核員訪談最高管理階層的問題清單。分享現場經驗：老闆能講出兩三件具體決策，是最有力的證據；只說交給隱私長處理，證據就薄弱。展示不符合事項寫法：要求、證據、落差三要素。說明第 5 章不符合常由其他條文追溯而來，例如風險處理延宕追到資源未核。最後提醒輔導時的準備方式：訪談前給老闆十五分鐘簡報，涵蓋今年目標、達成率、重大事故與管審決議，不要給講稿。若老闆臨時無法受訪，應事先與驗證機構協調授權代表與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5｜第6章 規劃：隱私風險評鑑與處理】
學習目標：
1. 區分 6.1.1 管理系統層級的風險及機會與 6.1.2 隱私風險
2. 依 6.1.2 建立隱私風險準則，並評鑑對組織及 PII 當事人的雙重後果
3. 依 6.1.3 a)–h) 完成處理選項、資訊安全方案、附錄 A 比對、SoA、處理計畫與風險擁有者核准
4. 以既有 ISO/IEC 27001 ISMS 對照證明資訊安全方案
5. 訂定符合 6.2 的可量測隱私目標，並掌握稽核員追蹤法與常見不符合
本章重點：
・6.1.2 隱私風險評鑑必須評鑑對組織及 PII 當事人的雙重後果，並識別風險擁有者
・風險準則（接受準則＋評鑑準則）是確保結果一致、有效、可比較的基礎
・6.1.3 c) 要求識別並文件化資訊安全方案，涵蓋條文列出的最低面向
・附錄 A 是比對用檢查清單；SoA 須含必要控制、納入理由、實作狀態、排除理由四要素
・風險擁有者須核准處理計畫並接受剩餘風險
・隱私目標要可量測、被監視、被傳達，並規劃做什麼、資源、誰、何時、如何評估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開場強調本章是 PIMS 的心臟，所有控制措施、SoA、處理計畫都從這裡產生，也是驗證稽核花最多時間的地方。說明 2025 版與 2019 版差異：2019 版第 5 章是延伸 ISO/IEC 27001 的條文，2025 版改為獨立完整的隱私風險評鑑與處理，並新增 6.1.3 c) 資訊安全方案，使沒有 ISO/IEC 27001 的組織也能單獨申請驗證。可先問學員：貴公司目前的風險評鑑，有沒有一欄是對 PII 當事人的衝擊？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逐步講解五步驟，並強調三個稽核重點：第一，準則要具體到可以對號入座，才能達到 b) 的一致可比較；第二，隱私風險包含隱私原則面與資訊安全面，不只是外洩；第三，d) 1) 要評對組織及 PII 當事人雙重後果，這是 PIMS 與 ISMS 最大差異。用食安比喻說明為何要看當事人後果。提及 ISO/IEC 27557 可作為方法論參考，ISO/IEC 29134 留待第 8 章 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對當事人衝擊準則表，舉例說明每一級：收到非預期行銷信是輕微，被詐騙騷擾是中等，身分盜用是嚴重，健康資訊外洩導致長期歧視是極嚴重。說明為何取兩者較高者作為衝擊分數。展示四乘四矩陣與接受準則、核准層級。小練習：請學員為醫院離職護理人員帳號未停用的情境評分，再比較各組結果，藉此體會 b) 一致性與校準會議的重要。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說明處理流水線。強調附錄 A 是比對用的檢查清單：控制者看 A.1 加 A.3，處理者看 A.2 加 A.3，雙重角色三張表都要看，合計 78 項。說明資訊安全方案條文列出十五個領域／項目，表格雖合併呈現，撰寫時十五項每項都要找得到對應說明。g) 是雙重核准：核准計畫與接受剩餘風險。h) 提醒附錄 B 與附錄 A 編號一一對應。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 SoA 範例格式，逐欄說明。特別示範好的排除理由寫法，例如引用 4.1 角色判定紀錄說明不適用 A.2。提醒附錄 A 非窮舉，可自訂控制措施，例如 AI 訓練資料去識別化審查。可請學員檢查自家 SoA 中標示 N/A 的項目，有多少寫了理由。補充：驗證證書通常會引用 SoA 版本，SoA 改版要走文件管制。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說明已有 ISO/IEC 27001 驗證的組織可以 ISMS 作為資訊安全方案主體，但證書只是起點。展示對照表，示範如何發現客服中心未納入 ISMS 範圍的缺口。分享稽核現場經驗：組織拿證書說已經有了，稽核員追問範圍與 PII 風險就答不出來。對於沒有 ISO/IEC 27001 的組織，建議依 ISO/IEC 27002 架構撰寫資訊安全方案文件。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展示隱私目標 KPI 範例表，說明如何從政策原則展開目標並分配到部門層級。提醒可量測若可行，不可量測要說得出理由。也提醒 6.3：範圍擴大、組織改組、角色由處理者轉為控制者等 PIMS 變更，要以規劃方式執行，並連動重新風險評鑑與 SoA 更新。接著說明稽核員追蹤法，並展示常見不符合事項寫法。最後給學員稽核前自我檢查三步驟：抽三筆處理紀錄確認在風險清冊、抽三項已實作確認現場有、抽三項排除確認理由說得通。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6｜第7章 支援：資源、能力、認知、溝通與文件化資訊】
學習目標：
1. 說明 7.1 資源與 5.1 c) 的關係，並依處理計畫判定資源
2. 建立 PIMS 職能矩陣，完成 7.2 能力判定、行動與有效性評估
3. 區分 7.2 能力與 7.3 認知，規劃全員認知與年度訓練計畫
4. 依 7.4 what／when／whom／how 製作溝通計畫表
5. 彙整標準要求的文件化資訊清單，並依 7.5 管制含 PII 的紀錄
本章重點：
・7.2 能力要判定、確保、行動並評估有效性，且保存證據；簽到表不足以證明有效性
・7.3 認知對象是所有在組織控制下工作的人，含派遣與實習生
・7.4 溝通計畫要涵蓋 PII 當事人、主管機關、客戶與處理者
・7.5 文件化資訊要管制；PIMS 紀錄常含 PII，須特別保護並訂定屆期處置
・以標準要求的文件化資訊清單作為 PIMS 文件架構骨幹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開場說明第 7 章是 PIMS 的後勤，條文結構與其他 ISO 管理系統標準相同，但放到隱私領域有特色：客服要能判斷當事人合法請求、行銷要知道何時需重新取得同意、紀錄本身常含大量 PII。提醒附錄 A 中 A.3.17 認知訓練、A.3.14 紀錄保護與本章呼應，可用同一套制度滿足，但證據要能分別對應。可問學員：貴公司的 PIMS 紀錄有訂保存期限嗎？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7.1 與 5.1 c) 的關係。7.2 重點在評估有效性與保存證據，展示職能矩陣範例，從隱私長、PIMS 執秘、內稽員、DSAR 承辦人、開發人員、行銷人員到全體員工。分享客服中心案例：到職第一天完成微課程才開通帳號，一年後誤揭露事件從六件降為一件，這就是有效性證據。請學員列出自己公司最關鍵的三個隱私角色。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用醫院比喻區分能力與認知：會開刀是能力，全院洗手是認知。展示溝通計畫表，提醒對 PII 當事人的告知屬附錄 A 控制措施，但也是 7.4 的一部分。特別強調外洩通報時限與方式要依最新法規及主管機關公告，不要寫死未經查證的時數。處理者角色要記得對客戶的事故通知與次處理者變更通知。可請學員分組，各自為自己公司列出三項最重要的對外溝通事項並填入溝通計畫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7.5 三個子條文，並展示標準明確要求的文件化資訊彙整表：4.3、5.2、6.1.2、6.1.3、SoA、6.2、7.2、8.1、8.2、8.3、9.1、9.2、9.3、10.2，以及附錄 A 中要求文件化或記錄者。提醒清單非窮舉，7.5.1 b) 要求組織自行判定其他必要文件，例如 PIA 報告與處理者契約。建議學員以 SoA 逐項確認。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說明稽核員查第 7 章的方式通常是分散在各流程中進行，因此準備也要分散到每個流程。展示不符合事項範例，包括未定義必要能力、未評估有效性、派遣人員未受訓、溝通計畫未涵蓋客戶通知、紀錄未受保護、外部文件為舊版。最後帶學員做三問演練：政策在哪、工作和個資的關係、發現外洩找誰。也提醒佐證資料要遮罩，避免稽核本身造成 PII 不當揭露。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7｜第8章 運作：運作控制、風險評鑑與處理、隱私衝擊評鑑】
學習目標：
1. 說明 8.1 過程準則、變更控制與外部提供之過程／產品／服務的管制要求
2. 區分 6.1.2／6.1.3 與 8.2／8.3 的分工，並定義重大變更判斷標準
3. 說明 A.1.2.6 PIA 與 8.2 的關係，並依 B.1.2.6 判斷 PIA 觸發條件
4. 運用 PIA 門檻評估表、執行步驟與範本完成 PIA
5. 規劃委外與雲端服務管控，並掌握第 8 章稽核抽樣方式與常見不符合
本章重點：
・8.1 的證據是各隱私過程的日常紀錄，程度要足以確信依規劃執行
・外部提供的過程、產品或服務必須受控；委外不代表責任外包
・8.2 依規劃期間與重大變更時執行評鑑，沿用 6.1.2 a) 準則
・8.3 要實作處理計畫並保存結果，SoA 狀態同步更新
・A.1.2.6 PIA 於新處理或變更處理時評估需要性；可參考 ISO/IEC 29134，結果匯入風險清冊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開場說明第 8 章條文短，但是稽核員抽樣最密集的章節。說明 6.1.2 與 8.2 的分工：6.1.2 定義並應用評鑑過程，8.2 依規劃期間與重大變更持續執行；6.1.3 制訂處理計畫，8.3 實作計畫並保存結果。預告本章會深入說明附錄 A 的 A.1.2.6 PIA，以及它與 8.2 的整合方式。可問學員：貴公司今年上線了哪些新系統？有沒有做過隱私評估？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逐點說明並展示運作過程準則一覽表，例如 DSAR、同意管理、保存刪除、事故處理、新專案上線、處理者管理、跨境傳輸、對第三方揭露。強調 8.1 的證據是日常紀錄。舉非預期變更案例：行銷部自行在表單新增身分證字號欄位。說明外部提供包含客服外包、雲端 CRM、薪資外包、文件銷毀等，委外不代表責任外包。可請學員列出自家前三大 PII 處理者，檢查契約與評估紀錄是否齊全。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列舉重大變更類型：新處理活動、目的變更、系統搬遷雲端、併購改組、法規變更、事故、角色改變。建議在程序中定義判斷標準。8.3 部分分享稽核現場常見情況：處理計畫逾期一年、SoA 仍寫實作中、無延期核准。提醒這也會牽動 5.1 c) 資源與 9.3 管理審查追蹤。可讓學員檢查自家處理計畫有幾項逾期，並討論延期核准應由誰簽、要附什麼理由與替代控制措施。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A.1.2.6 屬表 A.1 控制者控制措施，處理者則可能依契約協助客戶完成 PIA。介紹 B.1.2.6 提示的觸發情境，以及完成 PIA 所需要素：PII 類型清單、儲存與傳輸位置、資料流程圖與資料地圖，處理紀錄可作為輸入。說明 ISO/IEC 29134 為 PIA 指引。比較 8.2 與 PIA 的差異，並建議以 PIA 作為專案層級工具、結果匯入組織風險清冊。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展示門檻評估表與九個執行步驟，強調風險評估沿用 6.1.2 準則以確保可比較，不需完整 PIA 時也要保存門檻評估結論。展示 PIA 範本欄位。以健身房人臉辨識案例帶學員實際演練：識別生物特徵、自由同意、替代方式、跨境、刪除時程與處理者契約等議題，請學員分組提出處理措施並估算剩餘風險，最後由講師說明核准與上線前確認的做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委外生命週期與雲端評估項目，提醒只看證書不看範圍是常見誤區。稽核實務部分介紹專案清單對照法與處理計畫追蹤法，展示五則不符合事項範例：外包無契約、非預期變更未審查、雲端遷移未評鑑、處理計畫逾期、人臉辨識未做 PIA。最後給出稽核前四項自我檢查：新專案都有門檻評估、逾期項目有延期核准、處理者都有契約與評估、SoA 狀態與處理計畫一致。若組織同時為處理者，另提醒客戶指示與違法指示通知的紀錄。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8｜第9、10章 績效評估與改善：監督量測、內稽、管審與矯正措施】
學習目標：
1. 依 9.1 定義隱私 KPI 的量測對象、方法、時機與分析評估
2. 依 9.2 建立內部稽核方案，確保稽核客觀公正並涵蓋 SoA 控制措施
3. 依 9.3.2 準備管理審查輸入 a)–e)，並產出符合 9.3.3 的決議
4. 依 10.2 區分矯正與矯正措施，運用 5 Whys、魚骨圖並確認有效性
5. 了解驗證稽核員如何查核內稽與管審的有效性及常見不符合
本章重點：
・9.1 要判定量什麼、怎麼量、何時量、何時分析，並評估隱私績效與 PIMS 有效性
・內稽方案要依過程重要性與先前結果調整，稽核員不可稽核自己的工作
・管審輸入 a)–e) 中績效要看趨勢；結果須有改善決策與 PIMS 變更需要
・矯正是止血、矯正措施是根除原因；根因不要停在人員疏失，並確認有效性
・驗證稽核員看閉環：KPI 趨勢、內稽發現、管審決策、矯正措施有效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開場說明第 9、10 章構成 PDCA 的 C 與 A，是驗證稽核員判斷 PIMS 是活的還是死的關鍵。一套有運作的 PIMS 會看到：KPI 有趨勢、內稽有發現、管審有決策、矯正措施有關閉並驗證有效。可問學員：貴公司上一次管理審查做了哪些決議？有沒有在下次管審追蹤？藉此引出閉環的概念。也提醒不符合事項的來源不只稽核，還包括事故、客訴、KPI 未達標與主管機關檢查。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展示量測指標定義表，逐一說明 DSAR 回應時效、個資事故數、訓練完成率、PIA 完成率、供應商稽核完成率、逾期清除率、矯正措施如期關閉率、同意撤回生效時效。強調 9.1 最後一句：要評估隱私績效與 PIMS 有效性，不能只量活動量。說明領先與落後指標的搭配。可讓學員為自家挑選三個最重要的指標並定義公式。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9.2.1 與 9.2.2 要求，展示年度稽核方案範例，說明高風險過程如 DSAR、事故、處理者管理頻率較高。強調客觀公正：PIMS 執秘不宜稽核自己撰寫的程序，小型組織可交叉稽核或委託外部顧問。提醒內稽涵蓋範圍要包含 SoA 中適用的附錄 A 控制措施。展示內稽報告欄位，並說明稽核結論要回答兩件事：是否符合、是否有效實作及維持。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逐項說明 9.3.2 輸入，強調 d) 績效要看趨勢。建議補充輸入風險處理計畫狀態、目標達成、資源充足性與重大事故，但說明這些不是 2025 版條文逐字列出的項目。展示管審紀錄範本與決議寫法範例。提醒常見問題：管審只有報告沒有決議。可請學員檢查自家上一次管審紀錄有幾項具體決議，是否寫明負責人與期限，以及管審是否由最高管理階層主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以誤寄帳單為例說明 10.2 a) 到 e) 七個步驟。展示 DSAR 逾期的 5 Whys 範例與電子郵件誤寄的魚骨圖。強調根因寫人員疏失、措施寫加強宣導是稽核員最常追問的情況。說明有效性確認要事先定義指標、觀察期間與確認人。展示矯正措施單欄位，並提醒不符合來源包含事故、客訴、KPI 未達標，全部應納入同一套矯正措施流程追蹤。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驗證稽核員查核內稽與管審有效性的對照表，說明有效與無效的跡象。分享閉環追蹤手法：從不符合事項追到矯正措施單，再追到下次管審。展示七則常見不符合事項寫法。最後提醒準備重點：驗證稽核前一個月做閉環檢查，內稽報告全部符合反而會讓稽核員懷疑內稽深度。可以讓學員以自家最近一件不符合事項演練閉環追蹤，看看哪一段會斷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9｜附錄A A.1.2 蒐集及處理的條件】
學習目標：
1. 學完能說明 A.1.2 八項控制措施的要求與彼此連動關係
2. 學完能為處理活動撰寫具體目的並對應 GDPR 合法基礎與台灣個資法要件
3. 學完能設計同意管理程序與同意紀錄欄位，並判斷何時需做 PIA
4. 學完能建立處理者契約、共同控制者協議與 RoPA
5. 學完能準備 A.1.2 稽核證據並撰寫不符合事項
本章重點：
・A.1.2 的核心是「能證明」處理合法且目的明確正當
・合法基礎要在處理前判定並文件化，特殊類別與特種個資需加強控制
・同意要有文件化程序，紀錄至少含時間、當事人識別與同意聲明
・新處理或變更先做 PIA 門檻評估，必要時實施完整 PIA
・所有處理者要有書面契約並涵蓋表 A.2，共同控制者要有協議
・RoPA 是總帳本，需有 Owner、定期更新並安全維護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開場先請學員回想：自己公司的隱私權聲明目的怎麼寫？多半是「為提供服務」。藉此帶出 A.1.2 的核心是「能證明」。說明八項控制措施的連動關係：目的決定合法基礎，合法基礎若是同意就要啟動同意程序，高風險要 PIA，委外要契約，一起決定的要共同控制者協議，最後全部匯整到 RoPA。可在白板畫出這條鏈，讓學員理解為何 RoPA 是總帳本。提醒這是控制者的控制措施，若組織同時是處理者，要另外看表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用表格比較好壞目的寫法，請學員現場改寫一句空泛目的。接著介紹 GDPR 第 6 條六種基礎，強調「全部用同意」的誤區：同意可撤回，撤回後契約服務無法履行。台灣部分說明個資法採特定目的與法定要件架構，蒐集處理與利用分開規範，特種個資原則禁止、例外允許，細節以最新條文為準。可問學員：員工資料用同意合適嗎？引導出雇傭關係中同意難以自由給予的觀念。合法利益要附 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示範一個好的同意畫面與壞的同意畫面：預設勾選、綑綁結帳、文字藏在深層連結。說明 A.1.2.4 是程序、A.1.2.5 是執行與紀錄。展示 Consent Log 欄位範例，強調聲明版本的重要：當事人當時看到哪一版。可分享稽核現場經驗：後端只有 Y/N 欄位，無法證明。提醒撤回機制要與取得管道一致，連到下一章 A.1.3.5。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PIA 部分強調兩段式：評估是否需要、適當時實施。舉附錄 B 三個典型觸發情境，並介紹 ISO/IEC 29134。分享案例：小改版沒評估。處理者契約說明預設表 A.2 全部相關，排除需理由，展示條款對照表。最常漏的是免費工具與小額採購。共同控制者以聯名卡為例，說明協議應包含的項目，尤其外洩時誰通報、當事人聯絡窗口。請學員列出自己公司可能的共同控制情境。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 RoPA 範例欄位，說明附錄 B 建議欄位加上實務欄位。強調 Owner 與安全維護。稽核部分說明反向追蹤手法：從現場系統、表單、廠商回查 RoPA。時序檢查：PIA 是否早於上線。朗讀兩則不符合事項範例，讓學員練習辨認三要素。最後給學員回家作業：挑一個業務流程填寫完整 RoPA 一列，下次上課互相交換檢查。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10｜附錄A A.1.3 對 PII 當事人的義務】
學習目標：
1. 學完能說明 A.1.3 十項控制措施的要求與附錄 B 指引重點
2. 學完能依 B.1.3.3 檢核並改寫隱私權聲明，設計分層告知
3. 學完能建立撤回同意、拒絕行銷與通知第三方的機制與紀錄
4. 學完能設計 DSAR 處理流程、身分驗證方式與登錄表欄位
5. 學完能識別自動化決策並準備 A.1.3 稽核證據
本章重點：
・A.1.3.2 先判定並文件化對當事人的法律、法規與營運義務，窗口方式要與蒐集方式一致
・告知內容依 B.1.3.3 判定，以清晰易懂、蒐集當下提供、永久可存取的方式呈現
・撤回與拒絕機制要與取得管道一致，並記錄、分送內部系統與第三方
・DSAR 程序要涵蓋受理、身分驗證、時限、例外、回覆與紀錄
・更正、刪除、撤回要通知已分享的第三方並監督接收確認
・完全自動化且有重大影響的決策要提供告知、反對或人工介入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開場請學員分享：自己有沒有試過向某公司要求刪除資料？結果如何？藉此帶出當事人體驗。說明 A.1.3 分三塊：告知、權利行使、自動化決策，3.2 為總綱。強調 B.1.3.2 的窗口一致原則：線上蒐集要線上行使，不能要求寄掛號。介紹義務登錄表欄位，提醒營運義務也算：官網承諾就是你要證明的事。可對照台灣個資法第 3 條五項權利，說明不得預先拋棄。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展示隱私權聲明必備項目檢核表，請學員拿自己公司聲明現場勾選，通常會發現缺保存期限、跨境傳輸與申訴管道。說明 B.1.3.4 指引宜清晰、淺白、依受眾調整、永久可存取，並建議分層告知。舉醫院 App 圖卡案例。提醒台灣個資法第 8、9 條告知事項，間接蒐集需告知來源。最後強調聲明要與 RoPA 一致，稽核員會逐項對照。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以電子報退訂為例，說明撤回同意與拒絕行銷的差異與共通作法。強調拒絕名單必須在所有行銷管道發送前比對，包含委外平台，這是稽核現場常見缺失。說明 B.1.3.5 撤回前處理仍屬適當，但結果不得用於新處理，例如會員輪廓要停用。A.1.3.8 部分展示第三方通知紀錄欄位，強調要收集接收確認。可問學員：你們知道會員資料分享給哪幾家嗎？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逐步講解 DSAR 九步流程，搭配 RACI 表說明分工。時限部分說明台灣個資法查閱與複本 15 日、更正刪除停止 30 日，可延長並書面通知；GDPR 原則一個月可延長兩個月，細節以最新條文為準。身分驗證強調比例原則，不要要求上傳證件影本。複本要結構化、只含本人資料。展示 DSAR 登錄表欄位，說明可作為 9.1 監督量測與管理審查輸入。建議每年神秘客演練。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請學員腦力激盪公司內可能的自動化決策：自動核卡、自動停權、詐欺凍結、AI 履歷篩選。說明 B.1.3.11 義務與部分法域禁止完全自動化，並展示清冊欄位。稽核部分說明抽查 DSAR 的方法，朗讀不符合事項範例，請學員指出依據、事實、證據三要素。最後提醒即使沒有自動化決策，也要留下盤點結論與日期，稽核員才知道你有評估過。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11｜附錄A A.1.4 隱私設計與預設、A.1.5 分享移轉與揭露】
學習目標：
1. 學完能說明 A.1.4 九項與 A.1.5 四項控制措施的要求及附錄 B 指引重點
2. 學完能落實隱私預設與欄位必要性審查，並文件化最小化目標
3. 學完能比較假名化、匿名化、遮罩、泛化等去識別化技術的差異
4. 學完能建立保存期限表、暫存檔與處置程序
5. 學完能完成跨境傳輸評估並建立傳輸與揭露紀錄
本章重點：
・A.1.4 以「目的所必要」為核心，選項預設停用、揭露保存存取預設最小
・最小化目標與去識別化機制要文件化；假名化仍是可識別資料
・保存期限表要考量法令與營運需求，衝突時以風險評鑑決策並記錄
・暫存檔、處置與傳輸都要有程序、期限、證明與日誌
・跨境移轉要有基礎與國家清單，含次處理者所在國家
・傳輸紀錄與揭露紀錄要記錄對象、時間、內容與授權來源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開場請學員畫出一筆會員資料從蒐集到刪除的旅程，在每個階段標出對應控制措施。說明 A.1.4 控制目標涵蓋利用、揭露、保存、傳輸與處置；A.1.5 關注是否及何時分享、跨境與揭露。對照 GDPR 第 5 條原則與第 25 條設計及預設資料保護，以及台灣個資法比例原則、第 11 條刪除義務、第 21 條國際傳輸。強調隱私設計是管理決策，不只是工程師的事。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以健身房會員表單案例，帶學員實際刪減欄位。說明 B.1.4.2 隱私預設：任何選項預設停用。B.1.4.3 指出揭露、儲存期限、存取者三者預設最小。介紹隱私設計檢核表嵌入 SDLC。正確性部分舉寄錯帳單、錯誤信用紀錄案例，說明輸入驗證、雙重確認、自助更新與錯誤回應程序。可問學員：你們的日誌有沒有記錄完整身分證號？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展示去識別化技術比較表，逐一說明假名化、匿名化、遮罩、泛化、隨機化、刪除屬性、彙總的差異與限制。強調最常見誤區：把雜湊後的身分證號稱為匿名化。說明 A.1.4.5 要文件化最小化目標與機制，A.1.4.6 目的結束時要刪除或不可識別化。可提及健保資料庫憲法判決凸顯去識別化與目的外利用議題。請學員為公司一項分析活動寫出最小化目標。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說明暫存檔常見位置：下載資料夾、共用槽、ETL 中介檔、事務機硬碟。展示保存期限表範例，提醒法定期限以最新法規為準，組織自訂期限要說明理由並告知當事人。以行銷部想保留五年的案例說明衝突決策。處置部分比較紙本、HDD、SSD、雲端、備份的處置方式，介紹 NIST SP 800-88 三等級。提醒軟刪除不等於刪除，備份延遲要在期限表註明。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傳輸部分以寄錯薪資單、寄錯名單為例，說明 DLP、延遲送出、加密與密碼分管道。跨境部分強調遠端存取與境外 SaaS 也是傳輸，說明 GDPR 第 45 至 49 條基礎與台灣個資法第 21 條主管機關限制，提醒注意最新限制命令。展示跨境傳輸評估表各欄位，請學員列出公司使用的 SaaS 與資料中心所在地，通常會發現國家清單漏列。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A.1.5.4 與 A.1.5.5 紀錄欄位，以銀行回覆檢調調閱為例，強調授權來源（公文字號）與揭露來源。若法律禁止通知當事人則依法不通知，但內部紀錄照常保存。稽核部分說明常見手法：現場查詢過期資料、搜尋共用槽、比對國家清單。朗讀四則不符合事項範例，請學員辨識依據、事實與證據。最後提醒自主準備五件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12｜附錄 A 表 A.2：PII 處理者控制措施】
學習目標：
1. 說明 PII 處理者適用表 A.2 的 18 項控制措施及其控制目標
2. 能依附錄 B.2 指引，把控制措施轉換成 DPA 條款、程序與紀錄
3. 能建立分包商管理流程與政府／執法機關調閱請求處理流程
4. 能說出稽核員會查的證據，並寫出處理者常見不符合事項
本章重點：
・處理者依客戶書面指令處理 PII，適用表 A.2 共 18 項，角色需依服務分別判定
・A.2.2 以合約與指令為核心：DPA、目的限制、禁止行銷、違法指令通知、處理紀錄
・A.2.4.3 解約處置要涵蓋備份、營運持續資料與所有分包商，並定義終止後保存期
・A.2.5 要求跨境依據與國家清單、揭露紀錄、調閱請求通知與法律約束力把關
・分包商使用前揭露、依約授權、變更前通知；分包契約預設要求全部 A.2 控制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開場先請學員舉手：公司有沒有幫客戶處理個資的服務？讓學員說出 SaaS、薪資外包、客服、IT 維運等。接著強調角色判定看的是誰決定目的與方式，不看誰付錢。同一家公司可能同時是控制者與處理者，SoA 要分開寫。最後秀出四個控制目標群組的表，告訴學員這章的邏輯是：合約與指令、當事人權利協助、設計與處置、分享移轉揭露。可以提一下附錄 E 對應 ISO/IEC 27018，已經做 27018 的雲端業者可以拿來做差異分析。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逐項講解時搭配 B.2.2.2 的六個契約面向：隱私設計預設、處理安全、通知主管機關、通知客戶與當事人、PIA、事先諮詢協助。舉例：工程師拿客戶資料訓練模型、行銷部從客戶專案匯出名單，都是 A.2.2.3、A.2.2.4 的典型違反。A.2.2.5 要問學員：第一線發現客戶指令怪怪的時，知道要找誰嗎？A.2.2.7 可以展示處理者處理紀錄欄位表，提醒和 GDPR 第 30 條第 2 項的概念類似。稽核員會拿處理紀錄和合約、分包商清單交叉比對。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A.2.3.2 用客服中心例子：民眾來電要刪資料，客服應轉交客戶，不可自行處理。A.2.4.2 可以現場請學員想想自己公司的 SFTP 交換區、報表下載夾裡有多少舊檔。A.2.4.3 重點是指引提到的三件事：涵蓋備份與營運持續資料、涵蓋所有分包商、政策要定義契約終止後保存期間。A.2.4.4 用薪資單誤寄案例，說明授權、加密、傳輸紀錄。問學員：你們解約客戶的處置證明有寫備份最終到期日嗎？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先破除迷思：主機在台灣不等於沒有跨境，日誌、備份、遠端支援都要檢查。提到 B.2.5.2 指引中的協議機制例子：標準契約條款、拘束性企業規則、跨境隱私規則。台灣個資法第 21 條賦予主管機關限制國際傳輸的權限，產業別規定依最新公告。調閱請求流程講五個關鍵字：單一窗口、法務判斷、最小揭露、通知客戶、完整紀錄。用客服中心接到警察電話的案例，請學員討論第一線該怎麼回應。提醒法律禁止通知的情況要記錄依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畫出向上與向下兩個方向：向上對客戶揭露、取得授權、變更通知；向下用分包契約傳遞義務並監督。強調 B.2.5.8 指引的預設立場是表 A.2 全部相關，排除要有理由。用 HR 薪資外包新增印刷寄送分包商的案例，走一遍：查客戶授權類型、寄通知、處理反對、簽約、更新清單。最後提醒：雲端基礎設施、簡訊、e-mail 服務、客服 SaaS 都是分包商，請學員回去請採購匯出所有付費訂閱比對清單。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稽核員的追蹤路徑：合約、處理紀錄、分包商、資料所在地、揭露登記簿、解約處置、暫存目錄。挑兩則不符合事項範例念給學員聽，示範要求、證據、事實三段式寫法，並說明為什麼第一線口頭揭露會被判為主要不符合：已經實際發生揭露，而且流程沒有被遵循。最後讓學員分組，各自用 DPA 條款檢核表檢查一份自家合約，找出最弱的三個條款。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13｜附錄 A 表 A.3：PII 控制者與處理者共通安全控制措施】
學習目標：
1. 說明表 A.3 共 29 項共通安全控制的要求，以及與 ISO/IEC 27001:2022 附錄 A 的對應關係
2. 理解 2019 版有、2025 版 A.3 未列入的控制改由 6.1.3 c) 資訊安全方案涵蓋的觀念
3. 能依 B.3 指引在既有 ISMS 控制上補足 PII 特定要求並寫入 SoA
4. 能建立個資外洩事故應變流程與通報紀錄，並區分控制者與處理者的通知義務
5. 能說出稽核員會查的證據並寫出 A.3 常見不符合事項
本章重點：
・表 A.3 共 29 項，控制者與處理者都適用，名稱多可對應 27001:2022 附錄 A，但限定 PII 處理並附 B.3 指引
・未列入 A.3 的安全控制由 6.1.3 c) 資訊安全方案涵蓋，資料遮罩、資訊刪除、DLP 仍建議明確納入
・A.3.12 個資外洩：先判定、再通知；控制者通知主管機關與當事人，處理者無不當延遲通知客戶，紀錄欄位要完整
・PII 特定要點：停用 ID 不補發、個別 ID、日誌記錄存取哪位當事人、PII 回復日誌、測試預設合成資料
・稽核以一個 PII 系統串起多項控制，把指引欄位做成表單是最有效的準備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開場先秀總覽對應表，讓學員看到 A.3 與 27001:2022 附錄 A 的對應，例如 A.3.3 對 5.1、A.3.12 對 5.26、A.3.25 對 8.15、A.3.31 對 8.33。強調這是指示性對應，不代表等效，A.3 都限定與 PII 處理相關。可以問學員：公司已經有 27001 的請舉手，告訴他們這章的工作主要是在既有控制上加掛 PII 指引要求，而不是重做。提醒附錄 F 表 F.2 把測試資料保護對應到 A.3.30 疑為誤植，依名稱應為 A.3.31。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2019 版第 6 章是逐條延伸 27002，2025 版改成兩層：A.3 規定 29 項，其餘由資訊安全方案涵蓋。列出 6.1.3 c) 方案最少宜闡明的領域：風險管理、政策、組織、人資、資產、存取、運作、網路、開發、供應商、事故、持續、審查、密碼、實體。用附錄 F 中標示 N/A 的控制舉例，如職務區隔、防範惡意軟體、網路區隔、資料遮罩、資料洩漏預防。提醒轉版時最常見問題是 ISMS 範圍和 PIMS 範圍不一致。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A.3.4 逐條念出負責人應具備的六項：獨立報告、參與所有 PII 議題、精通法令、主管機關窗口、告知義務、提供 PIA 建議。台灣多數產業未強制設 DPO，但要有人實際扮演。A.3.8 與 A.3.9 用客服中心共用帳號案例，說明為何會被開不符合。A.3.10 強調協議要寫是否處理 PII 與最低技術組織措施，並要求客戶可接受的獨立稽核。可以問學員：你們的供應者清冊有沒有標示是否接觸個資？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這張是本章重點，建議花最多時間。先講 B.3.12 備考 1 的事件例子，說明為什麼要先判定。接著走一遍九步驟流程。說明控制者與處理者的差異，以及處理者通知義務不延伸至客戶或當事人造成的洩漏。台灣部分講個資法通知當事人義務、各目的事業主管機關安全維護辦法的通報規定、資通安全管理法的事件通報，時限一律提醒依最新公告。最後用 HR 薪資單誤寄案例做分組演練：請學員填寫通報紀錄欄位。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挑最常被遺漏的 PII 特定要點講。A.3.14 舉例：網站隱私權政策改版時要保存舊版與生效日期。A.3.21 舉影印機與事務機硬碟、租賃筆電。A.3.24 說明回復日誌至少要負責人姓名與回復的 PII，並提醒從備份回復後，已被要求刪除的資料要重新處理。A.3.25 用電商客服大量查詢名人資料的案例，說明日誌設計讓事故可被偵測；處理者還要確保客戶只能看到自己的日誌且無法修改。A.3.26 提到身分證字號、健康資料加密。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A.3.27 念出 a 到 e 五項考量，特別是 e 預設最小化 PII 處理。A.3.31 強調三段順序：合成資料、同等保護、風險評鑑。接著說明稽核員的追蹤方法：挑一個 PII 系統，從帳號、權限、日誌、事故、備份、測試環境一路追。念兩則不符合範例，例如筆電遺失未做外洩判定、測試環境為正式資料複本，示範要求、證據、事實三段式寫法。結尾請學員回去用總覽表做一次自家 SoA 的 A.3 差異檢查。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14｜PIMS 導入實務與整合】
學習目標：
1. 能規劃 PIMS 導入 12 步驟與 6–9 個月時程，並說明各步驟的產出
2. 能建立符合 7.5 的 PIMS 文件架構與建議文件清單
3. 能說明 PIMS 與 ISO/IEC 27001:2022 ISMS 的整合方式與差異
4. 能運用附錄 C/D/E 對應表，並將台灣個資法要求納入 PIMS
5. 能以檢核表完成驗證前準備
本章重點：
・導入順序由條款輸入輸出決定：角色與範圍、盤點、風險、SoA、文件、運作、內稽、管審、驗證
・試運行至少 2–3 個月，驗證需要看到實際運作紀錄
・四階文件是習慣，標準明確要求的文件化資訊才是底線
・與 27001 整合可共用流程，但須加入當事人視角並完整呈現 27701 附錄 A
・附錄 C/D/E 為指示性對應；台灣個資法是 4.2 與 A.3.13 的核心輸入
・中小企業可以精簡，但不能省略 shall 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開場先問學員：如果明天老闆要你負責 PIMS 專案，你第一週會做什麼？讓大家說說看，再帶出十二步驟。強調順序的邏輯來自條款輸入輸出：4.1 角色判定決定附錄 A 用哪張表；盤點是風險評鑑的輸入；風險評鑑是 SoA 理由的依據；運作紀錄是內稽管審的輸入。可舉電商代營運品牌網店的例子說明角色判定為何不能一律判為控制者。提醒盤點要先廣後深，第一輪只列處理活動清單即可。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以甘特表說明每階段大致重疊情形。強調時程取決於規模、既有制度與 PII 處理複雜度，不要對老闆承諾太短。分享實務經驗：試運行壓縮太短，稽核時運作紀錄全部零筆，是最常見的第二階段問題。建議刻意安排一次個資外洩演練與一次 DSAR 模擬請求，既可訓練人員也能產生紀錄。可問學員：貴公司目前有哪些制度可以直接沿用？以此估算可縮短的時程。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說明四階是習慣做法而非標準規定，7.5.1 備考允許依規模調整文件程度。逐一點出標準明確要求的文件化資訊：4.3 範圍、5.2 政策、6.1.2 風險評鑑過程、6.1.3 SoA 與資訊安全方案、6.2 目標、7.2 能力證據、8.2/8.3 結果、9.1 量測、9.2 稽核、9.3 管審、10.2 矯正。提醒照抄範本的風險：文件寫的與實際做的不一致，本身就是不符合事項。可展示建議文件清單供學員參考。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強調 2025 版 27701 已可獨立驗證，不再是 27001 延伸，兩張證書各自滿足要求。比較可共用與差異處，特別是 4.1 角色判定、4.2 PII 當事人、6.1.2 當事人後果。說明 SoA 兩份與合併的優缺點。以金融科技 SaaS 案例說明整合後導入時間縮短。提醒最大陷阱：以為資訊資產清冊等於 RoPA，資產是系統，PIMS 關心處理活動與目的。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示範用附錄 D 反查：例如 GDPR 第 35、36 條對應 B.1.2.6，第 33、34 條對應 B.3.11、B.3.12，第 28 條第 2 項對應 B.2.5.9。強調附錄 D 本身即聲明純屬指示性，法律義務仍由組織自行評估。台灣部分，建議仿照附錄 D 自建個資法對照表，並將主管機關要求的安全維護計畫與 PIMS 交互引用。提醒通報時限不要照抄 GDPR，依主管機關最新規定。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 40 人 HR 外包公司為例，說明以處理者為主的組織如何精簡文件。強調可精簡但不可省略 shall，例如當事人後果評估、內稽客觀性、管審輸入齊全。帶學員過一遍 20 項檢核表，請學員就自己公司現況自評，選出最弱的三項。最後說明現場準備：稽核室、證據索引表、受訪人員排班、提醒同仁據實回答，不知道就說會確認，不要猜測或臨時編造。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15｜稽核實務專章：從稽核原則到不符合事項】
學習目標：
1. 能說明 ISO 19011 七大稽核原則及第一、二、三方稽核差異
2. 能描述 PIMS 驗證稽核流程與追查、重新驗證週期
3. 能運用訪談、觀察、文件審查、抽樣與技術驗證蒐集證據
4. 能判斷不符合事項分級，並以要求、證據、事實陳述三要素撰寫
5. 能運用檢查表與 Top 15 不符合案例準備內稽與驗證
本章重點：
・稽核七原則：誠信、公正陳述、專業審慎、保密、獨立、基於證據、基於風險
・驗證流程：第一階段、第二階段、矯正、發證、年度追查、三年重新驗證
・交叉使用五種證據方法，善用從母體反抽與三角驗證
・不符合三要素：要求、證據、事實陳述；分級看系統性、影響與法定義務
・Top 15 不符合多屬有寫沒做、有做沒紀錄、PDCA 後段空轉
・受稽方要據實、拿證據說話，絕不臨時補資料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先請學員分享自己被稽核或稽核別人的經驗，帶出稽核不是抓人而是用證據對話。逐一說明七大原則，以保密原則為重點：稽核員自己就是可存取 PII 的人，筆記只記單號、日期、系統與筆數，需要時請受稽方遮罩後提供。說明第一、二、三方差異，強調 A.1.2.7 與個資法委託監督使第二方稽核很常見，並提醒第三方證書不能完全取代第二方監督，要確認證書範圍與有效性。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流程圖說明驗證全貌。強調第一階段關切事項必須在第二階段前改善。說明主要不符合通常須經確認有效矯正後才能做驗證決定，次要不符合需提出可接受的矯正計畫，實際規定以驗證機構合約為準。驗證決定由未參與稽核者做出。提醒 2019 版轉 2025 版的轉版期限依認證機構與驗證機構公告，不要自行假設日期。可問學員：貴公司若同時持有 27001，如何安排整合稽核？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說明影響人天的因素但不提供公式，避免學員使用錯誤數字。示範從母體反抽：從客服系統搜尋刪除請求、從公文系統反查法院函查，檢查是否已登錄 DSAR 與揭露紀錄。以保存期限為例示範三角驗證：文件寫一年、主管說每年刪、系統查到五年前資料。強調技術驗證由受稽方操作、稽核員觀察，避免稽核員直接接觸 PII。也提醒學員，口頭陳述只能作為線索，必須有紀錄佐證。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以表格說明四種分類與判斷路徑：系統性、部分或完全缺失、對當事人傷害、法定義務、是否重複發生。帶學員看三個撰寫範例，特別是 10.2 範例中人員疏失不是根本原因。請學員分組練習：給一段稽核情境，寫出三要素並判定分級，再互相評閱。常見爛寫法如同意管理不佳、應建立遮罩機制，請學員指出問題所在，並示範如何改寫成符合三要素的版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逐項帶過 Top 15，每項用一句話說明典型情境。歸納共通模式：多數不是沒有程序，而是有寫沒做、有做沒紀錄，以及 PDCA 後段空轉。建議受稽方把 Top 15 轉為內部自我稽核清單，在驗證前逐項檢查。可請學員投票：自己公司最可能被開的是哪三項，並討論預防作法。分級欄僅為參考，實際依證據與驗證機構規定。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展示檢查表並說明不是照唸的問卷，以銀行信用卡申辦流程示範追蹤稽核，一條流程涵蓋 A.1.2.2、A.1.2.3、A.1.3.3、A.1.2.5、A.1.5.5、A.1.2.7、A.1.4.8、A.1.4.9、A.3.31 等控制。受稽方技巧部分，以角色扮演讓學員分別擔任稽核員與受稽方，練習回答與提供證據。最後強調誠信，臨時補資料或改日期會讓小問題變成對整個 PIMS 可信度的質疑。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【單元 16｜課程總結：重點回顧與下一步】
學習目標：
1. 能用一句話說出每章的核心重點
2. 能列出 PIMS 實作最優先的 10 項文件與紀錄
3. 能掌握受稽方的 10 個關鍵建議
4. 能規劃下一步學習資源並完成課後測驗
本章重點：
・27701:2025 是可獨立驗證的 PIMS 標準，核心在角色判定、當事人視角的風險評鑑與 SoA
・Top 10 必備文件從範圍、政策、RoPA 到內稽管審矯正，涵蓋 PDCA 全循環
・寫你所做、做你所寫、留下紀錄，是通過稽核的不二法門
・延伸學習可從 ISO/IEC 29100 開始，再依需求選讀 29134、27557、27018 等
・課後測驗 10 題、80 分及格，及格後填寫資料即可下載結業證書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用十分鐘帶學員快速回顧全課程，可搭配文字教材的每章一句話表格。建議採互動方式：每回顧一章，請一位學員用一句話說出他印象最深的重點，講師補充。強調 2025 版已可獨立驗證、4.1 角色判定、6.1.2 當事人後果、SoA 與附錄 A 78 項，以及 PDCA 後段的內稽、管審與矯正。最後提醒，回公司最先做的事是建立或更新 RoPA。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說明 Top 10 文件與紀錄是驗證稽核最優先準備的項目，但標準要求的其他文件化資訊同樣不能缺。逐一帶過給受稽方的十個建議，每項可舉一個前面章節的案例，例如 SoA 排除理由只寫不適用、測試環境使用正式個資、矯正只寫人員疏失。可請學員自評：十項建議中自己公司做得最好與最差的各是哪一項，作為回公司後的行動起點。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介紹延伸學習標準，每項用一句話說明用途，並提醒標準版本與狀態以 ISO 官網最新資訊為準，ISO/IEC 27706 與 2025 版的配合修訂狀態請依最新公告。說明課後測驗規則：10 題單選、每題 10 分、80 分及格；及格後填寫公司名稱、單位、姓名、職稱、e-mail 即可下載證書；未及格可重讀或再測。最後溫馨收尾，感謝學員參與，鼓勵大家回公司從一張 RoPA 開始。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總結：請學員回想三大面向（標準解說、PIMS 管理作法、稽核實務），開放 Q&amp;A。提醒學員到線上課程網站完成課後測驗並下載證書。若學員公司正在導入，建議先從個資盤點（RoPA）與角色判定開始。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E276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69494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6949440" cy="128016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10424160" cy="274320"/>
          </a:xfrm>
          <a:prstGeom prst="rect">
            <a:avLst/>
          </a:prstGeom>
          <a:noFill/>
          <a:ln/>
        </p:spPr>
        <p:txBody>
          <a:bodyPr wrap="square" lIns="0" tIns="0" rIns="0" bIns="0" rtlCol="0" anchor="ctr"/>
          <a:lstStyle/>
          <a:p>
            <a:pPr indent="0" marL="0">
              <a:buNone/>
            </a:pPr>
            <a:r>
              <a:rPr lang="en-US" sz="1000" dirty="0">
                <a:solidFill>
                  <a:srgbClr val="6B7A99"/>
                </a:solidFill>
              </a:rPr>
              <a:t>ISO/IEC 27701:2025 PIMS｜教材規劃製作：Allan Lo顧問 (http://www.123hi.org) 2026年10月｜Copyright © 2026 Allan Lo. All rights reserved.</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123hi.org" TargetMode="External"/><Relationship Id="rId1" Type="http://schemas.openxmlformats.org/officeDocument/2006/relationships/image" Target="../media/image-1-1.jpg"/><Relationship Id="rId2" Type="http://schemas.openxmlformats.org/officeDocument/2006/relationships/image" Target="../media/image-1-2.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4.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4.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4.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4.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4.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slideLayout" Target="../slideLayouts/slideLayout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4.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4.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4.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slideLayout" Target="../slideLayouts/slideLayout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4.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slideLayout" Target="../slideLayouts/slideLayout4.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slideLayout" Target="../slideLayouts/slideLayout4.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slideLayout" Target="../slideLayouts/slideLayout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4.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slideLayout" Target="../slideLayouts/slideLayout4.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3" Type="http://schemas.openxmlformats.org/officeDocument/2006/relationships/hyperlink" Target="http://www.123hi.org" TargetMode="External"/><Relationship Id="rId1" Type="http://schemas.openxmlformats.org/officeDocument/2006/relationships/image" Target="../media/image-111-1.jpg"/><Relationship Id="rId2" Type="http://schemas.openxmlformats.org/officeDocument/2006/relationships/image" Target="../media/image-111-2.jpg"/><Relationship Id="rId4" Type="http://schemas.openxmlformats.org/officeDocument/2006/relationships/slideLayout" Target="../slideLayouts/slideLayout2.xml"/><Relationship Id="rId5"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6766560" cy="640080"/>
          </a:xfrm>
          <a:prstGeom prst="rect">
            <a:avLst/>
          </a:prstGeom>
          <a:noFill/>
          <a:ln/>
        </p:spPr>
        <p:txBody>
          <a:bodyPr wrap="square" lIns="0" tIns="0" rIns="0" bIns="0" rtlCol="0" anchor="ctr"/>
          <a:lstStyle/>
          <a:p>
            <a:pPr indent="0" marL="0">
              <a:buNone/>
            </a:pPr>
            <a:r>
              <a:rPr lang="en-US" sz="2400" b="1" dirty="0">
                <a:solidFill>
                  <a:srgbClr val="CADCFC"/>
                </a:solidFill>
              </a:rPr>
              <a:t>ISO/IEC 27701:2025</a:t>
            </a:r>
            <a:endParaRPr lang="en-US" sz="2400" dirty="0"/>
          </a:p>
        </p:txBody>
      </p:sp>
      <p:sp>
        <p:nvSpPr>
          <p:cNvPr id="3" name="Text 1"/>
          <p:cNvSpPr txBox="1"/>
          <p:nvPr/>
        </p:nvSpPr>
        <p:spPr>
          <a:xfrm>
            <a:off x="731520" y="1828800"/>
            <a:ext cx="6949440" cy="914400"/>
          </a:xfrm>
          <a:prstGeom prst="rect">
            <a:avLst/>
          </a:prstGeom>
          <a:noFill/>
          <a:ln/>
        </p:spPr>
        <p:txBody>
          <a:bodyPr wrap="square" lIns="0" tIns="0" rIns="0" bIns="0" rtlCol="0" anchor="ctr"/>
          <a:lstStyle/>
          <a:p>
            <a:pPr indent="0" marL="0">
              <a:buNone/>
            </a:pPr>
            <a:r>
              <a:rPr lang="en-US" sz="4000" b="1" dirty="0">
                <a:solidFill>
                  <a:srgbClr val="FFFFFF"/>
                </a:solidFill>
              </a:rPr>
              <a:t>隱私資訊管理系統（PIMS）</a:t>
            </a:r>
            <a:endParaRPr lang="en-US" sz="4000" dirty="0"/>
          </a:p>
        </p:txBody>
      </p:sp>
      <p:sp>
        <p:nvSpPr>
          <p:cNvPr id="4" name="Text 2"/>
          <p:cNvSpPr txBox="1"/>
          <p:nvPr/>
        </p:nvSpPr>
        <p:spPr>
          <a:xfrm>
            <a:off x="731520" y="2743200"/>
            <a:ext cx="6949440" cy="640080"/>
          </a:xfrm>
          <a:prstGeom prst="rect">
            <a:avLst/>
          </a:prstGeom>
          <a:noFill/>
          <a:ln/>
        </p:spPr>
        <p:txBody>
          <a:bodyPr wrap="square" lIns="0" tIns="0" rIns="0" bIns="0" rtlCol="0" anchor="ctr"/>
          <a:lstStyle/>
          <a:p>
            <a:pPr indent="0" marL="0">
              <a:buNone/>
            </a:pPr>
            <a:r>
              <a:rPr lang="en-US" sz="2400" dirty="0">
                <a:solidFill>
                  <a:srgbClr val="F2A541"/>
                </a:solidFill>
              </a:rPr>
              <a:t>標準解說 × 管理作法 × 稽核實務</a:t>
            </a:r>
            <a:endParaRPr lang="en-US" sz="2400" dirty="0"/>
          </a:p>
        </p:txBody>
      </p:sp>
      <p:sp>
        <p:nvSpPr>
          <p:cNvPr id="5" name="Text 3"/>
          <p:cNvSpPr txBox="1"/>
          <p:nvPr/>
        </p:nvSpPr>
        <p:spPr>
          <a:xfrm>
            <a:off x="731520" y="4023360"/>
            <a:ext cx="6766560" cy="822960"/>
          </a:xfrm>
          <a:prstGeom prst="rect">
            <a:avLst/>
          </a:prstGeom>
          <a:noFill/>
          <a:ln/>
        </p:spPr>
        <p:txBody>
          <a:bodyPr wrap="square" lIns="0" tIns="0" rIns="0" bIns="0" rtlCol="0" anchor="ctr"/>
          <a:lstStyle/>
          <a:p>
            <a:pPr indent="0" marL="0">
              <a:spcAft>
                <a:spcPts val="600"/>
              </a:spcAft>
              <a:buNone/>
            </a:pPr>
            <a:r>
              <a:rPr lang="en-US" sz="1600" dirty="0">
                <a:solidFill>
                  <a:srgbClr val="CADCFC"/>
                </a:solidFill>
              </a:rPr>
              <a:t>講師：Allan（ISMS／PIMS 輔導顧問・驗證機構稽核員）</a:t>
            </a:r>
            <a:endParaRPr lang="en-US" sz="1600" dirty="0"/>
          </a:p>
          <a:p>
            <a:pPr indent="0" marL="0">
              <a:spcAft>
                <a:spcPts val="600"/>
              </a:spcAft>
              <a:buNone/>
            </a:pPr>
            <a:r>
              <a:rPr lang="en-US" sz="1600" dirty="0">
                <a:solidFill>
                  <a:srgbClr val="CADCFC"/>
                </a:solidFill>
              </a:rPr>
              <a:t>助教：阿拉蕾</a:t>
            </a:r>
            <a:endParaRPr lang="en-US" sz="1600" dirty="0"/>
          </a:p>
        </p:txBody>
      </p:sp>
      <p:sp>
        <p:nvSpPr>
          <p:cNvPr id="6" name="Text 4"/>
          <p:cNvSpPr txBox="1"/>
          <p:nvPr/>
        </p:nvSpPr>
        <p:spPr>
          <a:xfrm>
            <a:off x="731520" y="5303520"/>
            <a:ext cx="4206240" cy="411480"/>
          </a:xfrm>
          <a:prstGeom prst="roundRect">
            <a:avLst>
              <a:gd name="adj" fmla="val 22222"/>
            </a:avLst>
          </a:prstGeom>
          <a:solidFill>
            <a:srgbClr val="F2A541"/>
          </a:solidFill>
          <a:ln/>
        </p:spPr>
        <p:txBody>
          <a:bodyPr wrap="square" lIns="0" tIns="0" rIns="0" bIns="0" rtlCol="0" anchor="ctr"/>
          <a:lstStyle/>
          <a:p>
            <a:pPr algn="ctr" indent="0" marL="0">
              <a:buNone/>
            </a:pPr>
            <a:r>
              <a:rPr lang="en-US" sz="1400" b="1" dirty="0">
                <a:solidFill>
                  <a:srgbClr val="1E2761"/>
                </a:solidFill>
              </a:rPr>
              <a:t>2025 新版・可獨立驗證的 PIMS 標準</a:t>
            </a:r>
            <a:endParaRPr lang="en-US" sz="1400" dirty="0"/>
          </a:p>
        </p:txBody>
      </p:sp>
      <p:sp>
        <p:nvSpPr>
          <p:cNvPr id="7" name="arale-frame"/>
          <p:cNvSpPr/>
          <p:nvPr/>
        </p:nvSpPr>
        <p:spPr>
          <a:xfrm>
            <a:off x="7534656" y="2916936"/>
            <a:ext cx="2029968" cy="2318004"/>
          </a:xfrm>
          <a:prstGeom prst="roundRect">
            <a:avLst>
              <a:gd name="adj" fmla="val 8108"/>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8" name="arale-img" descr="助教阿拉蕾">    </p:cNvPr>
          <p:cNvPicPr>
            <a:picLocks noChangeAspect="1"/>
          </p:cNvPicPr>
          <p:nvPr/>
        </p:nvPicPr>
        <p:blipFill>
          <a:blip r:embed="rId1"/>
          <a:srcRect l="0" r="0" t="0" b="0"/>
          <a:stretch/>
        </p:blipFill>
        <p:spPr>
          <a:xfrm>
            <a:off x="7589520" y="2971800"/>
            <a:ext cx="1920240" cy="2208276"/>
          </a:xfrm>
          <a:prstGeom prst="rect">
            <a:avLst/>
          </a:prstGeom>
        </p:spPr>
      </p:pic>
      <p:sp>
        <p:nvSpPr>
          <p:cNvPr id="9" name="Text 6"/>
          <p:cNvSpPr txBox="1"/>
          <p:nvPr/>
        </p:nvSpPr>
        <p:spPr>
          <a:xfrm>
            <a:off x="7406640" y="5289804"/>
            <a:ext cx="2286000" cy="320040"/>
          </a:xfrm>
          <a:prstGeom prst="rect">
            <a:avLst/>
          </a:prstGeom>
          <a:noFill/>
          <a:ln/>
        </p:spPr>
        <p:txBody>
          <a:bodyPr wrap="square" lIns="0" tIns="0" rIns="0" bIns="0" rtlCol="0" anchor="ctr"/>
          <a:lstStyle/>
          <a:p>
            <a:pPr algn="ctr" indent="0" marL="0">
              <a:buNone/>
            </a:pPr>
            <a:r>
              <a:rPr lang="en-US" sz="1300" b="1" dirty="0">
                <a:solidFill>
                  <a:srgbClr val="E8559A"/>
                </a:solidFill>
              </a:rPr>
              <a:t>助教 阿拉蕾</a:t>
            </a:r>
            <a:endParaRPr lang="en-US" sz="1300" dirty="0"/>
          </a:p>
        </p:txBody>
      </p:sp>
      <p:sp>
        <p:nvSpPr>
          <p:cNvPr id="10" name="allan-frame"/>
          <p:cNvSpPr/>
          <p:nvPr/>
        </p:nvSpPr>
        <p:spPr>
          <a:xfrm>
            <a:off x="9729216" y="859536"/>
            <a:ext cx="2212848" cy="2528316"/>
          </a:xfrm>
          <a:prstGeom prst="roundRect">
            <a:avLst>
              <a:gd name="adj" fmla="val 7438"/>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11" name="allan-img" descr="Allan 講師">    </p:cNvPr>
          <p:cNvPicPr>
            <a:picLocks noChangeAspect="1"/>
          </p:cNvPicPr>
          <p:nvPr/>
        </p:nvPicPr>
        <p:blipFill>
          <a:blip r:embed="rId2"/>
          <a:srcRect l="0" r="0" t="0" b="0"/>
          <a:stretch/>
        </p:blipFill>
        <p:spPr>
          <a:xfrm>
            <a:off x="9784080" y="914400"/>
            <a:ext cx="2103120" cy="2418588"/>
          </a:xfrm>
          <a:prstGeom prst="rect">
            <a:avLst/>
          </a:prstGeom>
        </p:spPr>
      </p:pic>
      <p:sp>
        <p:nvSpPr>
          <p:cNvPr id="12" name="Text 8"/>
          <p:cNvSpPr txBox="1"/>
          <p:nvPr/>
        </p:nvSpPr>
        <p:spPr>
          <a:xfrm>
            <a:off x="9601200" y="3442716"/>
            <a:ext cx="246888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13" name="Text 9"/>
          <p:cNvSpPr txBox="1"/>
          <p:nvPr/>
        </p:nvSpPr>
        <p:spPr>
          <a:xfrm>
            <a:off x="731520" y="5989320"/>
            <a:ext cx="6766560" cy="548640"/>
          </a:xfrm>
          <a:prstGeom prst="rect">
            <a:avLst/>
          </a:prstGeom>
          <a:noFill/>
          <a:ln/>
        </p:spPr>
        <p:txBody>
          <a:bodyPr wrap="square" lIns="0" tIns="0" rIns="0" bIns="0" rtlCol="0" anchor="ctr"/>
          <a:lstStyle/>
          <a:p>
            <a:pPr indent="0" marL="0">
              <a:buNone/>
            </a:pPr>
            <a:r>
              <a:rPr lang="en-US" sz="1100" dirty="0">
                <a:solidFill>
                  <a:srgbClr val="CADCFC"/>
                </a:solidFill>
              </a:rPr>
              <a:t>教材規劃製作：Allan Lo顧問 (</a:t>
            </a:r>
            <a:pPr indent="0" marL="0">
              <a:buNone/>
            </a:pPr>
            <a:r>
              <a:rPr lang="en-US" sz="1100" u="sng" dirty="0">
                <a:solidFill>
                  <a:srgbClr val="CADCFC"/>
                </a:solidFill>
                <a:hlinkClick r:id="rId3" invalidUrl="" action="" tgtFrame="" tooltip="" history="1" highlightClick="0" endSnd="0">
                  <a:extLst>
                    <a:ext uri="{A12FA001-AC4F-418D-AE19-62706E023703}">
                      <ahyp:hlinkClr xmlns:ahyp="http://schemas.microsoft.com/office/drawing/2018/hyperlinkcolor" val="tx"/>
                    </a:ext>
                  </a:extLst>
                </a:hlinkClick>
              </a:rPr>
              <a:t>http://www.123hi.org</a:t>
            </a:r>
            <a:pPr indent="0" marL="0">
              <a:buNone/>
            </a:pPr>
            <a:r>
              <a:rPr lang="en-US" sz="1100" dirty="0">
                <a:solidFill>
                  <a:srgbClr val="CADCFC"/>
                </a:solidFill>
              </a:rPr>
              <a:t>)　2026年10月</a:t>
            </a:r>
            <a:endParaRPr lang="en-US" sz="1100" dirty="0"/>
          </a:p>
          <a:p>
            <a:pPr indent="0" marL="0">
              <a:buNone/>
            </a:pPr>
            <a:r>
              <a:rPr lang="en-US" sz="1100" dirty="0">
                <a:solidFill>
                  <a:srgbClr val="CADCFC"/>
                </a:solidFill>
              </a:rPr>
              <a:t>Copyright © 2026 Allan Lo. All rights reserved.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課程地圖與時間配置（約 3 小時）</a:t>
            </a:r>
            <a:endParaRPr lang="en-US" sz="3000" dirty="0"/>
          </a:p>
        </p:txBody>
      </p:sp>
      <p:sp>
        <p:nvSpPr>
          <p:cNvPr id="3" name="agenda-card-0"/>
          <p:cNvSpPr/>
          <p:nvPr/>
        </p:nvSpPr>
        <p:spPr>
          <a:xfrm>
            <a:off x="548640" y="1325880"/>
            <a:ext cx="5440680" cy="4892040"/>
          </a:xfrm>
          <a:prstGeom prst="roundRect">
            <a:avLst>
              <a:gd name="adj" fmla="val 2243"/>
            </a:avLst>
          </a:prstGeom>
          <a:solidFill>
            <a:srgbClr val="EEF2FA"/>
          </a:solidFill>
          <a:ln w="12700">
            <a:solidFill>
              <a:srgbClr val="EEF2FA"/>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85800" y="1463040"/>
          <a:ext cx="5166360" cy="914400"/>
        </p:xfrm>
        <a:graphic>
          <a:graphicData uri="http://schemas.openxmlformats.org/drawingml/2006/table">
            <a:tbl>
              <a:tblPr/>
              <a:tblGrid>
                <a:gridCol w="411480"/>
                <a:gridCol w="3931920"/>
                <a:gridCol w="822960"/>
              </a:tblGrid>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0</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課程導覽：認識講師、學習地圖與使用方式</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5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隱私與個資保護基礎觀念</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8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2</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ISO/IEC 27701:2025 改版重點與標準架構</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10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3</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第4章 組織全景</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8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4</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第5章 領導作為：最高管理階層的承諾與隱私政策</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8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5</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第6章 規劃：隱私風險評鑑與處理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15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6</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第7章 支援：資源、能力、認知、溝通與文件化資訊</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8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7</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第8章 運作：運作控制、風險評鑑與處理、隱私衝擊評鑑</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10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8</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第9、10章 績效評估與改善：監督量測、內稽、管審與矯正措施</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10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dirty="0">
                          <a:solidFill>
                            <a:srgbClr val="000000"/>
                          </a:solidFill>
                          <a:latin typeface="Microsoft JhengHei" pitchFamily="34" charset="0"/>
                          <a:ea typeface="Microsoft JhengHei" pitchFamily="34" charset="-122"/>
                          <a:cs typeface="Microsoft JhengHei" pitchFamily="34" charset="-120"/>
                        </a:rPr>
                        <a:t>☕</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E8559A"/>
                          </a:solidFill>
                          <a:latin typeface="Microsoft JhengHei" pitchFamily="34" charset="0"/>
                          <a:ea typeface="Microsoft JhengHei" pitchFamily="34" charset="-122"/>
                          <a:cs typeface="Microsoft JhengHei" pitchFamily="34" charset="-120"/>
                        </a:rPr>
                        <a:t>中場休息</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E8559A"/>
                          </a:solidFill>
                          <a:latin typeface="Microsoft JhengHei" pitchFamily="34" charset="0"/>
                          <a:ea typeface="Microsoft JhengHei" pitchFamily="34" charset="-122"/>
                          <a:cs typeface="Microsoft JhengHei" pitchFamily="34" charset="-120"/>
                        </a:rPr>
                        <a:t>10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5" name="agenda-card-1"/>
          <p:cNvSpPr/>
          <p:nvPr/>
        </p:nvSpPr>
        <p:spPr>
          <a:xfrm>
            <a:off x="6172200" y="1325880"/>
            <a:ext cx="5440680" cy="4892040"/>
          </a:xfrm>
          <a:prstGeom prst="roundRect">
            <a:avLst>
              <a:gd name="adj" fmla="val 2243"/>
            </a:avLst>
          </a:prstGeom>
          <a:solidFill>
            <a:srgbClr val="EEF2FA"/>
          </a:solidFill>
          <a:ln w="12700">
            <a:solidFill>
              <a:srgbClr val="EEF2FA"/>
            </a:solidFill>
            <a:prstDash val="solid"/>
          </a:ln>
        </p:spPr>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309360" y="1463040"/>
          <a:ext cx="5166360" cy="914400"/>
        </p:xfrm>
        <a:graphic>
          <a:graphicData uri="http://schemas.openxmlformats.org/drawingml/2006/table">
            <a:tbl>
              <a:tblPr/>
              <a:tblGrid>
                <a:gridCol w="411480"/>
                <a:gridCol w="3931920"/>
                <a:gridCol w="822960"/>
              </a:tblGrid>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9</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附錄A A.1.2 蒐集及處理的條件</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12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10</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附錄A A.1.3 對 PII 當事人的義務</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12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11</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附錄A A.1.4 隱私設計與預設、A.1.5 分享移轉與揭露</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12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12</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附錄 A 表 A.2：PII 處理者控制措施</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12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13</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附錄 A 表 A.3：PII 控制者與處理者共通安全控制措施</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15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14</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PIMS 導入實務與整合</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5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15</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稽核實務專章：從稽核原則到不符合事項</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15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r h="457200">
                <a:tc>
                  <a:txBody>
                    <a:bodyPr/>
                    <a:lstStyle/>
                    <a:p>
                      <a:pPr algn="ctr" indent="0" marL="0">
                        <a:buNone/>
                      </a:pPr>
                      <a:r>
                        <a:rPr lang="en-US" sz="1400" b="1" dirty="0">
                          <a:solidFill>
                            <a:srgbClr val="2B5BD7"/>
                          </a:solidFill>
                          <a:latin typeface="Microsoft JhengHei" pitchFamily="34" charset="0"/>
                          <a:ea typeface="Microsoft JhengHei" pitchFamily="34" charset="-122"/>
                          <a:cs typeface="Microsoft JhengHei" pitchFamily="34" charset="-120"/>
                        </a:rPr>
                        <a:t>16</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2340"/>
                          </a:solidFill>
                          <a:latin typeface="Microsoft JhengHei" pitchFamily="34" charset="0"/>
                          <a:ea typeface="Microsoft JhengHei" pitchFamily="34" charset="-122"/>
                          <a:cs typeface="Microsoft JhengHei" pitchFamily="34" charset="-120"/>
                        </a:rPr>
                        <a:t>課程總結：重點回顧與下一步</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rgbClr val="6B7A99"/>
                          </a:solidFill>
                          <a:latin typeface="Microsoft JhengHei" pitchFamily="34" charset="0"/>
                          <a:ea typeface="Microsoft JhengHei" pitchFamily="34" charset="-122"/>
                          <a:cs typeface="Microsoft JhengHei" pitchFamily="34" charset="-120"/>
                        </a:rPr>
                        <a:t>5 分</a:t>
                      </a:r>
                      <a:endParaRPr lang="en-US" sz="1400" dirty="0">
                        <a:latin typeface="Microsoft JhengHei" charset="0"/>
                        <a:ea typeface="Microsoft JhengHei" charset="0"/>
                        <a:cs typeface="Microsoft JhengHei" charset="0"/>
                      </a:endParaRPr>
                    </a:p>
                  </a:txBody>
                  <a:tcPr marL="50800" marR="50800" marT="25400" marB="25400" anchor="ctr">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00</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課程導覽：認識講師、學習地圖與使用方式</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建議時間：約 5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ISO/IEC 27701:2025 已成為可獨立驗證的 PIMS 管理系統標準</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課程導覽：ISO/IEC 27701:2025 PIMS</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2025 版：可獨立驗證的 PIMS 標準</a:t>
            </a:r>
            <a:endParaRPr lang="en-US" sz="2400" dirty="0"/>
          </a:p>
          <a:p>
            <a:pPr marL="228600" indent="-228600">
              <a:spcAft>
                <a:spcPts val="1600"/>
              </a:spcAft>
              <a:buSzPct val="100000"/>
              <a:buChar char="•"/>
            </a:pPr>
            <a:r>
              <a:rPr lang="en-US" sz="2400" dirty="0">
                <a:solidFill>
                  <a:schemeClr val="tx1"/>
                </a:solidFill>
              </a:rPr>
              <a:t>講師 Allan：顧問 × 驗證稽核員</a:t>
            </a:r>
            <a:endParaRPr lang="en-US" sz="2400" dirty="0"/>
          </a:p>
          <a:p>
            <a:pPr marL="228600" indent="-228600">
              <a:spcAft>
                <a:spcPts val="1600"/>
              </a:spcAft>
              <a:buSzPct val="100000"/>
              <a:buChar char="•"/>
            </a:pPr>
            <a:r>
              <a:rPr lang="en-US" sz="2400" dirty="0">
                <a:solidFill>
                  <a:schemeClr val="tx1"/>
                </a:solidFill>
              </a:rPr>
              <a:t>助教阿拉蕾：專問笨問題</a:t>
            </a:r>
            <a:endParaRPr lang="en-US" sz="2400" dirty="0"/>
          </a:p>
          <a:p>
            <a:pPr marL="228600" indent="-228600">
              <a:spcAft>
                <a:spcPts val="1600"/>
              </a:spcAft>
              <a:buSzPct val="100000"/>
              <a:buChar char="•"/>
            </a:pPr>
            <a:r>
              <a:rPr lang="en-US" sz="2400" dirty="0">
                <a:solidFill>
                  <a:schemeClr val="tx1"/>
                </a:solidFill>
              </a:rPr>
              <a:t>目標：看得懂、做得出、經得起稽核</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學習地圖與章節安排</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面向一：標準解說</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面向二：PIMS 管理作法</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面向三：稽核實務</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第 1～2 章基礎，第 3 章起逐條解說</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附錄 A 控制措施專題與總複習</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教材使用與測驗證書</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文字教材：最完整，供查找與實作</a:t>
            </a:r>
            <a:endParaRPr lang="en-US" sz="2400" dirty="0"/>
          </a:p>
          <a:p>
            <a:pPr marL="228600" indent="-228600">
              <a:spcAft>
                <a:spcPts val="1600"/>
              </a:spcAft>
              <a:buSzPct val="100000"/>
              <a:buChar char="•"/>
            </a:pPr>
            <a:r>
              <a:rPr lang="en-US" sz="2400" dirty="0">
                <a:solidFill>
                  <a:schemeClr val="tx1"/>
                </a:solidFill>
              </a:rPr>
              <a:t>互動影音：重點講解＋即時小問題</a:t>
            </a:r>
            <a:endParaRPr lang="en-US" sz="2400" dirty="0"/>
          </a:p>
          <a:p>
            <a:pPr marL="228600" indent="-228600">
              <a:spcAft>
                <a:spcPts val="1600"/>
              </a:spcAft>
              <a:buSzPct val="100000"/>
              <a:buChar char="•"/>
            </a:pPr>
            <a:r>
              <a:rPr lang="en-US" sz="2400" dirty="0">
                <a:solidFill>
                  <a:schemeClr val="tx1"/>
                </a:solidFill>
              </a:rPr>
              <a:t>課後測驗 10 題，80 分及格</a:t>
            </a:r>
            <a:endParaRPr lang="en-US" sz="2400" dirty="0"/>
          </a:p>
          <a:p>
            <a:pPr marL="228600" indent="-228600">
              <a:spcAft>
                <a:spcPts val="1600"/>
              </a:spcAft>
              <a:buSzPct val="100000"/>
              <a:buChar char="•"/>
            </a:pPr>
            <a:r>
              <a:rPr lang="en-US" sz="2400" dirty="0">
                <a:solidFill>
                  <a:schemeClr val="tx1"/>
                </a:solidFill>
              </a:rPr>
              <a:t>及格即可下載結業證書</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01</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隱私與個資保護基礎觀念</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條款：3、4.1、ISO/IEC 29100　｜　建議時間：約 8 分鐘</a:t>
            </a:r>
            <a:endParaRPr lang="en-US" sz="1800" dirty="0"/>
          </a:p>
        </p:txBody>
      </p:sp>
      <p:sp>
        <p:nvSpPr>
          <p:cNvPr id="5" name="arale-frame"/>
          <p:cNvSpPr/>
          <p:nvPr/>
        </p:nvSpPr>
        <p:spPr>
          <a:xfrm>
            <a:off x="8997696" y="1316736"/>
            <a:ext cx="2304288" cy="2304288"/>
          </a:xfrm>
          <a:prstGeom prst="roundRect">
            <a:avLst>
              <a:gd name="adj" fmla="val 7143"/>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DE7F1"/>
          </a:solidFill>
          <a:ln w="19050">
            <a:solidFill>
              <a:srgbClr val="E8559A"/>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PII 是能直接或間接識別自然人的資訊；假名化資料通常仍屬 PII，敏感／特種個資需更嚴格保護</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PII 與敏感 PII</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PII：可直接或間接識別自然人</a:t>
            </a:r>
            <a:endParaRPr lang="en-US" sz="2400" dirty="0"/>
          </a:p>
          <a:p>
            <a:pPr marL="228600" indent="-228600">
              <a:spcAft>
                <a:spcPts val="1600"/>
              </a:spcAft>
              <a:buSzPct val="100000"/>
              <a:buChar char="•"/>
            </a:pPr>
            <a:r>
              <a:rPr lang="en-US" sz="2400" dirty="0">
                <a:solidFill>
                  <a:schemeClr val="tx1"/>
                </a:solidFill>
              </a:rPr>
              <a:t>IP、車牌、錄音、會員編號也算</a:t>
            </a:r>
            <a:endParaRPr lang="en-US" sz="2400" dirty="0"/>
          </a:p>
          <a:p>
            <a:pPr marL="228600" indent="-228600">
              <a:spcAft>
                <a:spcPts val="1600"/>
              </a:spcAft>
              <a:buSzPct val="100000"/>
              <a:buChar char="•"/>
            </a:pPr>
            <a:r>
              <a:rPr lang="en-US" sz="2400" dirty="0">
                <a:solidFill>
                  <a:schemeClr val="tx1"/>
                </a:solidFill>
              </a:rPr>
              <a:t>假名化資料通常仍是 PII</a:t>
            </a:r>
            <a:endParaRPr lang="en-US" sz="2400" dirty="0"/>
          </a:p>
          <a:p>
            <a:pPr marL="228600" indent="-228600">
              <a:spcAft>
                <a:spcPts val="1600"/>
              </a:spcAft>
              <a:buSzPct val="100000"/>
              <a:buChar char="•"/>
            </a:pPr>
            <a:r>
              <a:rPr lang="en-US" sz="2400" dirty="0">
                <a:solidFill>
                  <a:schemeClr val="tx1"/>
                </a:solidFill>
              </a:rPr>
              <a:t>特種個資：病歷、醫療、基因等</a:t>
            </a:r>
            <a:endParaRPr lang="en-US" sz="2400" dirty="0"/>
          </a:p>
          <a:p>
            <a:pPr marL="228600" indent="-228600">
              <a:spcAft>
                <a:spcPts val="1600"/>
              </a:spcAft>
              <a:buSzPct val="100000"/>
              <a:buChar char="•"/>
            </a:pPr>
            <a:r>
              <a:rPr lang="en-US" sz="2400" dirty="0">
                <a:solidFill>
                  <a:schemeClr val="tx1"/>
                </a:solidFill>
              </a:rPr>
              <a:t>盤點表須標記敏感／特種個資</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隱私關係人與角色判定</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關鍵：誰決定處理目的與方式</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控制者、共同控制者（3.21）</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處理者、分包處理者、第三方</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角色依處理活動判定</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雙角色須分別判定（4.1）</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ISO/IEC 29100 十一項隱私原則</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同意與選擇、目的合法性與規格</a:t>
            </a:r>
            <a:endParaRPr lang="en-US" sz="2400" dirty="0"/>
          </a:p>
          <a:p>
            <a:pPr marL="228600" indent="-228600">
              <a:spcAft>
                <a:spcPts val="1600"/>
              </a:spcAft>
              <a:buSzPct val="100000"/>
              <a:buChar char="•"/>
            </a:pPr>
            <a:r>
              <a:rPr lang="en-US" sz="2400" dirty="0">
                <a:solidFill>
                  <a:schemeClr val="tx1"/>
                </a:solidFill>
              </a:rPr>
              <a:t>蒐集限制、資料最小化</a:t>
            </a:r>
            <a:endParaRPr lang="en-US" sz="2400" dirty="0"/>
          </a:p>
          <a:p>
            <a:pPr marL="228600" indent="-228600">
              <a:spcAft>
                <a:spcPts val="1600"/>
              </a:spcAft>
              <a:buSzPct val="100000"/>
              <a:buChar char="•"/>
            </a:pPr>
            <a:r>
              <a:rPr lang="en-US" sz="2400" dirty="0">
                <a:solidFill>
                  <a:schemeClr val="tx1"/>
                </a:solidFill>
              </a:rPr>
              <a:t>使用保存及揭露限制、正確性與品質</a:t>
            </a:r>
            <a:endParaRPr lang="en-US" sz="2400" dirty="0"/>
          </a:p>
          <a:p>
            <a:pPr marL="228600" indent="-228600">
              <a:spcAft>
                <a:spcPts val="1600"/>
              </a:spcAft>
              <a:buSzPct val="100000"/>
              <a:buChar char="•"/>
            </a:pPr>
            <a:r>
              <a:rPr lang="en-US" sz="2400" dirty="0">
                <a:solidFill>
                  <a:schemeClr val="tx1"/>
                </a:solidFill>
              </a:rPr>
              <a:t>公開透明及告知、個人參與及存取</a:t>
            </a:r>
            <a:endParaRPr lang="en-US" sz="2400" dirty="0"/>
          </a:p>
          <a:p>
            <a:pPr marL="228600" indent="-228600">
              <a:spcAft>
                <a:spcPts val="1600"/>
              </a:spcAft>
              <a:buSzPct val="100000"/>
              <a:buChar char="•"/>
            </a:pPr>
            <a:r>
              <a:rPr lang="en-US" sz="2400" dirty="0">
                <a:solidFill>
                  <a:schemeClr val="tx1"/>
                </a:solidFill>
              </a:rPr>
              <a:t>可歸責性、資訊安全、隱私遵循</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法規環境：GDPR 與台灣個資法</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GDPR：域外效力、第 6 條六種合法基礎</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GDPR：72 小時通報、高額罰款</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台灣個資法：告知、特定目的、當事人權利</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委託處理：受託者視同委託機關</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修法與罰則依最新公告</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為什麼需要 PIMS</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隱私不等於資安</a:t>
            </a:r>
            <a:endParaRPr lang="en-US" sz="2400" dirty="0"/>
          </a:p>
          <a:p>
            <a:pPr marL="228600" indent="-228600">
              <a:spcAft>
                <a:spcPts val="1600"/>
              </a:spcAft>
              <a:buSzPct val="100000"/>
              <a:buChar char="•"/>
            </a:pPr>
            <a:r>
              <a:rPr lang="en-US" sz="2400" dirty="0">
                <a:solidFill>
                  <a:schemeClr val="tx1"/>
                </a:solidFill>
              </a:rPr>
              <a:t>風險評鑑要看對當事人的後果</a:t>
            </a:r>
            <a:endParaRPr lang="en-US" sz="2400" dirty="0"/>
          </a:p>
          <a:p>
            <a:pPr marL="228600" indent="-228600">
              <a:spcAft>
                <a:spcPts val="1600"/>
              </a:spcAft>
              <a:buSzPct val="100000"/>
              <a:buChar char="•"/>
            </a:pPr>
            <a:r>
              <a:rPr lang="en-US" sz="2400" dirty="0">
                <a:solidFill>
                  <a:schemeClr val="tx1"/>
                </a:solidFill>
              </a:rPr>
              <a:t>法遵、信任、可歸責性</a:t>
            </a:r>
            <a:endParaRPr lang="en-US" sz="2400" dirty="0"/>
          </a:p>
          <a:p>
            <a:pPr marL="228600" indent="-228600">
              <a:spcAft>
                <a:spcPts val="1600"/>
              </a:spcAft>
              <a:buSzPct val="100000"/>
              <a:buChar char="•"/>
            </a:pPr>
            <a:r>
              <a:rPr lang="en-US" sz="2400" dirty="0">
                <a:solidFill>
                  <a:schemeClr val="tx1"/>
                </a:solidFill>
              </a:rPr>
              <a:t>釐清供應鏈權責</a:t>
            </a:r>
            <a:endParaRPr lang="en-US" sz="2400" dirty="0"/>
          </a:p>
          <a:p>
            <a:pPr marL="228600" indent="-228600">
              <a:spcAft>
                <a:spcPts val="1600"/>
              </a:spcAft>
              <a:buSzPct val="100000"/>
              <a:buChar char="•"/>
            </a:pPr>
            <a:r>
              <a:rPr lang="en-US" sz="2400" dirty="0">
                <a:solidFill>
                  <a:schemeClr val="tx1"/>
                </a:solidFill>
              </a:rPr>
              <a:t>PDCA 持續改善</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02</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ISO/IEC 27701:2025 改版重點與標準架構</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條款：1、2、3、4–10、附錄 A–F　｜　建議時間：約 10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27701:2025 採 HS 共通架構，成為可獨立驗證的 PIMS 管理系統標準，也可與 ISMS 整合</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27701:2025 最大改變</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2019：27001／27002 的隱私延伸</a:t>
            </a:r>
            <a:endParaRPr lang="en-US" sz="2400" dirty="0"/>
          </a:p>
          <a:p>
            <a:pPr marL="228600" indent="-228600">
              <a:spcAft>
                <a:spcPts val="1600"/>
              </a:spcAft>
              <a:buSzPct val="100000"/>
              <a:buChar char="•"/>
            </a:pPr>
            <a:r>
              <a:rPr lang="en-US" sz="2400" dirty="0">
                <a:solidFill>
                  <a:schemeClr val="tx1"/>
                </a:solidFill>
              </a:rPr>
              <a:t>2025：獨立 PIMS 管理系統標準</a:t>
            </a:r>
            <a:endParaRPr lang="en-US" sz="2400" dirty="0"/>
          </a:p>
          <a:p>
            <a:pPr marL="228600" indent="-228600">
              <a:spcAft>
                <a:spcPts val="1600"/>
              </a:spcAft>
              <a:buSzPct val="100000"/>
              <a:buChar char="•"/>
            </a:pPr>
            <a:r>
              <a:rPr lang="en-US" sz="2400" dirty="0">
                <a:solidFill>
                  <a:schemeClr val="tx1"/>
                </a:solidFill>
              </a:rPr>
              <a:t>採 HS 共通架構第 4～10 章</a:t>
            </a:r>
            <a:endParaRPr lang="en-US" sz="2400" dirty="0"/>
          </a:p>
          <a:p>
            <a:pPr marL="228600" indent="-228600">
              <a:spcAft>
                <a:spcPts val="1600"/>
              </a:spcAft>
              <a:buSzPct val="100000"/>
              <a:buChar char="•"/>
            </a:pPr>
            <a:r>
              <a:rPr lang="en-US" sz="2400" dirty="0">
                <a:solidFill>
                  <a:schemeClr val="tx1"/>
                </a:solidFill>
              </a:rPr>
              <a:t>唯一引用標準：ISO/IEC 29100</a:t>
            </a:r>
            <a:endParaRPr lang="en-US" sz="2400" dirty="0"/>
          </a:p>
          <a:p>
            <a:pPr marL="228600" indent="-228600">
              <a:spcAft>
                <a:spcPts val="1600"/>
              </a:spcAft>
              <a:buSzPct val="100000"/>
              <a:buChar char="•"/>
            </a:pPr>
            <a:r>
              <a:rPr lang="en-US" sz="2400" dirty="0">
                <a:solidFill>
                  <a:schemeClr val="tx1"/>
                </a:solidFill>
              </a:rPr>
              <a:t>可獨立驗證，亦可與 ISMS 整合</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HS 架構與 2025 新要求</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第 4～10 章對應 PDCA</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4.1 氣候變遷、角色判定</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4.2 關注方含 PII 當事人</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4.3 範圍納入 PII 處理</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6.1.2 評估對當事人的後果</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資訊安全方案（3.24、6.1.3 c)）</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政策、目標、過程的集合</a:t>
            </a:r>
            <a:endParaRPr lang="en-US" sz="2400" dirty="0"/>
          </a:p>
          <a:p>
            <a:pPr marL="228600" indent="-228600">
              <a:spcAft>
                <a:spcPts val="1600"/>
              </a:spcAft>
              <a:buSzPct val="100000"/>
              <a:buChar char="•"/>
            </a:pPr>
            <a:r>
              <a:rPr lang="en-US" sz="2400" dirty="0">
                <a:solidFill>
                  <a:schemeClr val="tx1"/>
                </a:solidFill>
              </a:rPr>
              <a:t>例如依 27001 建立的 ISMS</a:t>
            </a:r>
            <a:endParaRPr lang="en-US" sz="2400" dirty="0"/>
          </a:p>
          <a:p>
            <a:pPr marL="228600" indent="-228600">
              <a:spcAft>
                <a:spcPts val="1600"/>
              </a:spcAft>
              <a:buSzPct val="100000"/>
              <a:buChar char="•"/>
            </a:pPr>
            <a:r>
              <a:rPr lang="en-US" sz="2400" dirty="0">
                <a:solidFill>
                  <a:schemeClr val="tx1"/>
                </a:solidFill>
              </a:rPr>
              <a:t>最少涵蓋 15 個安全領域</a:t>
            </a:r>
            <a:endParaRPr lang="en-US" sz="2400" dirty="0"/>
          </a:p>
          <a:p>
            <a:pPr marL="228600" indent="-228600">
              <a:spcAft>
                <a:spcPts val="1600"/>
              </a:spcAft>
              <a:buSzPct val="100000"/>
              <a:buChar char="•"/>
            </a:pPr>
            <a:r>
              <a:rPr lang="en-US" sz="2400" dirty="0">
                <a:solidFill>
                  <a:schemeClr val="tx1"/>
                </a:solidFill>
              </a:rPr>
              <a:t>範圍須涵蓋 PIMS 範圍</a:t>
            </a:r>
            <a:endParaRPr lang="en-US" sz="2400" dirty="0"/>
          </a:p>
          <a:p>
            <a:pPr marL="228600" indent="-228600">
              <a:spcAft>
                <a:spcPts val="1600"/>
              </a:spcAft>
              <a:buSzPct val="100000"/>
              <a:buChar char="•"/>
            </a:pPr>
            <a:r>
              <a:rPr lang="en-US" sz="2400" dirty="0">
                <a:solidFill>
                  <a:schemeClr val="tx1"/>
                </a:solidFill>
              </a:rPr>
              <a:t>N/A 控制仍由方案涵蓋</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附錄 A～F 結構</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表 A.1 控制者 31 項</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表 A.2 處理者 18 項</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表 A.3 共通安全 29 項</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附錄 B 指引編號對應附錄 A</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附錄 C～F：各種對應表</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2019 → 2025 轉版</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第 7 章→A.1、第 8 章→A.2</a:t>
            </a:r>
            <a:endParaRPr lang="en-US" sz="2400" dirty="0"/>
          </a:p>
          <a:p>
            <a:pPr marL="228600" indent="-228600">
              <a:spcAft>
                <a:spcPts val="1600"/>
              </a:spcAft>
              <a:buSzPct val="100000"/>
              <a:buChar char="•"/>
            </a:pPr>
            <a:r>
              <a:rPr lang="en-US" sz="2400" dirty="0">
                <a:solidFill>
                  <a:schemeClr val="tx1"/>
                </a:solidFill>
              </a:rPr>
              <a:t>第 6 章部分→A.3，多對一合併</a:t>
            </a:r>
            <a:endParaRPr lang="en-US" sz="2400" dirty="0"/>
          </a:p>
          <a:p>
            <a:pPr marL="228600" indent="-228600">
              <a:spcAft>
                <a:spcPts val="1600"/>
              </a:spcAft>
              <a:buSzPct val="100000"/>
              <a:buChar char="•"/>
            </a:pPr>
            <a:r>
              <a:rPr lang="en-US" sz="2400" dirty="0">
                <a:solidFill>
                  <a:schemeClr val="tx1"/>
                </a:solidFill>
              </a:rPr>
              <a:t>差異分析：條文、方案、風險、SoA</a:t>
            </a:r>
            <a:endParaRPr lang="en-US" sz="2400" dirty="0"/>
          </a:p>
          <a:p>
            <a:pPr marL="228600" indent="-228600">
              <a:spcAft>
                <a:spcPts val="1600"/>
              </a:spcAft>
              <a:buSzPct val="100000"/>
              <a:buChar char="•"/>
            </a:pPr>
            <a:r>
              <a:rPr lang="en-US" sz="2400" dirty="0">
                <a:solidFill>
                  <a:schemeClr val="tx1"/>
                </a:solidFill>
              </a:rPr>
              <a:t>更新文件條號與教育訓練</a:t>
            </a:r>
            <a:endParaRPr lang="en-US" sz="2400" dirty="0"/>
          </a:p>
          <a:p>
            <a:pPr marL="228600" indent="-228600">
              <a:spcAft>
                <a:spcPts val="1600"/>
              </a:spcAft>
              <a:buSzPct val="100000"/>
              <a:buChar char="•"/>
            </a:pPr>
            <a:r>
              <a:rPr lang="en-US" sz="2400" dirty="0">
                <a:solidFill>
                  <a:schemeClr val="tx1"/>
                </a:solidFill>
              </a:rPr>
              <a:t>期限依 TAF／IAF 與驗證機構公告</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這裡要留證據</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03</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第4章 組織全景</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條款：4.1、4.2、4.3、4.4　｜　建議時間：約 8 分鐘</a:t>
            </a:r>
            <a:endParaRPr lang="en-US" sz="1800" dirty="0"/>
          </a:p>
        </p:txBody>
      </p:sp>
      <p:sp>
        <p:nvSpPr>
          <p:cNvPr id="5" name="arale-frame"/>
          <p:cNvSpPr/>
          <p:nvPr/>
        </p:nvSpPr>
        <p:spPr>
          <a:xfrm>
            <a:off x="8997696" y="1316736"/>
            <a:ext cx="2304288" cy="2304288"/>
          </a:xfrm>
          <a:prstGeom prst="roundRect">
            <a:avLst>
              <a:gd name="adj" fmla="val 7143"/>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DE7F1"/>
          </a:solidFill>
          <a:ln w="19050">
            <a:solidFill>
              <a:srgbClr val="E8559A"/>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4.1 除內外部議題外，還要判定氣候變遷是否相關，以及組織是 PII 控制者（含共同控制者）或處理者</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4.1 組織及其全景</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判定內外部議題</a:t>
            </a:r>
            <a:endParaRPr lang="en-US" sz="2400" dirty="0"/>
          </a:p>
          <a:p>
            <a:pPr marL="228600" indent="-228600">
              <a:spcAft>
                <a:spcPts val="1600"/>
              </a:spcAft>
              <a:buSzPct val="100000"/>
              <a:buChar char="•"/>
            </a:pPr>
            <a:r>
              <a:rPr lang="en-US" sz="2400" dirty="0">
                <a:solidFill>
                  <a:schemeClr val="tx1"/>
                </a:solidFill>
              </a:rPr>
              <a:t>判定氣候變遷是否相關</a:t>
            </a:r>
            <a:endParaRPr lang="en-US" sz="2400" dirty="0"/>
          </a:p>
          <a:p>
            <a:pPr marL="228600" indent="-228600">
              <a:spcAft>
                <a:spcPts val="1600"/>
              </a:spcAft>
              <a:buSzPct val="100000"/>
              <a:buChar char="•"/>
            </a:pPr>
            <a:r>
              <a:rPr lang="en-US" sz="2400" dirty="0">
                <a:solidFill>
                  <a:schemeClr val="tx1"/>
                </a:solidFill>
              </a:rPr>
              <a:t>判定控制者或處理者角色</a:t>
            </a:r>
            <a:endParaRPr lang="en-US" sz="2400" dirty="0"/>
          </a:p>
          <a:p>
            <a:pPr marL="228600" indent="-228600">
              <a:spcAft>
                <a:spcPts val="1600"/>
              </a:spcAft>
              <a:buSzPct val="100000"/>
              <a:buChar char="•"/>
            </a:pPr>
            <a:r>
              <a:rPr lang="en-US" sz="2400" dirty="0">
                <a:solidFill>
                  <a:schemeClr val="tx1"/>
                </a:solidFill>
              </a:rPr>
              <a:t>雙角色須分別判定</a:t>
            </a:r>
            <a:endParaRPr lang="en-US" sz="2400" dirty="0"/>
          </a:p>
          <a:p>
            <a:pPr marL="228600" indent="-228600">
              <a:spcAft>
                <a:spcPts val="1600"/>
              </a:spcAft>
              <a:buSzPct val="100000"/>
              <a:buChar char="•"/>
            </a:pPr>
            <a:r>
              <a:rPr lang="en-US" sz="2400" dirty="0">
                <a:solidFill>
                  <a:schemeClr val="tx1"/>
                </a:solidFill>
              </a:rPr>
              <a:t>角色依處理活動而定</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4.2 關注方與「客戶」</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關注方必須包括 PII 當事人</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主管機關、客戶、處理者、分包者</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判定哪些要求透過 PIMS 因應</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客戶三種意義 a)、b)、c)</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B2C 的個人稱 PII 當事人</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4.3 範圍與 4.4 PIMS</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判定邊界與適用性</a:t>
            </a:r>
            <a:endParaRPr lang="en-US" sz="2400" dirty="0"/>
          </a:p>
          <a:p>
            <a:pPr marL="228600" indent="-228600">
              <a:spcAft>
                <a:spcPts val="1600"/>
              </a:spcAft>
              <a:buSzPct val="100000"/>
              <a:buChar char="•"/>
            </a:pPr>
            <a:r>
              <a:rPr lang="en-US" sz="2400" dirty="0">
                <a:solidFill>
                  <a:schemeClr val="tx1"/>
                </a:solidFill>
              </a:rPr>
              <a:t>考量 4.1 議題與 4.2 要求</a:t>
            </a:r>
            <a:endParaRPr lang="en-US" sz="2400" dirty="0"/>
          </a:p>
          <a:p>
            <a:pPr marL="228600" indent="-228600">
              <a:spcAft>
                <a:spcPts val="1600"/>
              </a:spcAft>
              <a:buSzPct val="100000"/>
              <a:buChar char="•"/>
            </a:pPr>
            <a:r>
              <a:rPr lang="en-US" sz="2400" dirty="0">
                <a:solidFill>
                  <a:schemeClr val="tx1"/>
                </a:solidFill>
              </a:rPr>
              <a:t>範圍必須納入 PII 處理</a:t>
            </a:r>
            <a:endParaRPr lang="en-US" sz="2400" dirty="0"/>
          </a:p>
          <a:p>
            <a:pPr marL="228600" indent="-228600">
              <a:spcAft>
                <a:spcPts val="1600"/>
              </a:spcAft>
              <a:buSzPct val="100000"/>
              <a:buChar char="•"/>
            </a:pPr>
            <a:r>
              <a:rPr lang="en-US" sz="2400" dirty="0">
                <a:solidFill>
                  <a:schemeClr val="tx1"/>
                </a:solidFill>
              </a:rPr>
              <a:t>以文件化資訊維持</a:t>
            </a:r>
            <a:endParaRPr lang="en-US" sz="2400" dirty="0"/>
          </a:p>
          <a:p>
            <a:pPr marL="228600" indent="-228600">
              <a:spcAft>
                <a:spcPts val="1600"/>
              </a:spcAft>
              <a:buSzPct val="100000"/>
              <a:buChar char="•"/>
            </a:pPr>
            <a:r>
              <a:rPr lang="en-US" sz="2400" dirty="0">
                <a:solidFill>
                  <a:schemeClr val="tx1"/>
                </a:solidFill>
              </a:rPr>
              <a:t>建立過程及其相互作用</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管理作法：四張工具表</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內外部議題分析表（PESTLE／SWOT）</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關注方需求登錄表</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PII 處理活動盤點與角色判定表</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範圍聲明</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四份文件須彼此一致</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稽核實務：第 4 章</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議題更新頻率與氣候變遷判定</a:t>
            </a:r>
            <a:endParaRPr lang="en-US" sz="2400" dirty="0"/>
          </a:p>
          <a:p>
            <a:pPr marL="228600" indent="-228600">
              <a:spcAft>
                <a:spcPts val="1600"/>
              </a:spcAft>
              <a:buSzPct val="100000"/>
              <a:buChar char="•"/>
            </a:pPr>
            <a:r>
              <a:rPr lang="en-US" sz="2400" dirty="0">
                <a:solidFill>
                  <a:schemeClr val="tx1"/>
                </a:solidFill>
              </a:rPr>
              <a:t>角色判定與合約交叉驗證</a:t>
            </a:r>
            <a:endParaRPr lang="en-US" sz="2400" dirty="0"/>
          </a:p>
          <a:p>
            <a:pPr marL="228600" indent="-228600">
              <a:spcAft>
                <a:spcPts val="1600"/>
              </a:spcAft>
              <a:buSzPct val="100000"/>
              <a:buChar char="•"/>
            </a:pPr>
            <a:r>
              <a:rPr lang="en-US" sz="2400" dirty="0">
                <a:solidFill>
                  <a:schemeClr val="tx1"/>
                </a:solidFill>
              </a:rPr>
              <a:t>關注方是否含 PII 當事人</a:t>
            </a:r>
            <a:endParaRPr lang="en-US" sz="2400" dirty="0"/>
          </a:p>
          <a:p>
            <a:pPr marL="228600" indent="-228600">
              <a:spcAft>
                <a:spcPts val="1600"/>
              </a:spcAft>
              <a:buSzPct val="100000"/>
              <a:buChar char="•"/>
            </a:pPr>
            <a:r>
              <a:rPr lang="en-US" sz="2400" dirty="0">
                <a:solidFill>
                  <a:schemeClr val="tx1"/>
                </a:solidFill>
              </a:rPr>
              <a:t>範圍是否納入 PII 處理</a:t>
            </a:r>
            <a:endParaRPr lang="en-US" sz="2400" dirty="0"/>
          </a:p>
          <a:p>
            <a:pPr marL="228600" indent="-228600">
              <a:spcAft>
                <a:spcPts val="1600"/>
              </a:spcAft>
              <a:buSzPct val="100000"/>
              <a:buChar char="•"/>
            </a:pPr>
            <a:r>
              <a:rPr lang="en-US" sz="2400" dirty="0">
                <a:solidFill>
                  <a:schemeClr val="tx1"/>
                </a:solidFill>
              </a:rPr>
              <a:t>不符合事項：事實＋條文＋證據</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04</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第5章 領導作為：最高管理階層的承諾與隱私政策</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條款：5.1、5.2、5.3　｜　建議時間：約 8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5.1 的關鍵字是「展現」，要有預算、會議、公告、決策等可見證據</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第 5 章 領導作為：總覽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主詞是最高管理階層</a:t>
            </a:r>
            <a:endParaRPr lang="en-US" sz="2400" dirty="0"/>
          </a:p>
          <a:p>
            <a:pPr marL="228600" indent="-228600">
              <a:spcAft>
                <a:spcPts val="1600"/>
              </a:spcAft>
              <a:buSzPct val="100000"/>
              <a:buChar char="•"/>
            </a:pPr>
            <a:r>
              <a:rPr lang="en-US" sz="2400" dirty="0">
                <a:solidFill>
                  <a:schemeClr val="tx1"/>
                </a:solidFill>
              </a:rPr>
              <a:t>5.1 八項領導行動</a:t>
            </a:r>
            <a:endParaRPr lang="en-US" sz="2400" dirty="0"/>
          </a:p>
          <a:p>
            <a:pPr marL="228600" indent="-228600">
              <a:spcAft>
                <a:spcPts val="1600"/>
              </a:spcAft>
              <a:buSzPct val="100000"/>
              <a:buChar char="•"/>
            </a:pPr>
            <a:r>
              <a:rPr lang="en-US" sz="2400" dirty="0">
                <a:solidFill>
                  <a:schemeClr val="tx1"/>
                </a:solidFill>
              </a:rPr>
              <a:t>5.2 隱私政策四內容三要求</a:t>
            </a:r>
            <a:endParaRPr lang="en-US" sz="2400" dirty="0"/>
          </a:p>
          <a:p>
            <a:pPr marL="228600" indent="-228600">
              <a:spcAft>
                <a:spcPts val="1600"/>
              </a:spcAft>
              <a:buSzPct val="100000"/>
              <a:buChar char="•"/>
            </a:pPr>
            <a:r>
              <a:rPr lang="en-US" sz="2400" dirty="0">
                <a:solidFill>
                  <a:schemeClr val="tx1"/>
                </a:solidFill>
              </a:rPr>
              <a:t>5.3 兩項必要指派</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5.1 領導及承諾 a)–h)</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a 政策目標與策略相容</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b 整合營運過程、c 資源</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d 傳達重要性、e 達成成果</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f 支援人員、g 持續改善、h 支持其他主管</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5.2 隱私政策</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四內容：目的、目標框架</a:t>
            </a:r>
            <a:endParaRPr lang="en-US" sz="2400" dirty="0"/>
          </a:p>
          <a:p>
            <a:pPr marL="228600" indent="-228600">
              <a:spcAft>
                <a:spcPts val="1600"/>
              </a:spcAft>
              <a:buSzPct val="100000"/>
              <a:buChar char="•"/>
            </a:pPr>
            <a:r>
              <a:rPr lang="en-US" sz="2400" dirty="0">
                <a:solidFill>
                  <a:schemeClr val="tx1"/>
                </a:solidFill>
              </a:rPr>
              <a:t>四內容：遵循承諾、持續改善</a:t>
            </a:r>
            <a:endParaRPr lang="en-US" sz="2400" dirty="0"/>
          </a:p>
          <a:p>
            <a:pPr marL="228600" indent="-228600">
              <a:spcAft>
                <a:spcPts val="1600"/>
              </a:spcAft>
              <a:buSzPct val="100000"/>
              <a:buChar char="•"/>
            </a:pPr>
            <a:r>
              <a:rPr lang="en-US" sz="2400" dirty="0">
                <a:solidFill>
                  <a:schemeClr val="tx1"/>
                </a:solidFill>
              </a:rPr>
              <a:t>三要求：文件化、內部傳達</a:t>
            </a:r>
            <a:endParaRPr lang="en-US" sz="2400" dirty="0"/>
          </a:p>
          <a:p>
            <a:pPr marL="228600" indent="-228600">
              <a:spcAft>
                <a:spcPts val="1600"/>
              </a:spcAft>
              <a:buSzPct val="100000"/>
              <a:buChar char="•"/>
            </a:pPr>
            <a:r>
              <a:rPr lang="en-US" sz="2400" dirty="0">
                <a:solidFill>
                  <a:schemeClr val="tx1"/>
                </a:solidFill>
              </a:rPr>
              <a:t>三要求：適切時關注方可取得</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內部政策 vs 對外隱私聲明</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對象：內部人員 vs PII 當事人</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目的：給方向 vs 告知權益</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條文：5.2 vs 附錄 A 告知控制</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建議分開或清楚分章</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5.3 角色責任與 RACI</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指派並傳達相關角色責任</a:t>
            </a:r>
            <a:endParaRPr lang="en-US" sz="2400" dirty="0"/>
          </a:p>
          <a:p>
            <a:pPr marL="228600" indent="-228600">
              <a:spcAft>
                <a:spcPts val="1600"/>
              </a:spcAft>
              <a:buSzPct val="100000"/>
              <a:buChar char="•"/>
            </a:pPr>
            <a:r>
              <a:rPr lang="en-US" sz="2400" dirty="0">
                <a:solidFill>
                  <a:schemeClr val="tx1"/>
                </a:solidFill>
              </a:rPr>
              <a:t>a 確保 PIMS 符合本標準</a:t>
            </a:r>
            <a:endParaRPr lang="en-US" sz="2400" dirty="0"/>
          </a:p>
          <a:p>
            <a:pPr marL="228600" indent="-228600">
              <a:spcAft>
                <a:spcPts val="1600"/>
              </a:spcAft>
              <a:buSzPct val="100000"/>
              <a:buChar char="•"/>
            </a:pPr>
            <a:r>
              <a:rPr lang="en-US" sz="2400" dirty="0">
                <a:solidFill>
                  <a:schemeClr val="tx1"/>
                </a:solidFill>
              </a:rPr>
              <a:t>b 向最高管理階層報告績效</a:t>
            </a:r>
            <a:endParaRPr lang="en-US" sz="2400" dirty="0"/>
          </a:p>
          <a:p>
            <a:pPr marL="228600" indent="-228600">
              <a:spcAft>
                <a:spcPts val="1600"/>
              </a:spcAft>
              <a:buSzPct val="100000"/>
              <a:buChar char="•"/>
            </a:pPr>
            <a:r>
              <a:rPr lang="en-US" sz="2400" dirty="0">
                <a:solidFill>
                  <a:schemeClr val="tx1"/>
                </a:solidFill>
              </a:rPr>
              <a:t>DPO 獨立性、RACI、職務說明書</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這裡要留證據</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稽核實務：老闆訪談與不符合</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稽核員問策略、目標、資源</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衝突時如何決策</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常見：政策缺承諾、未傳達</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常見：未指派報告、管審缺席</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05</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第6章 規劃：隱私風險評鑑與處理</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條款：6.1、6.1.1、6.1.2、6.1.3、6.2、6.3　｜　建議時間：約 15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6.1.2 隱私風險評鑑必須評鑑對組織及 PII 當事人的雙重後果，並識別風險擁有者</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第 6 章 規劃：總覽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6.1.1 風險及機會</a:t>
            </a:r>
            <a:endParaRPr lang="en-US" sz="2400" dirty="0"/>
          </a:p>
          <a:p>
            <a:pPr marL="228600" indent="-228600">
              <a:spcAft>
                <a:spcPts val="1600"/>
              </a:spcAft>
              <a:buSzPct val="100000"/>
              <a:buChar char="•"/>
            </a:pPr>
            <a:r>
              <a:rPr lang="en-US" sz="2400" dirty="0">
                <a:solidFill>
                  <a:schemeClr val="tx1"/>
                </a:solidFill>
              </a:rPr>
              <a:t>6.1.2 隱私風險評鑑</a:t>
            </a:r>
            <a:endParaRPr lang="en-US" sz="2400" dirty="0"/>
          </a:p>
          <a:p>
            <a:pPr marL="228600" indent="-228600">
              <a:spcAft>
                <a:spcPts val="1600"/>
              </a:spcAft>
              <a:buSzPct val="100000"/>
              <a:buChar char="•"/>
            </a:pPr>
            <a:r>
              <a:rPr lang="en-US" sz="2400" dirty="0">
                <a:solidFill>
                  <a:schemeClr val="tx1"/>
                </a:solidFill>
              </a:rPr>
              <a:t>6.1.3 隱私風險處理與 SoA</a:t>
            </a:r>
            <a:endParaRPr lang="en-US" sz="2400" dirty="0"/>
          </a:p>
          <a:p>
            <a:pPr marL="228600" indent="-228600">
              <a:spcAft>
                <a:spcPts val="1600"/>
              </a:spcAft>
              <a:buSzPct val="100000"/>
              <a:buChar char="•"/>
            </a:pPr>
            <a:r>
              <a:rPr lang="en-US" sz="2400" dirty="0">
                <a:solidFill>
                  <a:schemeClr val="tx1"/>
                </a:solidFill>
              </a:rPr>
              <a:t>6.2 隱私目標、6.3 變更</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6.1.2 隱私風險評鑑五步驟</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a 準則：接受準則、評鑑準則</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b 一致、有效、可比較</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c 識別風險與風險擁有者</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d 雙重後果、e 評估排序</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衝擊準則與風險矩陣</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當事人衝擊 1 輕微到 4 極嚴重</a:t>
            </a:r>
            <a:endParaRPr lang="en-US" sz="2400" dirty="0"/>
          </a:p>
          <a:p>
            <a:pPr marL="228600" indent="-228600">
              <a:spcAft>
                <a:spcPts val="1600"/>
              </a:spcAft>
              <a:buSzPct val="100000"/>
              <a:buChar char="•"/>
            </a:pPr>
            <a:r>
              <a:rPr lang="en-US" sz="2400" dirty="0">
                <a:solidFill>
                  <a:schemeClr val="tx1"/>
                </a:solidFill>
              </a:rPr>
              <a:t>組織衝擊同樣分四級</a:t>
            </a:r>
            <a:endParaRPr lang="en-US" sz="2400" dirty="0"/>
          </a:p>
          <a:p>
            <a:pPr marL="228600" indent="-228600">
              <a:spcAft>
                <a:spcPts val="1600"/>
              </a:spcAft>
              <a:buSzPct val="100000"/>
              <a:buChar char="•"/>
            </a:pPr>
            <a:r>
              <a:rPr lang="en-US" sz="2400" dirty="0">
                <a:solidFill>
                  <a:schemeClr val="tx1"/>
                </a:solidFill>
              </a:rPr>
              <a:t>可能性四級需考量既有控制</a:t>
            </a:r>
            <a:endParaRPr lang="en-US" sz="2400" dirty="0"/>
          </a:p>
          <a:p>
            <a:pPr marL="228600" indent="-228600">
              <a:spcAft>
                <a:spcPts val="1600"/>
              </a:spcAft>
              <a:buSzPct val="100000"/>
              <a:buChar char="•"/>
            </a:pPr>
            <a:r>
              <a:rPr lang="en-US" sz="2400" dirty="0">
                <a:solidFill>
                  <a:schemeClr val="tx1"/>
                </a:solidFill>
              </a:rPr>
              <a:t>風險值＝衝擊×可能性</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6.1.3 隱私風險處理 a)–h)</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選項、控制措施、資訊安全方案</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與附錄 A 比對，產出 SoA</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處理計畫、風險擁有者核准</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考量附錄 B 實作指引</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SoA 範例與撰寫要點</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四要素缺一不可</a:t>
            </a:r>
            <a:endParaRPr lang="en-US" sz="2400" dirty="0"/>
          </a:p>
          <a:p>
            <a:pPr marL="228600" indent="-228600">
              <a:spcAft>
                <a:spcPts val="1600"/>
              </a:spcAft>
              <a:buSzPct val="100000"/>
              <a:buChar char="•"/>
            </a:pPr>
            <a:r>
              <a:rPr lang="en-US" sz="2400" dirty="0">
                <a:solidFill>
                  <a:schemeClr val="tx1"/>
                </a:solidFill>
              </a:rPr>
              <a:t>排除理由要具體有依據</a:t>
            </a:r>
            <a:endParaRPr lang="en-US" sz="2400" dirty="0"/>
          </a:p>
          <a:p>
            <a:pPr marL="228600" indent="-228600">
              <a:spcAft>
                <a:spcPts val="1600"/>
              </a:spcAft>
              <a:buSzPct val="100000"/>
              <a:buChar char="•"/>
            </a:pPr>
            <a:r>
              <a:rPr lang="en-US" sz="2400" dirty="0">
                <a:solidFill>
                  <a:schemeClr val="tx1"/>
                </a:solidFill>
              </a:rPr>
              <a:t>雙重角色需區分適用角色</a:t>
            </a:r>
            <a:endParaRPr lang="en-US" sz="2400" dirty="0"/>
          </a:p>
          <a:p>
            <a:pPr marL="228600" indent="-228600">
              <a:spcAft>
                <a:spcPts val="1600"/>
              </a:spcAft>
              <a:buSzPct val="100000"/>
              <a:buChar char="•"/>
            </a:pPr>
            <a:r>
              <a:rPr lang="en-US" sz="2400" dirty="0">
                <a:solidFill>
                  <a:schemeClr val="tx1"/>
                </a:solidFill>
              </a:rPr>
              <a:t>可加入自訂控制措施</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以 ISO 27001 ISMS 證明資訊安全方案</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範圍比對：ISMS 是否涵蓋 PII</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領域對照表逐項對應</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PII 觀點風險是否有評</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無 27001 者自行文件化</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6.2 目標與稽核實務</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目標 a)–g) 與規劃五要素</a:t>
            </a:r>
            <a:endParaRPr lang="en-US" sz="2400" dirty="0"/>
          </a:p>
          <a:p>
            <a:pPr marL="228600" indent="-228600">
              <a:spcAft>
                <a:spcPts val="1600"/>
              </a:spcAft>
              <a:buSzPct val="100000"/>
              <a:buChar char="•"/>
            </a:pPr>
            <a:r>
              <a:rPr lang="en-US" sz="2400" dirty="0">
                <a:solidFill>
                  <a:schemeClr val="tx1"/>
                </a:solidFill>
              </a:rPr>
              <a:t>KPI：DSAR、PIA、訓練完成率</a:t>
            </a:r>
            <a:endParaRPr lang="en-US" sz="2400" dirty="0"/>
          </a:p>
          <a:p>
            <a:pPr marL="228600" indent="-228600">
              <a:spcAft>
                <a:spcPts val="1600"/>
              </a:spcAft>
              <a:buSzPct val="100000"/>
              <a:buChar char="•"/>
            </a:pPr>
            <a:r>
              <a:rPr lang="en-US" sz="2400" dirty="0">
                <a:solidFill>
                  <a:schemeClr val="tx1"/>
                </a:solidFill>
              </a:rPr>
              <a:t>稽核追蹤法：風險到核准</a:t>
            </a:r>
            <a:endParaRPr lang="en-US" sz="2400" dirty="0"/>
          </a:p>
          <a:p>
            <a:pPr marL="228600" indent="-228600">
              <a:spcAft>
                <a:spcPts val="1600"/>
              </a:spcAft>
              <a:buSzPct val="100000"/>
              <a:buChar char="•"/>
            </a:pPr>
            <a:r>
              <a:rPr lang="en-US" sz="2400" dirty="0">
                <a:solidFill>
                  <a:schemeClr val="tx1"/>
                </a:solidFill>
              </a:rPr>
              <a:t>常見不符合：缺當事人衝擊</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原來如此！</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06</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第7章 支援：資源、能力、認知、溝通與文件化資訊</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條款：7.1、7.2、7.3、7.4、7.5　｜　建議時間：約 8 分鐘</a:t>
            </a:r>
            <a:endParaRPr lang="en-US" sz="1800" dirty="0"/>
          </a:p>
        </p:txBody>
      </p:sp>
      <p:sp>
        <p:nvSpPr>
          <p:cNvPr id="5" name="arale-frame"/>
          <p:cNvSpPr/>
          <p:nvPr/>
        </p:nvSpPr>
        <p:spPr>
          <a:xfrm>
            <a:off x="8997696" y="1316736"/>
            <a:ext cx="2304288" cy="2304288"/>
          </a:xfrm>
          <a:prstGeom prst="roundRect">
            <a:avLst>
              <a:gd name="adj" fmla="val 7143"/>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DE7F1"/>
          </a:solidFill>
          <a:ln w="19050">
            <a:solidFill>
              <a:srgbClr val="E8559A"/>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7.2 能力要判定、確保、行動並評估有效性，且保存證據；簽到表不足以證明有效性</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第 7 章 支援：總覽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7.1 資源、7.2 能力</a:t>
            </a:r>
            <a:endParaRPr lang="en-US" sz="2400" dirty="0"/>
          </a:p>
          <a:p>
            <a:pPr marL="228600" indent="-228600">
              <a:spcAft>
                <a:spcPts val="1600"/>
              </a:spcAft>
              <a:buSzPct val="100000"/>
              <a:buChar char="•"/>
            </a:pPr>
            <a:r>
              <a:rPr lang="en-US" sz="2400" dirty="0">
                <a:solidFill>
                  <a:schemeClr val="tx1"/>
                </a:solidFill>
              </a:rPr>
              <a:t>7.3 認知、7.4 溝通</a:t>
            </a:r>
            <a:endParaRPr lang="en-US" sz="2400" dirty="0"/>
          </a:p>
          <a:p>
            <a:pPr marL="228600" indent="-228600">
              <a:spcAft>
                <a:spcPts val="1600"/>
              </a:spcAft>
              <a:buSzPct val="100000"/>
              <a:buChar char="•"/>
            </a:pPr>
            <a:r>
              <a:rPr lang="en-US" sz="2400" dirty="0">
                <a:solidFill>
                  <a:schemeClr val="tx1"/>
                </a:solidFill>
              </a:rPr>
              <a:t>7.5 文件化資訊</a:t>
            </a:r>
            <a:endParaRPr lang="en-US" sz="2400" dirty="0"/>
          </a:p>
          <a:p>
            <a:pPr marL="228600" indent="-228600">
              <a:spcAft>
                <a:spcPts val="1600"/>
              </a:spcAft>
              <a:buSzPct val="100000"/>
              <a:buChar char="•"/>
            </a:pPr>
            <a:r>
              <a:rPr lang="en-US" sz="2400" dirty="0">
                <a:solidFill>
                  <a:schemeClr val="tx1"/>
                </a:solidFill>
              </a:rPr>
              <a:t>隱私特色：紀錄本身含 PII</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7.1 資源與 7.2 能力</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資源依處理計畫與目標判定</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能力四步：判定、勝任、行動、評估</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範圍含派遣、駐點外包</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簽到表不等於有效性</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7.3 認知與 7.4 溝通</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認知三項：政策、貢獻、後果</a:t>
            </a:r>
            <a:endParaRPr lang="en-US" sz="2400" dirty="0"/>
          </a:p>
          <a:p>
            <a:pPr marL="228600" indent="-228600">
              <a:spcAft>
                <a:spcPts val="1600"/>
              </a:spcAft>
              <a:buSzPct val="100000"/>
              <a:buChar char="•"/>
            </a:pPr>
            <a:r>
              <a:rPr lang="en-US" sz="2400" dirty="0">
                <a:solidFill>
                  <a:schemeClr val="tx1"/>
                </a:solidFill>
              </a:rPr>
              <a:t>認知對象是所有人</a:t>
            </a:r>
            <a:endParaRPr lang="en-US" sz="2400" dirty="0"/>
          </a:p>
          <a:p>
            <a:pPr marL="228600" indent="-228600">
              <a:spcAft>
                <a:spcPts val="1600"/>
              </a:spcAft>
              <a:buSzPct val="100000"/>
              <a:buChar char="•"/>
            </a:pPr>
            <a:r>
              <a:rPr lang="en-US" sz="2400" dirty="0">
                <a:solidFill>
                  <a:schemeClr val="tx1"/>
                </a:solidFill>
              </a:rPr>
              <a:t>溝通四要素 what when whom how</a:t>
            </a:r>
            <a:endParaRPr lang="en-US" sz="2400" dirty="0"/>
          </a:p>
          <a:p>
            <a:pPr marL="228600" indent="-228600">
              <a:spcAft>
                <a:spcPts val="1600"/>
              </a:spcAft>
              <a:buSzPct val="100000"/>
              <a:buChar char="•"/>
            </a:pPr>
            <a:r>
              <a:rPr lang="en-US" sz="2400" dirty="0">
                <a:solidFill>
                  <a:schemeClr val="tx1"/>
                </a:solidFill>
              </a:rPr>
              <a:t>對象含當事人、主管機關、客戶</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7.5 文件化資訊與清單</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制訂更新：識別、格式、審核</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管制：可用、保護、版本、處置</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外部來源文件要追蹤</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標準要求清單＋附錄 A 清單</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稽核實務：第 7 章</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稽核員多在查流程時順查</a:t>
            </a:r>
            <a:endParaRPr lang="en-US" sz="2400" dirty="0"/>
          </a:p>
          <a:p>
            <a:pPr marL="228600" indent="-228600">
              <a:spcAft>
                <a:spcPts val="1600"/>
              </a:spcAft>
              <a:buSzPct val="100000"/>
              <a:buChar char="•"/>
            </a:pPr>
            <a:r>
              <a:rPr lang="en-US" sz="2400" dirty="0">
                <a:solidFill>
                  <a:schemeClr val="tx1"/>
                </a:solidFill>
              </a:rPr>
              <a:t>隨機訪談含派遣人員</a:t>
            </a:r>
            <a:endParaRPr lang="en-US" sz="2400" dirty="0"/>
          </a:p>
          <a:p>
            <a:pPr marL="228600" indent="-228600">
              <a:spcAft>
                <a:spcPts val="1600"/>
              </a:spcAft>
              <a:buSzPct val="100000"/>
              <a:buChar char="•"/>
            </a:pPr>
            <a:r>
              <a:rPr lang="en-US" sz="2400" dirty="0">
                <a:solidFill>
                  <a:schemeClr val="tx1"/>
                </a:solidFill>
              </a:rPr>
              <a:t>常見：只有簽到表無評估</a:t>
            </a:r>
            <a:endParaRPr lang="en-US" sz="2400" dirty="0"/>
          </a:p>
          <a:p>
            <a:pPr marL="228600" indent="-228600">
              <a:spcAft>
                <a:spcPts val="1600"/>
              </a:spcAft>
              <a:buSzPct val="100000"/>
              <a:buChar char="•"/>
            </a:pPr>
            <a:r>
              <a:rPr lang="en-US" sz="2400" dirty="0">
                <a:solidFill>
                  <a:schemeClr val="tx1"/>
                </a:solidFill>
              </a:rPr>
              <a:t>常見：請求紀錄全員可存取</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這裡要留證據</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07</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第8章 運作：運作控制、風險評鑑與處理、隱私衝擊評鑑</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條款：8.1、8.2、8.3、A.1.2.6　｜　建議時間：約 10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8.1 的證據是各隱私過程的日常紀錄，程度要足以確信依規劃執行</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第 8 章 運作：總覽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8.1 運作之規劃及控制</a:t>
            </a:r>
            <a:endParaRPr lang="en-US" sz="2400" dirty="0"/>
          </a:p>
          <a:p>
            <a:pPr marL="228600" indent="-228600">
              <a:spcAft>
                <a:spcPts val="1600"/>
              </a:spcAft>
              <a:buSzPct val="100000"/>
              <a:buChar char="•"/>
            </a:pPr>
            <a:r>
              <a:rPr lang="en-US" sz="2400" dirty="0">
                <a:solidFill>
                  <a:schemeClr val="tx1"/>
                </a:solidFill>
              </a:rPr>
              <a:t>8.2 定期與重大變更時評鑑</a:t>
            </a:r>
            <a:endParaRPr lang="en-US" sz="2400" dirty="0"/>
          </a:p>
          <a:p>
            <a:pPr marL="228600" indent="-228600">
              <a:spcAft>
                <a:spcPts val="1600"/>
              </a:spcAft>
              <a:buSzPct val="100000"/>
              <a:buChar char="•"/>
            </a:pPr>
            <a:r>
              <a:rPr lang="en-US" sz="2400" dirty="0">
                <a:solidFill>
                  <a:schemeClr val="tx1"/>
                </a:solidFill>
              </a:rPr>
              <a:t>8.3 實作處理計畫</a:t>
            </a:r>
            <a:endParaRPr lang="en-US" sz="2400" dirty="0"/>
          </a:p>
          <a:p>
            <a:pPr marL="228600" indent="-228600">
              <a:spcAft>
                <a:spcPts val="1600"/>
              </a:spcAft>
              <a:buSzPct val="100000"/>
              <a:buChar char="•"/>
            </a:pPr>
            <a:r>
              <a:rPr lang="en-US" sz="2400" dirty="0">
                <a:solidFill>
                  <a:schemeClr val="tx1"/>
                </a:solidFill>
              </a:rPr>
              <a:t>A.1.2.6 隱私衝擊評鑑</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8.1 運作之規劃及控制</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建立過程準則並依準則控制</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紀錄足以確信依規劃執行</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控制規劃變更、審查非預期變更</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外部提供的過程與服務要受控</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8.2 與 8.3</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8.2 規劃期間＋重大變更</a:t>
            </a:r>
            <a:endParaRPr lang="en-US" sz="2400" dirty="0"/>
          </a:p>
          <a:p>
            <a:pPr marL="228600" indent="-228600">
              <a:spcAft>
                <a:spcPts val="1600"/>
              </a:spcAft>
              <a:buSzPct val="100000"/>
              <a:buChar char="•"/>
            </a:pPr>
            <a:r>
              <a:rPr lang="en-US" sz="2400" dirty="0">
                <a:solidFill>
                  <a:schemeClr val="tx1"/>
                </a:solidFill>
              </a:rPr>
              <a:t>重大變更判斷標準要定義</a:t>
            </a:r>
            <a:endParaRPr lang="en-US" sz="2400" dirty="0"/>
          </a:p>
          <a:p>
            <a:pPr marL="228600" indent="-228600">
              <a:spcAft>
                <a:spcPts val="1600"/>
              </a:spcAft>
              <a:buSzPct val="100000"/>
              <a:buChar char="•"/>
            </a:pPr>
            <a:r>
              <a:rPr lang="en-US" sz="2400" dirty="0">
                <a:solidFill>
                  <a:schemeClr val="tx1"/>
                </a:solidFill>
              </a:rPr>
              <a:t>8.3 實作處理計畫並保存結果</a:t>
            </a:r>
            <a:endParaRPr lang="en-US" sz="2400" dirty="0"/>
          </a:p>
          <a:p>
            <a:pPr marL="228600" indent="-228600">
              <a:spcAft>
                <a:spcPts val="1600"/>
              </a:spcAft>
              <a:buSzPct val="100000"/>
              <a:buChar char="•"/>
            </a:pPr>
            <a:r>
              <a:rPr lang="en-US" sz="2400" dirty="0">
                <a:solidFill>
                  <a:schemeClr val="tx1"/>
                </a:solidFill>
              </a:rPr>
              <a:t>逾期須延期核准，SoA 同步</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A.1.2.6 PIA 與觸發條件</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控制者於新處理或變更時評估</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B.1.2.6：法律效力自動化決策</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B.1.2.6：大規模特殊類別 PII</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B.1.2.6：大規模系統性監控</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PIA 步驟、範本與案例</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門檻評估表八問</a:t>
            </a:r>
            <a:endParaRPr lang="en-US" sz="2400" dirty="0"/>
          </a:p>
          <a:p>
            <a:pPr marL="228600" indent="-228600">
              <a:spcAft>
                <a:spcPts val="1600"/>
              </a:spcAft>
              <a:buSzPct val="100000"/>
              <a:buChar char="•"/>
            </a:pPr>
            <a:r>
              <a:rPr lang="en-US" sz="2400" dirty="0">
                <a:solidFill>
                  <a:schemeClr val="tx1"/>
                </a:solidFill>
              </a:rPr>
              <a:t>九步驟：準備到定期審查</a:t>
            </a:r>
            <a:endParaRPr lang="en-US" sz="2400" dirty="0"/>
          </a:p>
          <a:p>
            <a:pPr marL="228600" indent="-228600">
              <a:spcAft>
                <a:spcPts val="1600"/>
              </a:spcAft>
              <a:buSzPct val="100000"/>
              <a:buChar char="•"/>
            </a:pPr>
            <a:r>
              <a:rPr lang="en-US" sz="2400" dirty="0">
                <a:solidFill>
                  <a:schemeClr val="tx1"/>
                </a:solidFill>
              </a:rPr>
              <a:t>範本：處理描述到核准追蹤</a:t>
            </a:r>
            <a:endParaRPr lang="en-US" sz="2400" dirty="0"/>
          </a:p>
          <a:p>
            <a:pPr marL="228600" indent="-228600">
              <a:spcAft>
                <a:spcPts val="1600"/>
              </a:spcAft>
              <a:buSzPct val="100000"/>
              <a:buChar char="•"/>
            </a:pPr>
            <a:r>
              <a:rPr lang="en-US" sz="2400" dirty="0">
                <a:solidFill>
                  <a:schemeClr val="tx1"/>
                </a:solidFill>
              </a:rPr>
              <a:t>案例：健身房人臉辨識</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委外雲端管控與稽核實務</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選商、簽約、履約、變更、終止</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雲端：資料所在地、次處理者</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稽核：專案清單對照 PIA 清單</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常見不符合與自我檢查</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08</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第9、10章 績效評估與改善：監督量測、內稽、管審與矯正措施</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條款：9.1、9.2、9.3、10.1、10.2　｜　建議時間：約 10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9.1 要判定量什麼、怎麼量、何時量、何時分析，並評估隱私績效與 PIMS 有效性</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第 9、10 章：績效評估與改善</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9.1 監督量測與隱私 KPI</a:t>
            </a:r>
            <a:endParaRPr lang="en-US" sz="2400" dirty="0"/>
          </a:p>
          <a:p>
            <a:pPr marL="228600" indent="-228600">
              <a:spcAft>
                <a:spcPts val="1600"/>
              </a:spcAft>
              <a:buSzPct val="100000"/>
              <a:buChar char="•"/>
            </a:pPr>
            <a:r>
              <a:rPr lang="en-US" sz="2400" dirty="0">
                <a:solidFill>
                  <a:schemeClr val="tx1"/>
                </a:solidFill>
              </a:rPr>
              <a:t>9.2 內部稽核與稽核方案</a:t>
            </a:r>
            <a:endParaRPr lang="en-US" sz="2400" dirty="0"/>
          </a:p>
          <a:p>
            <a:pPr marL="228600" indent="-228600">
              <a:spcAft>
                <a:spcPts val="1600"/>
              </a:spcAft>
              <a:buSzPct val="100000"/>
              <a:buChar char="•"/>
            </a:pPr>
            <a:r>
              <a:rPr lang="en-US" sz="2400" dirty="0">
                <a:solidFill>
                  <a:schemeClr val="tx1"/>
                </a:solidFill>
              </a:rPr>
              <a:t>9.3 管理審查輸入與結果</a:t>
            </a:r>
            <a:endParaRPr lang="en-US" sz="2400" dirty="0"/>
          </a:p>
          <a:p>
            <a:pPr marL="228600" indent="-228600">
              <a:spcAft>
                <a:spcPts val="1600"/>
              </a:spcAft>
              <a:buSzPct val="100000"/>
              <a:buChar char="•"/>
            </a:pPr>
            <a:r>
              <a:rPr lang="en-US" sz="2400" dirty="0">
                <a:solidFill>
                  <a:schemeClr val="tx1"/>
                </a:solidFill>
              </a:rPr>
              <a:t>10.1 持續改善、10.2 矯正措施</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9.1 監督量測與隱私 KPI</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判定量什麼、怎麼量</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判定何時量、何時分析</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DSAR、事故、訓練、PIA、供應商</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領先指標＋落後指標</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9.2 內部稽核</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準則：組織要求＋本標準要求</a:t>
            </a:r>
            <a:endParaRPr lang="en-US" sz="2400" dirty="0"/>
          </a:p>
          <a:p>
            <a:pPr marL="228600" indent="-228600">
              <a:spcAft>
                <a:spcPts val="1600"/>
              </a:spcAft>
              <a:buSzPct val="100000"/>
              <a:buChar char="•"/>
            </a:pPr>
            <a:r>
              <a:rPr lang="en-US" sz="2400" dirty="0">
                <a:solidFill>
                  <a:schemeClr val="tx1"/>
                </a:solidFill>
              </a:rPr>
              <a:t>方案：頻率、方法、責任、規劃、報告</a:t>
            </a:r>
            <a:endParaRPr lang="en-US" sz="2400" dirty="0"/>
          </a:p>
          <a:p>
            <a:pPr marL="228600" indent="-228600">
              <a:spcAft>
                <a:spcPts val="1600"/>
              </a:spcAft>
              <a:buSzPct val="100000"/>
              <a:buChar char="•"/>
            </a:pPr>
            <a:r>
              <a:rPr lang="en-US" sz="2400" dirty="0">
                <a:solidFill>
                  <a:schemeClr val="tx1"/>
                </a:solidFill>
              </a:rPr>
              <a:t>依重要性與先前結果調整</a:t>
            </a:r>
            <a:endParaRPr lang="en-US" sz="2400" dirty="0"/>
          </a:p>
          <a:p>
            <a:pPr marL="228600" indent="-228600">
              <a:spcAft>
                <a:spcPts val="1600"/>
              </a:spcAft>
              <a:buSzPct val="100000"/>
              <a:buChar char="•"/>
            </a:pPr>
            <a:r>
              <a:rPr lang="en-US" sz="2400" dirty="0">
                <a:solidFill>
                  <a:schemeClr val="tx1"/>
                </a:solidFill>
              </a:rPr>
              <a:t>客觀公正，結果報告管理階層</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9.3 管理審查</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輸入 a)–e)：前次決議到改善機會</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d) 績效趨勢三項</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結果：改善決策、PIMS 變更需要</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決議具體可追蹤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10.2 矯正措施與根因分析</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矯正是止血，矯正措施是根除</a:t>
            </a:r>
            <a:endParaRPr lang="en-US" sz="2400" dirty="0"/>
          </a:p>
          <a:p>
            <a:pPr marL="228600" indent="-228600">
              <a:spcAft>
                <a:spcPts val="1600"/>
              </a:spcAft>
              <a:buSzPct val="100000"/>
              <a:buChar char="•"/>
            </a:pPr>
            <a:r>
              <a:rPr lang="en-US" sz="2400" dirty="0">
                <a:solidFill>
                  <a:schemeClr val="tx1"/>
                </a:solidFill>
              </a:rPr>
              <a:t>5 Whys 不停在人員疏失</a:t>
            </a:r>
            <a:endParaRPr lang="en-US" sz="2400" dirty="0"/>
          </a:p>
          <a:p>
            <a:pPr marL="228600" indent="-228600">
              <a:spcAft>
                <a:spcPts val="1600"/>
              </a:spcAft>
              <a:buSzPct val="100000"/>
              <a:buChar char="•"/>
            </a:pPr>
            <a:r>
              <a:rPr lang="en-US" sz="2400" dirty="0">
                <a:solidFill>
                  <a:schemeClr val="tx1"/>
                </a:solidFill>
              </a:rPr>
              <a:t>魚骨圖六大面向</a:t>
            </a:r>
            <a:endParaRPr lang="en-US" sz="2400" dirty="0"/>
          </a:p>
          <a:p>
            <a:pPr marL="228600" indent="-228600">
              <a:spcAft>
                <a:spcPts val="1600"/>
              </a:spcAft>
              <a:buSzPct val="100000"/>
              <a:buChar char="•"/>
            </a:pPr>
            <a:r>
              <a:rPr lang="en-US" sz="2400" dirty="0">
                <a:solidFill>
                  <a:schemeClr val="tx1"/>
                </a:solidFill>
              </a:rPr>
              <a:t>水平展開與有效性確認</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這裡要留證據</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稽核實務：有效性查核</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方案是否動態調整</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內稽發現品質與獨立性</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內外稽發現比較</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不符合到管審的閉環追蹤</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09</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附錄A A.1.2 蒐集及處理的條件</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條款：A.1.2.2、A.1.2.3、A.1.2.4、A.1.2.5 等 8 項　｜　建議時間：約 12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A.1.2 的核心是「能證明」處理合法且目的明確正當</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A.1.2 蒐集及處理的條件總覽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控制目標：證明處理合法、目的正當</a:t>
            </a:r>
            <a:endParaRPr lang="en-US" sz="2400" dirty="0"/>
          </a:p>
          <a:p>
            <a:pPr marL="228600" indent="-228600">
              <a:spcAft>
                <a:spcPts val="1600"/>
              </a:spcAft>
              <a:buSzPct val="100000"/>
              <a:buChar char="•"/>
            </a:pPr>
            <a:r>
              <a:rPr lang="en-US" sz="2400" dirty="0">
                <a:solidFill>
                  <a:schemeClr val="tx1"/>
                </a:solidFill>
              </a:rPr>
              <a:t>8 項控制：A.1.2.2–A.1.2.9</a:t>
            </a:r>
            <a:endParaRPr lang="en-US" sz="2400" dirty="0"/>
          </a:p>
          <a:p>
            <a:pPr marL="228600" indent="-228600">
              <a:spcAft>
                <a:spcPts val="1600"/>
              </a:spcAft>
              <a:buSzPct val="100000"/>
              <a:buChar char="•"/>
            </a:pPr>
            <a:r>
              <a:rPr lang="en-US" sz="2400" dirty="0">
                <a:solidFill>
                  <a:schemeClr val="tx1"/>
                </a:solidFill>
              </a:rPr>
              <a:t>目的→合法基礎→同意→PIA</a:t>
            </a:r>
            <a:endParaRPr lang="en-US" sz="2400" dirty="0"/>
          </a:p>
          <a:p>
            <a:pPr marL="228600" indent="-228600">
              <a:spcAft>
                <a:spcPts val="1600"/>
              </a:spcAft>
              <a:buSzPct val="100000"/>
              <a:buChar char="•"/>
            </a:pPr>
            <a:r>
              <a:rPr lang="en-US" sz="2400" dirty="0">
                <a:solidFill>
                  <a:schemeClr val="tx1"/>
                </a:solidFill>
              </a:rPr>
              <a:t>契約、共同控制者、RoPA</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目的與合法基礎</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目的要具體，避免「其他合法用途」</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GDPR 六種合法基礎</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台灣：特定目的＋法定要件</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特殊類別／特種個資加強控制</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變更目的要重新檢視基礎</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同意：程序與紀錄</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是否、何時、如何取得同意</a:t>
            </a:r>
            <a:endParaRPr lang="en-US" sz="2400" dirty="0"/>
          </a:p>
          <a:p>
            <a:pPr marL="228600" indent="-228600">
              <a:spcAft>
                <a:spcPts val="1600"/>
              </a:spcAft>
              <a:buSzPct val="100000"/>
              <a:buChar char="•"/>
            </a:pPr>
            <a:r>
              <a:rPr lang="en-US" sz="2400" dirty="0">
                <a:solidFill>
                  <a:schemeClr val="tx1"/>
                </a:solidFill>
              </a:rPr>
              <a:t>自由、特定、明確不含糊</a:t>
            </a:r>
            <a:endParaRPr lang="en-US" sz="2400" dirty="0"/>
          </a:p>
          <a:p>
            <a:pPr marL="228600" indent="-228600">
              <a:spcAft>
                <a:spcPts val="1600"/>
              </a:spcAft>
              <a:buSzPct val="100000"/>
              <a:buChar char="•"/>
            </a:pPr>
            <a:r>
              <a:rPr lang="en-US" sz="2400" dirty="0">
                <a:solidFill>
                  <a:schemeClr val="tx1"/>
                </a:solidFill>
              </a:rPr>
              <a:t>不綑綁、兒童與研究另有要求</a:t>
            </a:r>
            <a:endParaRPr lang="en-US" sz="2400" dirty="0"/>
          </a:p>
          <a:p>
            <a:pPr marL="228600" indent="-228600">
              <a:spcAft>
                <a:spcPts val="1600"/>
              </a:spcAft>
              <a:buSzPct val="100000"/>
              <a:buChar char="•"/>
            </a:pPr>
            <a:r>
              <a:rPr lang="en-US" sz="2400" dirty="0">
                <a:solidFill>
                  <a:schemeClr val="tx1"/>
                </a:solidFill>
              </a:rPr>
              <a:t>紀錄：時間、身分、聲明版本</a:t>
            </a:r>
            <a:endParaRPr lang="en-US" sz="2400" dirty="0"/>
          </a:p>
          <a:p>
            <a:pPr marL="228600" indent="-228600">
              <a:spcAft>
                <a:spcPts val="1600"/>
              </a:spcAft>
              <a:buSzPct val="100000"/>
              <a:buChar char="•"/>
            </a:pPr>
            <a:r>
              <a:rPr lang="en-US" sz="2400" dirty="0">
                <a:solidFill>
                  <a:schemeClr val="tx1"/>
                </a:solidFill>
              </a:rPr>
              <a:t>紀錄只增不改，撤回也記錄</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PIA、處理者契約與共同控制者</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新處理或變更先做門檻評估</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高風險觸發完整 PIA</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處理者契約預設涵蓋表 A.2</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共同控制者協議寫清外洩責任</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RoPA 與稽核準備</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RoPA 欄位：目的、類別、接收者</a:t>
            </a:r>
            <a:endParaRPr lang="en-US" sz="2400" dirty="0"/>
          </a:p>
          <a:p>
            <a:pPr marL="228600" indent="-228600">
              <a:spcAft>
                <a:spcPts val="1600"/>
              </a:spcAft>
              <a:buSzPct val="100000"/>
              <a:buChar char="•"/>
            </a:pPr>
            <a:r>
              <a:rPr lang="en-US" sz="2400" dirty="0">
                <a:solidFill>
                  <a:schemeClr val="tx1"/>
                </a:solidFill>
              </a:rPr>
              <a:t>加上合法基礎、保存、PIA 編號</a:t>
            </a:r>
            <a:endParaRPr lang="en-US" sz="2400" dirty="0"/>
          </a:p>
          <a:p>
            <a:pPr marL="228600" indent="-228600">
              <a:spcAft>
                <a:spcPts val="1600"/>
              </a:spcAft>
              <a:buSzPct val="100000"/>
              <a:buChar char="•"/>
            </a:pPr>
            <a:r>
              <a:rPr lang="en-US" sz="2400" dirty="0">
                <a:solidFill>
                  <a:schemeClr val="tx1"/>
                </a:solidFill>
              </a:rPr>
              <a:t>指派 Owner，定期審查</a:t>
            </a:r>
            <a:endParaRPr lang="en-US" sz="2400" dirty="0"/>
          </a:p>
          <a:p>
            <a:pPr marL="228600" indent="-228600">
              <a:spcAft>
                <a:spcPts val="1600"/>
              </a:spcAft>
              <a:buSzPct val="100000"/>
              <a:buChar char="•"/>
            </a:pPr>
            <a:r>
              <a:rPr lang="en-US" sz="2400" dirty="0">
                <a:solidFill>
                  <a:schemeClr val="tx1"/>
                </a:solidFill>
              </a:rPr>
              <a:t>稽核員反向追蹤與時序檢查</a:t>
            </a:r>
            <a:endParaRPr lang="en-US" sz="2400" dirty="0"/>
          </a:p>
          <a:p>
            <a:pPr marL="228600" indent="-228600">
              <a:spcAft>
                <a:spcPts val="1600"/>
              </a:spcAft>
              <a:buSzPct val="100000"/>
              <a:buChar char="•"/>
            </a:pPr>
            <a:r>
              <a:rPr lang="en-US" sz="2400" dirty="0">
                <a:solidFill>
                  <a:schemeClr val="tx1"/>
                </a:solidFill>
              </a:rPr>
              <a:t>不符合事項：依據＋事實＋證據</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10</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附錄A A.1.3 對 PII 當事人的義務</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條款：A.1.3.2、A.1.3.3、A.1.3.4、A.1.3.5 等 10 項　｜　建議時間：約 12 分鐘</a:t>
            </a:r>
            <a:endParaRPr lang="en-US" sz="1800" dirty="0"/>
          </a:p>
        </p:txBody>
      </p:sp>
      <p:sp>
        <p:nvSpPr>
          <p:cNvPr id="5" name="arale-frame"/>
          <p:cNvSpPr/>
          <p:nvPr/>
        </p:nvSpPr>
        <p:spPr>
          <a:xfrm>
            <a:off x="8997696" y="1316736"/>
            <a:ext cx="2304288" cy="2304288"/>
          </a:xfrm>
          <a:prstGeom prst="roundRect">
            <a:avLst>
              <a:gd name="adj" fmla="val 7143"/>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DE7F1"/>
          </a:solidFill>
          <a:ln w="19050">
            <a:solidFill>
              <a:srgbClr val="E8559A"/>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A.1.3.2 先判定並文件化對當事人的法律、法規與營運義務，窗口方式要與蒐集方式一致</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A.1.3 對當事人的義務總覽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10 項控制：A.1.3.2–A.1.3.11</a:t>
            </a:r>
            <a:endParaRPr lang="en-US" sz="2400" dirty="0"/>
          </a:p>
          <a:p>
            <a:pPr marL="228600" indent="-228600">
              <a:spcAft>
                <a:spcPts val="1600"/>
              </a:spcAft>
              <a:buSzPct val="100000"/>
              <a:buChar char="•"/>
            </a:pPr>
            <a:r>
              <a:rPr lang="en-US" sz="2400" dirty="0">
                <a:solidFill>
                  <a:schemeClr val="tx1"/>
                </a:solidFill>
              </a:rPr>
              <a:t>總綱：義務登錄與聯絡窗口</a:t>
            </a:r>
            <a:endParaRPr lang="en-US" sz="2400" dirty="0"/>
          </a:p>
          <a:p>
            <a:pPr marL="228600" indent="-228600">
              <a:spcAft>
                <a:spcPts val="1600"/>
              </a:spcAft>
              <a:buSzPct val="100000"/>
              <a:buChar char="•"/>
            </a:pPr>
            <a:r>
              <a:rPr lang="en-US" sz="2400" dirty="0">
                <a:solidFill>
                  <a:schemeClr val="tx1"/>
                </a:solidFill>
              </a:rPr>
              <a:t>告知：內容、時機、易懂</a:t>
            </a:r>
            <a:endParaRPr lang="en-US" sz="2400" dirty="0"/>
          </a:p>
          <a:p>
            <a:pPr marL="228600" indent="-228600">
              <a:spcAft>
                <a:spcPts val="1600"/>
              </a:spcAft>
              <a:buSzPct val="100000"/>
              <a:buChar char="•"/>
            </a:pPr>
            <a:r>
              <a:rPr lang="en-US" sz="2400" dirty="0">
                <a:solidFill>
                  <a:schemeClr val="tx1"/>
                </a:solidFill>
              </a:rPr>
              <a:t>權利：撤回、拒絕、存取更正抹除</a:t>
            </a:r>
            <a:endParaRPr lang="en-US" sz="2400" dirty="0"/>
          </a:p>
          <a:p>
            <a:pPr marL="228600" indent="-228600">
              <a:spcAft>
                <a:spcPts val="1600"/>
              </a:spcAft>
              <a:buSzPct val="100000"/>
              <a:buChar char="•"/>
            </a:pPr>
            <a:r>
              <a:rPr lang="en-US" sz="2400" dirty="0">
                <a:solidFill>
                  <a:schemeClr val="tx1"/>
                </a:solidFill>
              </a:rPr>
              <a:t>複本、DSAR、自動化決策</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告知：隱私權聲明必備項目</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目的、合法基礎、控制者聯絡方式</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來源、接收者、傳輸、保存期限</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權利行使、撤回、申訴方式</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分層告知、蒐集當下提供</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目的變更時提供更新資訊</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撤回、拒絕與通知第三方</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撤回管道與取得管道一致</a:t>
            </a:r>
            <a:endParaRPr lang="en-US" sz="2400" dirty="0"/>
          </a:p>
          <a:p>
            <a:pPr marL="228600" indent="-228600">
              <a:spcAft>
                <a:spcPts val="1600"/>
              </a:spcAft>
              <a:buSzPct val="100000"/>
              <a:buChar char="•"/>
            </a:pPr>
            <a:r>
              <a:rPr lang="en-US" sz="2400" dirty="0">
                <a:solidFill>
                  <a:schemeClr val="tx1"/>
                </a:solidFill>
              </a:rPr>
              <a:t>撤回與拒絕都要留紀錄</a:t>
            </a:r>
            <a:endParaRPr lang="en-US" sz="2400" dirty="0"/>
          </a:p>
          <a:p>
            <a:pPr marL="228600" indent="-228600">
              <a:spcAft>
                <a:spcPts val="1600"/>
              </a:spcAft>
              <a:buSzPct val="100000"/>
              <a:buChar char="•"/>
            </a:pPr>
            <a:r>
              <a:rPr lang="en-US" sz="2400" dirty="0">
                <a:solidFill>
                  <a:schemeClr val="tx1"/>
                </a:solidFill>
              </a:rPr>
              <a:t>拒絕行銷名單作為共同閘門</a:t>
            </a:r>
            <a:endParaRPr lang="en-US" sz="2400" dirty="0"/>
          </a:p>
          <a:p>
            <a:pPr marL="228600" indent="-228600">
              <a:spcAft>
                <a:spcPts val="1600"/>
              </a:spcAft>
              <a:buSzPct val="100000"/>
              <a:buChar char="•"/>
            </a:pPr>
            <a:r>
              <a:rPr lang="en-US" sz="2400" dirty="0">
                <a:solidFill>
                  <a:schemeClr val="tx1"/>
                </a:solidFill>
              </a:rPr>
              <a:t>更正刪除要通知第三方</a:t>
            </a:r>
            <a:endParaRPr lang="en-US" sz="2400" dirty="0"/>
          </a:p>
          <a:p>
            <a:pPr marL="228600" indent="-228600">
              <a:spcAft>
                <a:spcPts val="1600"/>
              </a:spcAft>
              <a:buSzPct val="100000"/>
              <a:buChar char="•"/>
            </a:pPr>
            <a:r>
              <a:rPr lang="en-US" sz="2400" dirty="0">
                <a:solidFill>
                  <a:schemeClr val="tx1"/>
                </a:solidFill>
              </a:rPr>
              <a:t>監督第三方接收確認</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DSAR 處理流程</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受理、身分驗證、分類</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資料搜尋含處理者端</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法律評估與部分准許</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安全回覆、第三方通知</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登錄表追蹤時限與 KPI</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自動化決策與稽核準備</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識別完全自動化且重大影響決策</a:t>
            </a:r>
            <a:endParaRPr lang="en-US" sz="2400" dirty="0"/>
          </a:p>
          <a:p>
            <a:pPr marL="228600" indent="-228600">
              <a:spcAft>
                <a:spcPts val="1600"/>
              </a:spcAft>
              <a:buSzPct val="100000"/>
              <a:buChar char="•"/>
            </a:pPr>
            <a:r>
              <a:rPr lang="en-US" sz="2400" dirty="0">
                <a:solidFill>
                  <a:schemeClr val="tx1"/>
                </a:solidFill>
              </a:rPr>
              <a:t>告知、反對、人工介入</a:t>
            </a:r>
            <a:endParaRPr lang="en-US" sz="2400" dirty="0"/>
          </a:p>
          <a:p>
            <a:pPr marL="228600" indent="-228600">
              <a:spcAft>
                <a:spcPts val="1600"/>
              </a:spcAft>
              <a:buSzPct val="100000"/>
              <a:buChar char="•"/>
            </a:pPr>
            <a:r>
              <a:rPr lang="en-US" sz="2400" dirty="0">
                <a:solidFill>
                  <a:schemeClr val="tx1"/>
                </a:solidFill>
              </a:rPr>
              <a:t>建立自動化決策清冊</a:t>
            </a:r>
            <a:endParaRPr lang="en-US" sz="2400" dirty="0"/>
          </a:p>
          <a:p>
            <a:pPr marL="228600" indent="-228600">
              <a:spcAft>
                <a:spcPts val="1600"/>
              </a:spcAft>
              <a:buSzPct val="100000"/>
              <a:buChar char="•"/>
            </a:pPr>
            <a:r>
              <a:rPr lang="en-US" sz="2400" dirty="0">
                <a:solidFill>
                  <a:schemeClr val="tx1"/>
                </a:solidFill>
              </a:rPr>
              <a:t>稽核：DSAR 逾期與第三方通知</a:t>
            </a:r>
            <a:endParaRPr lang="en-US" sz="2400" dirty="0"/>
          </a:p>
          <a:p>
            <a:pPr marL="228600" indent="-228600">
              <a:spcAft>
                <a:spcPts val="1600"/>
              </a:spcAft>
              <a:buSzPct val="100000"/>
              <a:buChar char="•"/>
            </a:pPr>
            <a:r>
              <a:rPr lang="en-US" sz="2400" dirty="0">
                <a:solidFill>
                  <a:schemeClr val="tx1"/>
                </a:solidFill>
              </a:rPr>
              <a:t>不符合事項：依據＋事實＋證據</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這裡要留證據</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11</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附錄A A.1.4 隱私設計與預設、A.1.5 分享移轉與揭露</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條款：A.1.4.2、A.1.4.3、A.1.4.4、A.1.4.5 等 13 項　｜　建議時間：約 12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A.1.4 以「目的所必要」為核心，選項預設停用、揭露保存存取預設最小</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A.1.4 與 A.1.5 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A.1.4 隱私設計與預設 9 項</a:t>
            </a:r>
            <a:endParaRPr lang="en-US" sz="2400" dirty="0"/>
          </a:p>
          <a:p>
            <a:pPr marL="228600" indent="-228600">
              <a:spcAft>
                <a:spcPts val="1600"/>
              </a:spcAft>
              <a:buSzPct val="100000"/>
              <a:buChar char="•"/>
            </a:pPr>
            <a:r>
              <a:rPr lang="en-US" sz="2400" dirty="0">
                <a:solidFill>
                  <a:schemeClr val="tx1"/>
                </a:solidFill>
              </a:rPr>
              <a:t>A.1.5 分享移轉揭露 4 項</a:t>
            </a:r>
            <a:endParaRPr lang="en-US" sz="2400" dirty="0"/>
          </a:p>
          <a:p>
            <a:pPr marL="228600" indent="-228600">
              <a:spcAft>
                <a:spcPts val="1600"/>
              </a:spcAft>
              <a:buSzPct val="100000"/>
              <a:buChar char="•"/>
            </a:pPr>
            <a:r>
              <a:rPr lang="en-US" sz="2400" dirty="0">
                <a:solidFill>
                  <a:schemeClr val="tx1"/>
                </a:solidFill>
              </a:rPr>
              <a:t>核心：限制於目的所必要</a:t>
            </a:r>
            <a:endParaRPr lang="en-US" sz="2400" dirty="0"/>
          </a:p>
          <a:p>
            <a:pPr marL="228600" indent="-228600">
              <a:spcAft>
                <a:spcPts val="1600"/>
              </a:spcAft>
              <a:buSzPct val="100000"/>
              <a:buChar char="•"/>
            </a:pPr>
            <a:r>
              <a:rPr lang="en-US" sz="2400" dirty="0">
                <a:solidFill>
                  <a:schemeClr val="tx1"/>
                </a:solidFill>
              </a:rPr>
              <a:t>以資料生命週期串接管理</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限制蒐集、限制處理與正確性</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欄位必要性審查</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日誌也是間接蒐集</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選項預設停用</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揭露、保存、存取預設最小</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正確性機制涵蓋生命週期</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最小化目標與去識別化</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定義最小化目標與機制</a:t>
            </a:r>
            <a:endParaRPr lang="en-US" sz="2400" dirty="0"/>
          </a:p>
          <a:p>
            <a:pPr marL="228600" indent="-228600">
              <a:spcAft>
                <a:spcPts val="1600"/>
              </a:spcAft>
              <a:buSzPct val="100000"/>
              <a:buChar char="•"/>
            </a:pPr>
            <a:r>
              <a:rPr lang="en-US" sz="2400" dirty="0">
                <a:solidFill>
                  <a:schemeClr val="tx1"/>
                </a:solidFill>
              </a:rPr>
              <a:t>假名化仍屬可識別資料</a:t>
            </a:r>
            <a:endParaRPr lang="en-US" sz="2400" dirty="0"/>
          </a:p>
          <a:p>
            <a:pPr marL="228600" indent="-228600">
              <a:spcAft>
                <a:spcPts val="1600"/>
              </a:spcAft>
              <a:buSzPct val="100000"/>
              <a:buChar char="•"/>
            </a:pPr>
            <a:r>
              <a:rPr lang="en-US" sz="2400" dirty="0">
                <a:solidFill>
                  <a:schemeClr val="tx1"/>
                </a:solidFill>
              </a:rPr>
              <a:t>匿名化需評估再識別風險</a:t>
            </a:r>
            <a:endParaRPr lang="en-US" sz="2400" dirty="0"/>
          </a:p>
          <a:p>
            <a:pPr marL="228600" indent="-228600">
              <a:spcAft>
                <a:spcPts val="1600"/>
              </a:spcAft>
              <a:buSzPct val="100000"/>
              <a:buChar char="•"/>
            </a:pPr>
            <a:r>
              <a:rPr lang="en-US" sz="2400" dirty="0">
                <a:solidFill>
                  <a:schemeClr val="tx1"/>
                </a:solidFill>
              </a:rPr>
              <a:t>遮罩、泛化、隨機化各有用途</a:t>
            </a:r>
            <a:endParaRPr lang="en-US" sz="2400" dirty="0"/>
          </a:p>
          <a:p>
            <a:pPr marL="228600" indent="-228600">
              <a:spcAft>
                <a:spcPts val="1600"/>
              </a:spcAft>
              <a:buSzPct val="100000"/>
              <a:buChar char="•"/>
            </a:pPr>
            <a:r>
              <a:rPr lang="en-US" sz="2400" dirty="0">
                <a:solidFill>
                  <a:schemeClr val="tx1"/>
                </a:solidFill>
              </a:rPr>
              <a:t>參考 ISO/IEC 20889</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暫存檔、保存與處置</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暫存檔限期清除並定期核對</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保存期限表含法源與起算點</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法令營運衝突以風險決策</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依媒體特性選擇處置</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取得銷毀證明</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傳輸控制與跨境移轉</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傳輸確保到達正確接收者</a:t>
            </a:r>
            <a:endParaRPr lang="en-US" sz="2400" dirty="0"/>
          </a:p>
          <a:p>
            <a:pPr marL="228600" indent="-228600">
              <a:spcAft>
                <a:spcPts val="1600"/>
              </a:spcAft>
              <a:buSzPct val="100000"/>
              <a:buChar char="•"/>
            </a:pPr>
            <a:r>
              <a:rPr lang="en-US" sz="2400" dirty="0">
                <a:solidFill>
                  <a:schemeClr val="tx1"/>
                </a:solidFill>
              </a:rPr>
              <a:t>授權人員、加密、稽核日誌</a:t>
            </a:r>
            <a:endParaRPr lang="en-US" sz="2400" dirty="0"/>
          </a:p>
          <a:p>
            <a:pPr marL="228600" indent="-228600">
              <a:spcAft>
                <a:spcPts val="1600"/>
              </a:spcAft>
              <a:buSzPct val="100000"/>
              <a:buChar char="•"/>
            </a:pPr>
            <a:r>
              <a:rPr lang="en-US" sz="2400" dirty="0">
                <a:solidFill>
                  <a:schemeClr val="tx1"/>
                </a:solidFill>
              </a:rPr>
              <a:t>移轉基礎：適足性、SCC、BCR</a:t>
            </a:r>
            <a:endParaRPr lang="en-US" sz="2400" dirty="0"/>
          </a:p>
          <a:p>
            <a:pPr marL="228600" indent="-228600">
              <a:spcAft>
                <a:spcPts val="1600"/>
              </a:spcAft>
              <a:buSzPct val="100000"/>
              <a:buChar char="•"/>
            </a:pPr>
            <a:r>
              <a:rPr lang="en-US" sz="2400" dirty="0">
                <a:solidFill>
                  <a:schemeClr val="tx1"/>
                </a:solidFill>
              </a:rPr>
              <a:t>台灣個資法第 21 條限制</a:t>
            </a:r>
            <a:endParaRPr lang="en-US" sz="2400" dirty="0"/>
          </a:p>
          <a:p>
            <a:pPr marL="228600" indent="-228600">
              <a:spcAft>
                <a:spcPts val="1600"/>
              </a:spcAft>
              <a:buSzPct val="100000"/>
              <a:buChar char="•"/>
            </a:pPr>
            <a:r>
              <a:rPr lang="en-US" sz="2400" dirty="0">
                <a:solidFill>
                  <a:schemeClr val="tx1"/>
                </a:solidFill>
              </a:rPr>
              <a:t>國家清單含次處理者</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傳輸揭露紀錄與稽核準備</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傳輸紀錄支援當事人請求</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紀錄也要最小化並訂期限</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揭露：什麼、給誰、何時</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記錄揭露來源與授權來源</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現場查過期資料與共用槽</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12</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附錄 A 表 A.2：PII 處理者控制措施</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條款：A.2.2.2、A.2.2.3、A.2.2.4、A.2.2.5 等 18 項　｜　建議時間：約 12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處理者依客戶書面指令處理 PII，適用表 A.2 共 18 項，角色需依服務分別判定</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PII 處理者與表 A.2 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處理者：代表客戶、依指令處理 PII</a:t>
            </a:r>
            <a:endParaRPr lang="en-US" sz="2400" dirty="0"/>
          </a:p>
          <a:p>
            <a:pPr marL="228600" indent="-228600">
              <a:spcAft>
                <a:spcPts val="1600"/>
              </a:spcAft>
              <a:buSzPct val="100000"/>
              <a:buChar char="•"/>
            </a:pPr>
            <a:r>
              <a:rPr lang="en-US" sz="2400" dirty="0">
                <a:solidFill>
                  <a:schemeClr val="tx1"/>
                </a:solidFill>
              </a:rPr>
              <a:t>4.1 角色要依服務分別判定</a:t>
            </a:r>
            <a:endParaRPr lang="en-US" sz="2400" dirty="0"/>
          </a:p>
          <a:p>
            <a:pPr marL="228600" indent="-228600">
              <a:spcAft>
                <a:spcPts val="1600"/>
              </a:spcAft>
              <a:buSzPct val="100000"/>
              <a:buChar char="•"/>
            </a:pPr>
            <a:r>
              <a:rPr lang="en-US" sz="2400" dirty="0">
                <a:solidFill>
                  <a:schemeClr val="tx1"/>
                </a:solidFill>
              </a:rPr>
              <a:t>表 A.2 共 18 項，分四個控制目標</a:t>
            </a:r>
            <a:endParaRPr lang="en-US" sz="2400" dirty="0"/>
          </a:p>
          <a:p>
            <a:pPr marL="228600" indent="-228600">
              <a:spcAft>
                <a:spcPts val="1600"/>
              </a:spcAft>
              <a:buSzPct val="100000"/>
              <a:buChar char="•"/>
            </a:pPr>
            <a:r>
              <a:rPr lang="en-US" sz="2400" dirty="0">
                <a:solidFill>
                  <a:schemeClr val="tx1"/>
                </a:solidFill>
              </a:rPr>
              <a:t>另適用表 A.3 共通安全控制</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A.2.2 合約、目的與紀錄</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A.2.2.2 DPA 寫明協助角色</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A.2.2.3 只依書面指令目的</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A.2.2.4 禁止行銷廣告使用</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A.2.2.5 違法指令要通知</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A.2.2.6–7 保證資訊與處理紀錄</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A.2.3–A.2.4 協助與處置</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A.2.3.2 提供客戶回應當事人的工具</a:t>
            </a:r>
            <a:endParaRPr lang="en-US" sz="2400" dirty="0"/>
          </a:p>
          <a:p>
            <a:pPr marL="228600" indent="-228600">
              <a:spcAft>
                <a:spcPts val="1600"/>
              </a:spcAft>
              <a:buSzPct val="100000"/>
              <a:buChar char="•"/>
            </a:pPr>
            <a:r>
              <a:rPr lang="en-US" sz="2400" dirty="0">
                <a:solidFill>
                  <a:schemeClr val="tx1"/>
                </a:solidFill>
              </a:rPr>
              <a:t>A.2.4.2 暫存檔依期限清除並查證</a:t>
            </a:r>
            <a:endParaRPr lang="en-US" sz="2400" dirty="0"/>
          </a:p>
          <a:p>
            <a:pPr marL="228600" indent="-228600">
              <a:spcAft>
                <a:spcPts val="1600"/>
              </a:spcAft>
              <a:buSzPct val="100000"/>
              <a:buChar char="•"/>
            </a:pPr>
            <a:r>
              <a:rPr lang="en-US" sz="2400" dirty="0">
                <a:solidFill>
                  <a:schemeClr val="tx1"/>
                </a:solidFill>
              </a:rPr>
              <a:t>A.2.4.3 解約安全歸還、移轉、刪除</a:t>
            </a:r>
            <a:endParaRPr lang="en-US" sz="2400" dirty="0"/>
          </a:p>
          <a:p>
            <a:pPr marL="228600" indent="-228600">
              <a:spcAft>
                <a:spcPts val="1600"/>
              </a:spcAft>
              <a:buSzPct val="100000"/>
              <a:buChar char="•"/>
            </a:pPr>
            <a:r>
              <a:rPr lang="en-US" sz="2400" dirty="0">
                <a:solidFill>
                  <a:schemeClr val="tx1"/>
                </a:solidFill>
              </a:rPr>
              <a:t>備份與分包商不能漏</a:t>
            </a:r>
            <a:endParaRPr lang="en-US" sz="2400" dirty="0"/>
          </a:p>
          <a:p>
            <a:pPr marL="228600" indent="-228600">
              <a:spcAft>
                <a:spcPts val="1600"/>
              </a:spcAft>
              <a:buSzPct val="100000"/>
              <a:buChar char="•"/>
            </a:pPr>
            <a:r>
              <a:rPr lang="en-US" sz="2400" dirty="0">
                <a:solidFill>
                  <a:schemeClr val="tx1"/>
                </a:solidFill>
              </a:rPr>
              <a:t>A.2.4.4 傳輸送達正確對象</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A.2.5 跨境、揭露與調閱</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A.2.5.2 跨境依據與變更事先通知</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A.2.5.3 國家清單含分包商所在國</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A.2.5.4 揭露紀錄含授權來源</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A.2.5.5–6 調閱請求通知與把關</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A.2.5.7–A.2.5.9 分包商管理</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使用前揭露名稱、國家、義務方式</a:t>
            </a:r>
            <a:endParaRPr lang="en-US" sz="2400" dirty="0"/>
          </a:p>
          <a:p>
            <a:pPr marL="228600" indent="-228600">
              <a:spcAft>
                <a:spcPts val="1600"/>
              </a:spcAft>
              <a:buSzPct val="100000"/>
              <a:buChar char="•"/>
            </a:pPr>
            <a:r>
              <a:rPr lang="en-US" sz="2400" dirty="0">
                <a:solidFill>
                  <a:schemeClr val="tx1"/>
                </a:solidFill>
              </a:rPr>
              <a:t>依客戶契約取得書面授權</a:t>
            </a:r>
            <a:endParaRPr lang="en-US" sz="2400" dirty="0"/>
          </a:p>
          <a:p>
            <a:pPr marL="228600" indent="-228600">
              <a:spcAft>
                <a:spcPts val="1600"/>
              </a:spcAft>
              <a:buSzPct val="100000"/>
              <a:buChar char="•"/>
            </a:pPr>
            <a:r>
              <a:rPr lang="en-US" sz="2400" dirty="0">
                <a:solidFill>
                  <a:schemeClr val="tx1"/>
                </a:solidFill>
              </a:rPr>
              <a:t>分包契約要求表 A.2 控制</a:t>
            </a:r>
            <a:endParaRPr lang="en-US" sz="2400" dirty="0"/>
          </a:p>
          <a:p>
            <a:pPr marL="228600" indent="-228600">
              <a:spcAft>
                <a:spcPts val="1600"/>
              </a:spcAft>
              <a:buSzPct val="100000"/>
              <a:buChar char="•"/>
            </a:pPr>
            <a:r>
              <a:rPr lang="en-US" sz="2400" dirty="0">
                <a:solidFill>
                  <a:schemeClr val="tx1"/>
                </a:solidFill>
              </a:rPr>
              <a:t>排除項目需說明理由</a:t>
            </a:r>
            <a:endParaRPr lang="en-US" sz="2400" dirty="0"/>
          </a:p>
          <a:p>
            <a:pPr marL="228600" indent="-228600">
              <a:spcAft>
                <a:spcPts val="1600"/>
              </a:spcAft>
              <a:buSzPct val="100000"/>
              <a:buChar char="•"/>
            </a:pPr>
            <a:r>
              <a:rPr lang="en-US" sz="2400" dirty="0">
                <a:solidFill>
                  <a:schemeClr val="tx1"/>
                </a:solidFill>
              </a:rPr>
              <a:t>變更前通知，客戶可反對</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這裡要留證據</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稽核重點與不符合範例</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從合約往下追蹤的稽核路徑</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分包商變更未通知客戶</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處置證明未涵蓋備份</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國家清單漏列海外日誌</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第一線口頭揭露給來電者</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13</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附錄 A 表 A.3：PII 控制者與處理者共通安全控制措施</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條款：A.3.3、A.3.4、A.3.5、A.3.6 等 30 項　｜　建議時間：約 15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表 A.3 共 29 項，控制者與處理者都適用，名稱多可對應 27001:2022 附錄 A，但限定 PII 處理並附 B.3 指引</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表 A.3 共通安全控制總覽</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控制者與處理者都適用</a:t>
            </a:r>
            <a:endParaRPr lang="en-US" sz="2400" dirty="0"/>
          </a:p>
          <a:p>
            <a:pPr marL="228600" indent="-228600">
              <a:spcAft>
                <a:spcPts val="1600"/>
              </a:spcAft>
              <a:buSzPct val="100000"/>
              <a:buChar char="•"/>
            </a:pPr>
            <a:r>
              <a:rPr lang="en-US" sz="2400" dirty="0">
                <a:solidFill>
                  <a:schemeClr val="tx1"/>
                </a:solidFill>
              </a:rPr>
              <a:t>29 項：A.3.3–A.3.31</a:t>
            </a:r>
            <a:endParaRPr lang="en-US" sz="2400" dirty="0"/>
          </a:p>
          <a:p>
            <a:pPr marL="228600" indent="-228600">
              <a:spcAft>
                <a:spcPts val="1600"/>
              </a:spcAft>
              <a:buSzPct val="100000"/>
              <a:buChar char="•"/>
            </a:pPr>
            <a:r>
              <a:rPr lang="en-US" sz="2400" dirty="0">
                <a:solidFill>
                  <a:schemeClr val="tx1"/>
                </a:solidFill>
              </a:rPr>
              <a:t>名稱多對應 27001:2022 附錄 A</a:t>
            </a:r>
            <a:endParaRPr lang="en-US" sz="2400" dirty="0"/>
          </a:p>
          <a:p>
            <a:pPr marL="228600" indent="-228600">
              <a:spcAft>
                <a:spcPts val="1600"/>
              </a:spcAft>
              <a:buSzPct val="100000"/>
              <a:buChar char="•"/>
            </a:pPr>
            <a:r>
              <a:rPr lang="en-US" sz="2400" dirty="0">
                <a:solidFill>
                  <a:schemeClr val="tx1"/>
                </a:solidFill>
              </a:rPr>
              <a:t>每項限定 PII 處理並附 B.3 指引</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資訊安全方案：沒列入的去哪</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6.1.3 c) 識別並文件化資訊安全方案</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可以是 27001 ISMS</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範圍要涵蓋 PIMS 範圍</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資料遮罩、資訊刪除、DLP 建議明列</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政策、存取、供應者重點</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A.3.4 指引即 DPO 職能</a:t>
            </a:r>
            <a:endParaRPr lang="en-US" sz="2400" dirty="0"/>
          </a:p>
          <a:p>
            <a:pPr marL="228600" indent="-228600">
              <a:spcAft>
                <a:spcPts val="1600"/>
              </a:spcAft>
              <a:buSzPct val="100000"/>
              <a:buChar char="•"/>
            </a:pPr>
            <a:r>
              <a:rPr lang="en-US" sz="2400" dirty="0">
                <a:solidFill>
                  <a:schemeClr val="tx1"/>
                </a:solidFill>
              </a:rPr>
              <a:t>A.3.5 分級明確含 PII</a:t>
            </a:r>
            <a:endParaRPr lang="en-US" sz="2400" dirty="0"/>
          </a:p>
          <a:p>
            <a:pPr marL="228600" indent="-228600">
              <a:spcAft>
                <a:spcPts val="1600"/>
              </a:spcAft>
              <a:buSzPct val="100000"/>
              <a:buChar char="•"/>
            </a:pPr>
            <a:r>
              <a:rPr lang="en-US" sz="2400" dirty="0">
                <a:solidFill>
                  <a:schemeClr val="tx1"/>
                </a:solidFill>
              </a:rPr>
              <a:t>A.3.8 停用 ID 不補發</a:t>
            </a:r>
            <a:endParaRPr lang="en-US" sz="2400" dirty="0"/>
          </a:p>
          <a:p>
            <a:pPr marL="228600" indent="-228600">
              <a:spcAft>
                <a:spcPts val="1600"/>
              </a:spcAft>
              <a:buSzPct val="100000"/>
              <a:buChar char="•"/>
            </a:pPr>
            <a:r>
              <a:rPr lang="en-US" sz="2400" dirty="0">
                <a:solidFill>
                  <a:schemeClr val="tx1"/>
                </a:solidFill>
              </a:rPr>
              <a:t>A.3.9 個別 ID、定期覆核</a:t>
            </a:r>
            <a:endParaRPr lang="en-US" sz="2400" dirty="0"/>
          </a:p>
          <a:p>
            <a:pPr marL="228600" indent="-228600">
              <a:spcAft>
                <a:spcPts val="1600"/>
              </a:spcAft>
              <a:buSzPct val="100000"/>
              <a:buChar char="•"/>
            </a:pPr>
            <a:r>
              <a:rPr lang="en-US" sz="2400" dirty="0">
                <a:solidFill>
                  <a:schemeClr val="tx1"/>
                </a:solidFill>
              </a:rPr>
              <a:t>A.3.10 供應者最低措施與獨立稽核</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個資外洩事故應變</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事件不一定觸發外洩審查</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判定、圍堵、評估、通知、結案</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控制者通知主管機關與當事人</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處理者無不當延遲通知客戶</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紀錄欄位足供監理與鑑識</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紀錄、備份、日誌、端點</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A.3.14 舊版政策也要保存</a:t>
            </a:r>
            <a:endParaRPr lang="en-US" sz="2400" dirty="0"/>
          </a:p>
          <a:p>
            <a:pPr marL="228600" indent="-228600">
              <a:spcAft>
                <a:spcPts val="1600"/>
              </a:spcAft>
              <a:buSzPct val="100000"/>
              <a:buChar char="•"/>
            </a:pPr>
            <a:r>
              <a:rPr lang="en-US" sz="2400" dirty="0">
                <a:solidFill>
                  <a:schemeClr val="tx1"/>
                </a:solidFill>
              </a:rPr>
              <a:t>A.3.21 可能含 PII 的設備視同含 PII</a:t>
            </a:r>
            <a:endParaRPr lang="en-US" sz="2400" dirty="0"/>
          </a:p>
          <a:p>
            <a:pPr marL="228600" indent="-228600">
              <a:spcAft>
                <a:spcPts val="1600"/>
              </a:spcAft>
              <a:buSzPct val="100000"/>
              <a:buChar char="•"/>
            </a:pPr>
            <a:r>
              <a:rPr lang="en-US" sz="2400" dirty="0">
                <a:solidFill>
                  <a:schemeClr val="tx1"/>
                </a:solidFill>
              </a:rPr>
              <a:t>A.3.24 PII 回復日誌</a:t>
            </a:r>
            <a:endParaRPr lang="en-US" sz="2400" dirty="0"/>
          </a:p>
          <a:p>
            <a:pPr marL="228600" indent="-228600">
              <a:spcAft>
                <a:spcPts val="1600"/>
              </a:spcAft>
              <a:buSzPct val="100000"/>
              <a:buChar char="•"/>
            </a:pPr>
            <a:r>
              <a:rPr lang="en-US" sz="2400" dirty="0">
                <a:solidFill>
                  <a:schemeClr val="tx1"/>
                </a:solidFill>
              </a:rPr>
              <a:t>A.3.25 記錄存取了哪位當事人</a:t>
            </a:r>
            <a:endParaRPr lang="en-US" sz="2400" dirty="0"/>
          </a:p>
          <a:p>
            <a:pPr marL="228600" indent="-228600">
              <a:spcAft>
                <a:spcPts val="1600"/>
              </a:spcAft>
              <a:buSzPct val="100000"/>
              <a:buChar char="•"/>
            </a:pPr>
            <a:r>
              <a:rPr lang="en-US" sz="2400" dirty="0">
                <a:solidFill>
                  <a:schemeClr val="tx1"/>
                </a:solidFill>
              </a:rPr>
              <a:t>A.3.26 敏感欄位加密</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開發測試與稽核實務</a:t>
            </a:r>
            <a:endParaRPr lang="en-US" sz="3000" dirty="0"/>
          </a:p>
        </p:txBody>
      </p:sp>
      <p:sp>
        <p:nvSpPr>
          <p:cNvPr id="3" name="card-0"/>
          <p:cNvSpPr/>
          <p:nvPr/>
        </p:nvSpPr>
        <p:spPr>
          <a:xfrm>
            <a:off x="548640" y="1371600"/>
            <a:ext cx="5394960" cy="2011680"/>
          </a:xfrm>
          <a:prstGeom prst="roundRect">
            <a:avLst>
              <a:gd name="adj" fmla="val 5455"/>
            </a:avLst>
          </a:prstGeom>
          <a:solidFill>
            <a:srgbClr val="EEF2FA"/>
          </a:solidFill>
          <a:ln w="12700">
            <a:solidFill>
              <a:srgbClr val="EEF2FA"/>
            </a:solidFill>
            <a:prstDash val="solid"/>
          </a:ln>
        </p:spPr>
      </p:sp>
      <p:sp>
        <p:nvSpPr>
          <p:cNvPr id="4" name="num-0"/>
          <p:cNvSpPr/>
          <p:nvPr/>
        </p:nvSpPr>
        <p:spPr>
          <a:xfrm>
            <a:off x="777240" y="210312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SDLC 隱私查核點與預設最小化</a:t>
            </a:r>
            <a:endParaRPr lang="en-US" sz="2000" dirty="0"/>
          </a:p>
        </p:txBody>
      </p:sp>
      <p:sp>
        <p:nvSpPr>
          <p:cNvPr id="7" name="card-1"/>
          <p:cNvSpPr/>
          <p:nvPr/>
        </p:nvSpPr>
        <p:spPr>
          <a:xfrm>
            <a:off x="6217920" y="1371600"/>
            <a:ext cx="5394960" cy="2011680"/>
          </a:xfrm>
          <a:prstGeom prst="roundRect">
            <a:avLst>
              <a:gd name="adj" fmla="val 5455"/>
            </a:avLst>
          </a:prstGeom>
          <a:solidFill>
            <a:srgbClr val="EEF2FA"/>
          </a:solidFill>
          <a:ln w="12700">
            <a:solidFill>
              <a:srgbClr val="EEF2FA"/>
            </a:solidFill>
            <a:prstDash val="solid"/>
          </a:ln>
        </p:spPr>
      </p:sp>
      <p:sp>
        <p:nvSpPr>
          <p:cNvPr id="8" name="num-1"/>
          <p:cNvSpPr/>
          <p:nvPr/>
        </p:nvSpPr>
        <p:spPr>
          <a:xfrm>
            <a:off x="6446520" y="210312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測試預設合成資料，例外要核准</a:t>
            </a:r>
            <a:endParaRPr lang="en-US" sz="2000" dirty="0"/>
          </a:p>
        </p:txBody>
      </p:sp>
      <p:sp>
        <p:nvSpPr>
          <p:cNvPr id="11" name="card-2"/>
          <p:cNvSpPr/>
          <p:nvPr/>
        </p:nvSpPr>
        <p:spPr>
          <a:xfrm>
            <a:off x="548640" y="3657600"/>
            <a:ext cx="5394960" cy="2011680"/>
          </a:xfrm>
          <a:prstGeom prst="roundRect">
            <a:avLst>
              <a:gd name="adj" fmla="val 5455"/>
            </a:avLst>
          </a:prstGeom>
          <a:solidFill>
            <a:srgbClr val="EEF2FA"/>
          </a:solidFill>
          <a:ln w="12700">
            <a:solidFill>
              <a:srgbClr val="EEF2FA"/>
            </a:solidFill>
            <a:prstDash val="solid"/>
          </a:ln>
        </p:spPr>
      </p:sp>
      <p:sp>
        <p:nvSpPr>
          <p:cNvPr id="12" name="num-2"/>
          <p:cNvSpPr/>
          <p:nvPr/>
        </p:nvSpPr>
        <p:spPr>
          <a:xfrm>
            <a:off x="777240" y="438912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一個 PII 系統走到底</a:t>
            </a:r>
            <a:endParaRPr lang="en-US" sz="2000" dirty="0"/>
          </a:p>
        </p:txBody>
      </p:sp>
      <p:sp>
        <p:nvSpPr>
          <p:cNvPr id="15" name="card-3"/>
          <p:cNvSpPr/>
          <p:nvPr/>
        </p:nvSpPr>
        <p:spPr>
          <a:xfrm>
            <a:off x="6217920" y="3657600"/>
            <a:ext cx="5394960" cy="2011680"/>
          </a:xfrm>
          <a:prstGeom prst="roundRect">
            <a:avLst>
              <a:gd name="adj" fmla="val 5455"/>
            </a:avLst>
          </a:prstGeom>
          <a:solidFill>
            <a:srgbClr val="EEF2FA"/>
          </a:solidFill>
          <a:ln w="12700">
            <a:solidFill>
              <a:srgbClr val="EEF2FA"/>
            </a:solidFill>
            <a:prstDash val="solid"/>
          </a:ln>
        </p:spPr>
      </p:sp>
      <p:sp>
        <p:nvSpPr>
          <p:cNvPr id="16" name="num-3"/>
          <p:cNvSpPr/>
          <p:nvPr/>
        </p:nvSpPr>
        <p:spPr>
          <a:xfrm>
            <a:off x="6446520" y="438912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749040"/>
            <a:ext cx="4251960" cy="1828800"/>
          </a:xfrm>
          <a:prstGeom prst="rect">
            <a:avLst/>
          </a:prstGeom>
          <a:noFill/>
          <a:ln/>
        </p:spPr>
        <p:txBody>
          <a:bodyPr wrap="square" lIns="0" tIns="0" rIns="0" bIns="0" rtlCol="0" anchor="ctr"/>
          <a:lstStyle/>
          <a:p>
            <a:pPr indent="0" marL="0">
              <a:buNone/>
            </a:pPr>
            <a:r>
              <a:rPr lang="en-US" sz="2000" dirty="0">
                <a:solidFill>
                  <a:schemeClr val="tx1"/>
                </a:solidFill>
              </a:rPr>
              <a:t>七則不符合事項範例</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14</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PIMS 導入實務與整合</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條款：4、5、6、7 等 10 項　｜　建議時間：約 5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導入順序由條款輸入輸出決定：角色與範圍、盤點、風險、SoA、文件、運作、內稽、管審、驗證</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PIMS 導入路徑 12 步驟</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啟動、差異分析、盤點與 RoPA</a:t>
            </a:r>
            <a:endParaRPr lang="en-US" sz="2400" dirty="0"/>
          </a:p>
          <a:p>
            <a:pPr marL="228600" indent="-228600">
              <a:spcAft>
                <a:spcPts val="1600"/>
              </a:spcAft>
              <a:buSzPct val="100000"/>
              <a:buChar char="•"/>
            </a:pPr>
            <a:r>
              <a:rPr lang="en-US" sz="2400" dirty="0">
                <a:solidFill>
                  <a:schemeClr val="tx1"/>
                </a:solidFill>
              </a:rPr>
              <a:t>角色判定、風險評鑑與 PIA</a:t>
            </a:r>
            <a:endParaRPr lang="en-US" sz="2400" dirty="0"/>
          </a:p>
          <a:p>
            <a:pPr marL="228600" indent="-228600">
              <a:spcAft>
                <a:spcPts val="1600"/>
              </a:spcAft>
              <a:buSzPct val="100000"/>
              <a:buChar char="•"/>
            </a:pPr>
            <a:r>
              <a:rPr lang="en-US" sz="2400" dirty="0">
                <a:solidFill>
                  <a:schemeClr val="tx1"/>
                </a:solidFill>
              </a:rPr>
              <a:t>SoA 與風險處理計畫</a:t>
            </a:r>
            <a:endParaRPr lang="en-US" sz="2400" dirty="0"/>
          </a:p>
          <a:p>
            <a:pPr marL="228600" indent="-228600">
              <a:spcAft>
                <a:spcPts val="1600"/>
              </a:spcAft>
              <a:buSzPct val="100000"/>
              <a:buChar char="•"/>
            </a:pPr>
            <a:r>
              <a:rPr lang="en-US" sz="2400" dirty="0">
                <a:solidFill>
                  <a:schemeClr val="tx1"/>
                </a:solidFill>
              </a:rPr>
              <a:t>文件、訓練、試運行</a:t>
            </a:r>
            <a:endParaRPr lang="en-US" sz="2400" dirty="0"/>
          </a:p>
          <a:p>
            <a:pPr marL="228600" indent="-228600">
              <a:spcAft>
                <a:spcPts val="1600"/>
              </a:spcAft>
              <a:buSzPct val="100000"/>
              <a:buChar char="•"/>
            </a:pPr>
            <a:r>
              <a:rPr lang="en-US" sz="2400" dirty="0">
                <a:solidFill>
                  <a:schemeClr val="tx1"/>
                </a:solidFill>
              </a:rPr>
              <a:t>內稽、管審、驗證</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建議時程 6–9 個月</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已有 ISMS：約 6–7 個月</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無 ISMS：預留 9 個月以上</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試運行至少 2–3 個月</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安排外洩演練與 DSAR 模擬</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第 3–4 個月預約驗證機構</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PIMS 文件架構</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一階政策：隱私政策、範圍、目標</a:t>
            </a:r>
            <a:endParaRPr lang="en-US" sz="2400" dirty="0"/>
          </a:p>
          <a:p>
            <a:pPr marL="228600" indent="-228600">
              <a:spcAft>
                <a:spcPts val="1600"/>
              </a:spcAft>
              <a:buSzPct val="100000"/>
              <a:buChar char="•"/>
            </a:pPr>
            <a:r>
              <a:rPr lang="en-US" sz="2400" dirty="0">
                <a:solidFill>
                  <a:schemeClr val="tx1"/>
                </a:solidFill>
              </a:rPr>
              <a:t>二階程序：風險、DSAR、事故、委外</a:t>
            </a:r>
            <a:endParaRPr lang="en-US" sz="2400" dirty="0"/>
          </a:p>
          <a:p>
            <a:pPr marL="228600" indent="-228600">
              <a:spcAft>
                <a:spcPts val="1600"/>
              </a:spcAft>
              <a:buSzPct val="100000"/>
              <a:buChar char="•"/>
            </a:pPr>
            <a:r>
              <a:rPr lang="en-US" sz="2400" dirty="0">
                <a:solidFill>
                  <a:schemeClr val="tx1"/>
                </a:solidFill>
              </a:rPr>
              <a:t>三階作業說明：同意、遮罩、銷毀</a:t>
            </a:r>
            <a:endParaRPr lang="en-US" sz="2400" dirty="0"/>
          </a:p>
          <a:p>
            <a:pPr marL="228600" indent="-228600">
              <a:spcAft>
                <a:spcPts val="1600"/>
              </a:spcAft>
              <a:buSzPct val="100000"/>
              <a:buChar char="•"/>
            </a:pPr>
            <a:r>
              <a:rPr lang="en-US" sz="2400" dirty="0">
                <a:solidFill>
                  <a:schemeClr val="tx1"/>
                </a:solidFill>
              </a:rPr>
              <a:t>四階紀錄：RoPA、SoA、登記簿</a:t>
            </a:r>
            <a:endParaRPr lang="en-US" sz="2400" dirty="0"/>
          </a:p>
          <a:p>
            <a:pPr marL="228600" indent="-228600">
              <a:spcAft>
                <a:spcPts val="1600"/>
              </a:spcAft>
              <a:buSzPct val="100000"/>
              <a:buChar char="•"/>
            </a:pPr>
            <a:r>
              <a:rPr lang="en-US" sz="2400" dirty="0">
                <a:solidFill>
                  <a:schemeClr val="tx1"/>
                </a:solidFill>
              </a:rPr>
              <a:t>標準要求的文件化資訊不可少</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與 ISO/IEC 27001 整合</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共通架構第 4–10 章可共用流程</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風險評鑑加入當事人後果欄位</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SoA 兩份或合併皆可</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內稽、管審可合併但須可區分</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6.1.3 c) 可引用 ISMS 為安全方案</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附錄 C/D/E 與台灣個資法</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附錄 C：對應 ISO/IEC 29100 原則</a:t>
            </a:r>
            <a:endParaRPr lang="en-US" sz="2400" dirty="0"/>
          </a:p>
          <a:p>
            <a:pPr marL="228600" indent="-228600">
              <a:spcAft>
                <a:spcPts val="1600"/>
              </a:spcAft>
              <a:buSzPct val="100000"/>
              <a:buChar char="•"/>
            </a:pPr>
            <a:r>
              <a:rPr lang="en-US" sz="2400" dirty="0">
                <a:solidFill>
                  <a:schemeClr val="tx1"/>
                </a:solidFill>
              </a:rPr>
              <a:t>附錄 D：對應 GDPR，屬指示性</a:t>
            </a:r>
            <a:endParaRPr lang="en-US" sz="2400" dirty="0"/>
          </a:p>
          <a:p>
            <a:pPr marL="228600" indent="-228600">
              <a:spcAft>
                <a:spcPts val="1600"/>
              </a:spcAft>
              <a:buSzPct val="100000"/>
              <a:buChar char="•"/>
            </a:pPr>
            <a:r>
              <a:rPr lang="en-US" sz="2400" dirty="0">
                <a:solidFill>
                  <a:schemeClr val="tx1"/>
                </a:solidFill>
              </a:rPr>
              <a:t>附錄 E：對應 27018、29151</a:t>
            </a:r>
            <a:endParaRPr lang="en-US" sz="2400" dirty="0"/>
          </a:p>
          <a:p>
            <a:pPr marL="228600" indent="-228600">
              <a:spcAft>
                <a:spcPts val="1600"/>
              </a:spcAft>
              <a:buSzPct val="100000"/>
              <a:buChar char="•"/>
            </a:pPr>
            <a:r>
              <a:rPr lang="en-US" sz="2400" dirty="0">
                <a:solidFill>
                  <a:schemeClr val="tx1"/>
                </a:solidFill>
              </a:rPr>
              <a:t>自建個資法 × 27701 對照表</a:t>
            </a:r>
            <a:endParaRPr lang="en-US" sz="2400" dirty="0"/>
          </a:p>
          <a:p>
            <a:pPr marL="228600" indent="-228600">
              <a:spcAft>
                <a:spcPts val="1600"/>
              </a:spcAft>
              <a:buSzPct val="100000"/>
              <a:buChar char="•"/>
            </a:pPr>
            <a:r>
              <a:rPr lang="en-US" sz="2400" dirty="0">
                <a:solidFill>
                  <a:schemeClr val="tx1"/>
                </a:solidFill>
              </a:rPr>
              <a:t>安全維護計畫引用 PIMS 文件</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這裡要留證據</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中小企業簡化與驗證前準備</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一本 PIMS 手冊＋10–15 份表單</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Excel 管理 RoPA 與揭露紀錄</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投資順序：RoPA 到事故程序</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20 項驗證前檢核表</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準備證據索引表與受訪人員</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15</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稽核實務專章：從稽核原則到不符合事項</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條款：9.2、9.3、10.2、附錄A　｜　建議時間：約 15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稽核七原則：誠信、公正陳述、專業審慎、保密、獨立、基於證據、基於風險</a:t>
            </a:r>
            <a:endParaRPr lang="en-US" sz="1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稽核原則與稽核類型</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ISO 19011 七大稽核原則</a:t>
            </a:r>
            <a:endParaRPr lang="en-US" sz="2400" dirty="0"/>
          </a:p>
          <a:p>
            <a:pPr marL="228600" indent="-228600">
              <a:spcAft>
                <a:spcPts val="1600"/>
              </a:spcAft>
              <a:buSzPct val="100000"/>
              <a:buChar char="•"/>
            </a:pPr>
            <a:r>
              <a:rPr lang="en-US" sz="2400" dirty="0">
                <a:solidFill>
                  <a:schemeClr val="tx1"/>
                </a:solidFill>
              </a:rPr>
              <a:t>PIMS 稽核特別強調保密</a:t>
            </a:r>
            <a:endParaRPr lang="en-US" sz="2400" dirty="0"/>
          </a:p>
          <a:p>
            <a:pPr marL="228600" indent="-228600">
              <a:spcAft>
                <a:spcPts val="1600"/>
              </a:spcAft>
              <a:buSzPct val="100000"/>
              <a:buChar char="•"/>
            </a:pPr>
            <a:r>
              <a:rPr lang="en-US" sz="2400" dirty="0">
                <a:solidFill>
                  <a:schemeClr val="tx1"/>
                </a:solidFill>
              </a:rPr>
              <a:t>第一方：內部稽核</a:t>
            </a:r>
            <a:endParaRPr lang="en-US" sz="2400" dirty="0"/>
          </a:p>
          <a:p>
            <a:pPr marL="228600" indent="-228600">
              <a:spcAft>
                <a:spcPts val="1600"/>
              </a:spcAft>
              <a:buSzPct val="100000"/>
              <a:buChar char="•"/>
            </a:pPr>
            <a:r>
              <a:rPr lang="en-US" sz="2400" dirty="0">
                <a:solidFill>
                  <a:schemeClr val="tx1"/>
                </a:solidFill>
              </a:rPr>
              <a:t>第二方：控制者稽核處理者</a:t>
            </a:r>
            <a:endParaRPr lang="en-US" sz="2400" dirty="0"/>
          </a:p>
          <a:p>
            <a:pPr marL="228600" indent="-228600">
              <a:spcAft>
                <a:spcPts val="1600"/>
              </a:spcAft>
              <a:buSzPct val="100000"/>
              <a:buChar char="•"/>
            </a:pPr>
            <a:r>
              <a:rPr lang="en-US" sz="2400" dirty="0">
                <a:solidFill>
                  <a:schemeClr val="tx1"/>
                </a:solidFill>
              </a:rPr>
              <a:t>第三方：驗證機構稽核</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嗯嗯！這個要記起來～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驗證稽核流程</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申請與報價</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第一階段：文件與準備度</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第二階段：現場實際運作</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矯正、驗證決定、發證</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每年追查、三年重新驗證</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稽核時間、抽樣與證據</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人天依規範與驗證機構決定</a:t>
            </a:r>
            <a:endParaRPr lang="en-US" sz="2400" dirty="0"/>
          </a:p>
          <a:p>
            <a:pPr marL="228600" indent="-228600">
              <a:spcAft>
                <a:spcPts val="1600"/>
              </a:spcAft>
              <a:buSzPct val="100000"/>
              <a:buChar char="•"/>
            </a:pPr>
            <a:r>
              <a:rPr lang="en-US" sz="2400" dirty="0">
                <a:solidFill>
                  <a:schemeClr val="tx1"/>
                </a:solidFill>
              </a:rPr>
              <a:t>判斷抽樣、風險導向</a:t>
            </a:r>
            <a:endParaRPr lang="en-US" sz="2400" dirty="0"/>
          </a:p>
          <a:p>
            <a:pPr marL="228600" indent="-228600">
              <a:spcAft>
                <a:spcPts val="1600"/>
              </a:spcAft>
              <a:buSzPct val="100000"/>
              <a:buChar char="•"/>
            </a:pPr>
            <a:r>
              <a:rPr lang="en-US" sz="2400" dirty="0">
                <a:solidFill>
                  <a:schemeClr val="tx1"/>
                </a:solidFill>
              </a:rPr>
              <a:t>從母體反抽找漏登記</a:t>
            </a:r>
            <a:endParaRPr lang="en-US" sz="2400" dirty="0"/>
          </a:p>
          <a:p>
            <a:pPr marL="228600" indent="-228600">
              <a:spcAft>
                <a:spcPts val="1600"/>
              </a:spcAft>
              <a:buSzPct val="100000"/>
              <a:buChar char="•"/>
            </a:pPr>
            <a:r>
              <a:rPr lang="en-US" sz="2400" dirty="0">
                <a:solidFill>
                  <a:schemeClr val="tx1"/>
                </a:solidFill>
              </a:rPr>
              <a:t>訪談、觀察、文件、抽樣、技術驗證</a:t>
            </a:r>
            <a:endParaRPr lang="en-US" sz="2400" dirty="0"/>
          </a:p>
          <a:p>
            <a:pPr marL="228600" indent="-228600">
              <a:spcAft>
                <a:spcPts val="1600"/>
              </a:spcAft>
              <a:buSzPct val="100000"/>
              <a:buChar char="•"/>
            </a:pPr>
            <a:r>
              <a:rPr lang="en-US" sz="2400" dirty="0">
                <a:solidFill>
                  <a:schemeClr val="tx1"/>
                </a:solidFill>
              </a:rPr>
              <a:t>沒有紀錄等於沒做</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哇～好重要！</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不符合分級與撰寫三要素</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主要：影響達成預期結果能力</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次要：單一偶發缺失</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觀察事項、改善機會</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三要素：要求、證據、事實陳述</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不開處方、不寫 PII</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Top 15 常見不符合事項</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角色判定、當事人後果、SoA 理由</a:t>
            </a:r>
            <a:endParaRPr lang="en-US" sz="2400" dirty="0"/>
          </a:p>
          <a:p>
            <a:pPr marL="228600" indent="-228600">
              <a:spcAft>
                <a:spcPts val="1600"/>
              </a:spcAft>
              <a:buSzPct val="100000"/>
              <a:buChar char="•"/>
            </a:pPr>
            <a:r>
              <a:rPr lang="en-US" sz="2400" dirty="0">
                <a:solidFill>
                  <a:schemeClr val="tx1"/>
                </a:solidFill>
              </a:rPr>
              <a:t>合法基礎、同意、PIA、DSAR</a:t>
            </a:r>
            <a:endParaRPr lang="en-US" sz="2400" dirty="0"/>
          </a:p>
          <a:p>
            <a:pPr marL="228600" indent="-228600">
              <a:spcAft>
                <a:spcPts val="1600"/>
              </a:spcAft>
              <a:buSzPct val="100000"/>
              <a:buChar char="•"/>
            </a:pPr>
            <a:r>
              <a:rPr lang="en-US" sz="2400" dirty="0">
                <a:solidFill>
                  <a:schemeClr val="tx1"/>
                </a:solidFill>
              </a:rPr>
              <a:t>保存期限、揭露紀錄、分包商</a:t>
            </a:r>
            <a:endParaRPr lang="en-US" sz="2400" dirty="0"/>
          </a:p>
          <a:p>
            <a:pPr marL="228600" indent="-228600">
              <a:spcAft>
                <a:spcPts val="1600"/>
              </a:spcAft>
              <a:buSzPct val="100000"/>
              <a:buChar char="•"/>
            </a:pPr>
            <a:r>
              <a:rPr lang="en-US" sz="2400" dirty="0">
                <a:solidFill>
                  <a:schemeClr val="tx1"/>
                </a:solidFill>
              </a:rPr>
              <a:t>外洩通報、測試資料</a:t>
            </a:r>
            <a:endParaRPr lang="en-US" sz="2400" dirty="0"/>
          </a:p>
          <a:p>
            <a:pPr marL="228600" indent="-228600">
              <a:spcAft>
                <a:spcPts val="1600"/>
              </a:spcAft>
              <a:buSzPct val="100000"/>
              <a:buChar char="•"/>
            </a:pPr>
            <a:r>
              <a:rPr lang="en-US" sz="2400" dirty="0">
                <a:solidFill>
                  <a:schemeClr val="tx1"/>
                </a:solidFill>
              </a:rPr>
              <a:t>內稽、管審、矯正根因</a:t>
            </a:r>
            <a:endParaRPr lang="en-US" sz="2400" dirty="0"/>
          </a:p>
        </p:txBody>
      </p:sp>
      <p:sp>
        <p:nvSpPr>
          <p:cNvPr id="5" name="arale-frame"/>
          <p:cNvSpPr/>
          <p:nvPr/>
        </p:nvSpPr>
        <p:spPr>
          <a:xfrm>
            <a:off x="9500616" y="1271016"/>
            <a:ext cx="1892808" cy="2160270"/>
          </a:xfrm>
          <a:prstGeom prst="roundRect">
            <a:avLst>
              <a:gd name="adj" fmla="val 8696"/>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E8559A"/>
                </a:solidFill>
              </a:rPr>
              <a:t>阿拉蕾</a:t>
            </a:r>
            <a:endParaRPr lang="en-US" sz="1300" dirty="0"/>
          </a:p>
        </p:txBody>
      </p:sp>
      <p:sp>
        <p:nvSpPr>
          <p:cNvPr id="8" name="bubble"/>
          <p:cNvSpPr/>
          <p:nvPr/>
        </p:nvSpPr>
        <p:spPr>
          <a:xfrm>
            <a:off x="9144000" y="3879342"/>
            <a:ext cx="2606040" cy="640080"/>
          </a:xfrm>
          <a:prstGeom prst="roundRect">
            <a:avLst>
              <a:gd name="adj" fmla="val 21429"/>
            </a:avLst>
          </a:prstGeom>
          <a:solidFill>
            <a:srgbClr val="FDE7F1"/>
          </a:solidFill>
          <a:ln w="19050">
            <a:solidFill>
              <a:srgbClr val="E8559A"/>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筆記筆記～</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檢查表與受稽方應對</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41 列檢查表依 SoA 增刪</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沿資料生命週期追蹤稽核</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開場 10 分鐘講清楚</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不知道就說會確認</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絕不臨時補簽名改日期</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txBox="1"/>
          <p:nvPr/>
        </p:nvSpPr>
        <p:spPr>
          <a:xfrm>
            <a:off x="731520" y="1463040"/>
            <a:ext cx="4572000" cy="548640"/>
          </a:xfrm>
          <a:prstGeom prst="rect">
            <a:avLst/>
          </a:prstGeom>
          <a:noFill/>
          <a:ln/>
        </p:spPr>
        <p:txBody>
          <a:bodyPr wrap="square" lIns="0" tIns="0" rIns="0" bIns="0" rtlCol="0" anchor="ctr"/>
          <a:lstStyle/>
          <a:p>
            <a:pPr indent="0" marL="0">
              <a:buNone/>
            </a:pPr>
            <a:r>
              <a:rPr lang="en-US" sz="2000" b="1" spc="400" kern="0" dirty="0">
                <a:solidFill>
                  <a:srgbClr val="F2A541"/>
                </a:solidFill>
              </a:rPr>
              <a:t>UNIT 16</a:t>
            </a:r>
            <a:endParaRPr lang="en-US" sz="2000" dirty="0"/>
          </a:p>
        </p:txBody>
      </p:sp>
      <p:sp>
        <p:nvSpPr>
          <p:cNvPr id="3" name="Text 0"/>
          <p:cNvSpPr/>
          <p:nvPr>
            <p:ph idx="100" type="title" hasCustomPrompt="1"/>
          </p:nvPr>
        </p:nvSpPr>
        <p:spPr>
          <a:xfrm>
            <a:off x="731520" y="2331720"/>
            <a:ext cx="6949440" cy="1463040"/>
          </a:xfrm>
          <a:prstGeom prst="rect">
            <a:avLst/>
          </a:prstGeom>
          <a:noFill/>
          <a:ln/>
        </p:spPr>
        <p:txBody>
          <a:bodyPr wrap="square" lIns="0" tIns="0" rIns="0" bIns="0" rtlCol="0" anchor="t"/>
          <a:lstStyle/>
          <a:p>
            <a:pPr algn="l" indent="0" marL="0">
              <a:buNone/>
            </a:pPr>
            <a:r>
              <a:rPr lang="en-US" sz="3600" b="1" dirty="0">
                <a:solidFill>
                  <a:schemeClr val="bg1"/>
                </a:solidFill>
              </a:rPr>
              <a:t>課程總結：重點回顧與下一步</a:t>
            </a:r>
            <a:endParaRPr lang="en-US" sz="3600" dirty="0"/>
          </a:p>
        </p:txBody>
      </p:sp>
      <p:sp>
        <p:nvSpPr>
          <p:cNvPr id="4" name="Text 0"/>
          <p:cNvSpPr/>
          <p:nvPr>
            <p:ph idx="101" type="body" hasCustomPrompt="1"/>
          </p:nvPr>
        </p:nvSpPr>
        <p:spPr>
          <a:xfrm>
            <a:off x="731520" y="3931920"/>
            <a:ext cx="6949440" cy="1280160"/>
          </a:xfrm>
          <a:prstGeom prst="rect">
            <a:avLst/>
          </a:prstGeom>
          <a:noFill/>
          <a:ln/>
        </p:spPr>
        <p:txBody>
          <a:bodyPr wrap="square" lIns="0" tIns="0" rIns="0" bIns="0" rtlCol="0" anchor="t"/>
          <a:lstStyle/>
          <a:p>
            <a:pPr algn="l" indent="0" marL="0">
              <a:buNone/>
            </a:pPr>
            <a:r>
              <a:rPr lang="en-US" sz="1800" dirty="0">
                <a:solidFill>
                  <a:srgbClr val="CADCFC"/>
                </a:solidFill>
              </a:rPr>
              <a:t>建議時間：約 5 分鐘</a:t>
            </a:r>
            <a:endParaRPr lang="en-US" sz="1800" dirty="0"/>
          </a:p>
        </p:txBody>
      </p:sp>
      <p:sp>
        <p:nvSpPr>
          <p:cNvPr id="5" name="allan-frame"/>
          <p:cNvSpPr/>
          <p:nvPr/>
        </p:nvSpPr>
        <p:spPr>
          <a:xfrm>
            <a:off x="8997696" y="1316736"/>
            <a:ext cx="2304288" cy="2304288"/>
          </a:xfrm>
          <a:prstGeom prst="roundRect">
            <a:avLst>
              <a:gd name="adj" fmla="val 7143"/>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052560" y="1371600"/>
            <a:ext cx="2194560" cy="2194560"/>
          </a:xfrm>
          <a:prstGeom prst="rect">
            <a:avLst/>
          </a:prstGeom>
        </p:spPr>
      </p:pic>
      <p:sp>
        <p:nvSpPr>
          <p:cNvPr id="7" name="bubble"/>
          <p:cNvSpPr/>
          <p:nvPr/>
        </p:nvSpPr>
        <p:spPr>
          <a:xfrm>
            <a:off x="8138160" y="4572000"/>
            <a:ext cx="3657600" cy="1371600"/>
          </a:xfrm>
          <a:prstGeom prst="roundRect">
            <a:avLst>
              <a:gd name="adj" fmla="val 10000"/>
            </a:avLst>
          </a:prstGeom>
          <a:solidFill>
            <a:srgbClr val="FFF4E0"/>
          </a:solidFill>
          <a:ln w="19050">
            <a:solidFill>
              <a:srgbClr val="F2A541"/>
            </a:solidFill>
            <a:prstDash val="solid"/>
          </a:ln>
        </p:spPr>
      </p:sp>
      <p:sp>
        <p:nvSpPr>
          <p:cNvPr id="8" name="Text 5"/>
          <p:cNvSpPr txBox="1"/>
          <p:nvPr/>
        </p:nvSpPr>
        <p:spPr>
          <a:xfrm>
            <a:off x="8247888" y="4572000"/>
            <a:ext cx="3438144" cy="1371600"/>
          </a:xfrm>
          <a:prstGeom prst="rect">
            <a:avLst/>
          </a:prstGeom>
          <a:noFill/>
          <a:ln/>
        </p:spPr>
        <p:txBody>
          <a:bodyPr wrap="square" lIns="0" tIns="0" rIns="0" bIns="0" rtlCol="0" anchor="ctr"/>
          <a:lstStyle/>
          <a:p>
            <a:pPr indent="0" marL="0">
              <a:buNone/>
            </a:pPr>
            <a:r>
              <a:rPr lang="en-US" sz="1400" dirty="0">
                <a:solidFill>
                  <a:schemeClr val="tx1"/>
                </a:solidFill>
              </a:rPr>
              <a:t>27701:2025 是可獨立驗證的 PIMS 標準，核心在角色判定、當事人視角的風險評鑑與 SoA</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全課程重點回顧</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基礎：PII、角色、29100 原則</a:t>
            </a:r>
            <a:endParaRPr lang="en-US" sz="2400" dirty="0"/>
          </a:p>
          <a:p>
            <a:pPr marL="228600" indent="-228600">
              <a:spcAft>
                <a:spcPts val="1600"/>
              </a:spcAft>
              <a:buSzPct val="100000"/>
              <a:buChar char="•"/>
            </a:pPr>
            <a:r>
              <a:rPr lang="en-US" sz="2400" dirty="0">
                <a:solidFill>
                  <a:schemeClr val="tx1"/>
                </a:solidFill>
              </a:rPr>
              <a:t>架構：2025 版可獨立驗證</a:t>
            </a:r>
            <a:endParaRPr lang="en-US" sz="2400" dirty="0"/>
          </a:p>
          <a:p>
            <a:pPr marL="228600" indent="-228600">
              <a:spcAft>
                <a:spcPts val="1600"/>
              </a:spcAft>
              <a:buSzPct val="100000"/>
              <a:buChar char="•"/>
            </a:pPr>
            <a:r>
              <a:rPr lang="en-US" sz="2400" dirty="0">
                <a:solidFill>
                  <a:schemeClr val="tx1"/>
                </a:solidFill>
              </a:rPr>
              <a:t>第 4–10 章：管理系統 PDCA</a:t>
            </a:r>
            <a:endParaRPr lang="en-US" sz="2400" dirty="0"/>
          </a:p>
          <a:p>
            <a:pPr marL="228600" indent="-228600">
              <a:spcAft>
                <a:spcPts val="1600"/>
              </a:spcAft>
              <a:buSzPct val="100000"/>
              <a:buChar char="•"/>
            </a:pPr>
            <a:r>
              <a:rPr lang="en-US" sz="2400" dirty="0">
                <a:solidFill>
                  <a:schemeClr val="tx1"/>
                </a:solidFill>
              </a:rPr>
              <a:t>附錄 A：78 項控制措施</a:t>
            </a:r>
            <a:endParaRPr lang="en-US" sz="2400" dirty="0"/>
          </a:p>
          <a:p>
            <a:pPr marL="228600" indent="-228600">
              <a:spcAft>
                <a:spcPts val="1600"/>
              </a:spcAft>
              <a:buSzPct val="100000"/>
              <a:buChar char="•"/>
            </a:pPr>
            <a:r>
              <a:rPr lang="en-US" sz="2400" dirty="0">
                <a:solidFill>
                  <a:schemeClr val="tx1"/>
                </a:solidFill>
              </a:rPr>
              <a:t>導入實務與稽核實務</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來，重點來了！</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Top 10 文件與 10 個建議</a:t>
            </a:r>
            <a:endParaRPr lang="en-US" sz="3000" dirty="0"/>
          </a:p>
        </p:txBody>
      </p:sp>
      <p:sp>
        <p:nvSpPr>
          <p:cNvPr id="3" name="card-0"/>
          <p:cNvSpPr/>
          <p:nvPr/>
        </p:nvSpPr>
        <p:spPr>
          <a:xfrm>
            <a:off x="548640" y="1371600"/>
            <a:ext cx="5394960" cy="1432560"/>
          </a:xfrm>
          <a:prstGeom prst="roundRect">
            <a:avLst>
              <a:gd name="adj" fmla="val 7660"/>
            </a:avLst>
          </a:prstGeom>
          <a:solidFill>
            <a:srgbClr val="EEF2FA"/>
          </a:solidFill>
          <a:ln w="12700">
            <a:solidFill>
              <a:srgbClr val="EEF2FA"/>
            </a:solidFill>
            <a:prstDash val="solid"/>
          </a:ln>
        </p:spPr>
      </p:sp>
      <p:sp>
        <p:nvSpPr>
          <p:cNvPr id="4" name="num-0"/>
          <p:cNvSpPr/>
          <p:nvPr/>
        </p:nvSpPr>
        <p:spPr>
          <a:xfrm>
            <a:off x="777240" y="1813560"/>
            <a:ext cx="548640" cy="548640"/>
          </a:xfrm>
          <a:prstGeom prst="ellipse">
            <a:avLst/>
          </a:prstGeom>
          <a:solidFill>
            <a:srgbClr val="0F8B8D"/>
          </a:solidFill>
          <a:ln w="12700">
            <a:solidFill>
              <a:srgbClr val="FFFFFF"/>
            </a:solidFill>
            <a:prstDash val="solid"/>
          </a:ln>
        </p:spPr>
      </p:sp>
      <p:sp>
        <p:nvSpPr>
          <p:cNvPr id="5" name="Text 3"/>
          <p:cNvSpPr txBox="1"/>
          <p:nvPr/>
        </p:nvSpPr>
        <p:spPr>
          <a:xfrm>
            <a:off x="77724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範圍、政策、RoPA、風險、SoA</a:t>
            </a:r>
            <a:endParaRPr lang="en-US" sz="2000" dirty="0"/>
          </a:p>
        </p:txBody>
      </p:sp>
      <p:sp>
        <p:nvSpPr>
          <p:cNvPr id="7" name="card-1"/>
          <p:cNvSpPr/>
          <p:nvPr/>
        </p:nvSpPr>
        <p:spPr>
          <a:xfrm>
            <a:off x="6217920" y="1371600"/>
            <a:ext cx="5394960" cy="1432560"/>
          </a:xfrm>
          <a:prstGeom prst="roundRect">
            <a:avLst>
              <a:gd name="adj" fmla="val 7660"/>
            </a:avLst>
          </a:prstGeom>
          <a:solidFill>
            <a:srgbClr val="EEF2FA"/>
          </a:solidFill>
          <a:ln w="12700">
            <a:solidFill>
              <a:srgbClr val="EEF2FA"/>
            </a:solidFill>
            <a:prstDash val="solid"/>
          </a:ln>
        </p:spPr>
      </p:sp>
      <p:sp>
        <p:nvSpPr>
          <p:cNvPr id="8" name="num-1"/>
          <p:cNvSpPr/>
          <p:nvPr/>
        </p:nvSpPr>
        <p:spPr>
          <a:xfrm>
            <a:off x="6446520" y="1813560"/>
            <a:ext cx="548640" cy="548640"/>
          </a:xfrm>
          <a:prstGeom prst="ellipse">
            <a:avLst/>
          </a:prstGeom>
          <a:solidFill>
            <a:srgbClr val="2B5BD7"/>
          </a:solidFill>
          <a:ln w="12700">
            <a:solidFill>
              <a:srgbClr val="FFFFFF"/>
            </a:solidFill>
            <a:prstDash val="solid"/>
          </a:ln>
        </p:spPr>
      </p:sp>
      <p:sp>
        <p:nvSpPr>
          <p:cNvPr id="9" name="Text 7"/>
          <p:cNvSpPr txBox="1"/>
          <p:nvPr/>
        </p:nvSpPr>
        <p:spPr>
          <a:xfrm>
            <a:off x="6446520" y="1813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8"/>
          <p:cNvSpPr txBox="1"/>
          <p:nvPr/>
        </p:nvSpPr>
        <p:spPr>
          <a:xfrm>
            <a:off x="7178040" y="1463040"/>
            <a:ext cx="4251960" cy="1249680"/>
          </a:xfrm>
          <a:prstGeom prst="rect">
            <a:avLst/>
          </a:prstGeom>
          <a:noFill/>
          <a:ln/>
        </p:spPr>
        <p:txBody>
          <a:bodyPr wrap="square" lIns="0" tIns="0" rIns="0" bIns="0" rtlCol="0" anchor="ctr"/>
          <a:lstStyle/>
          <a:p>
            <a:pPr indent="0" marL="0">
              <a:buNone/>
            </a:pPr>
            <a:r>
              <a:rPr lang="en-US" sz="2000" dirty="0">
                <a:solidFill>
                  <a:schemeClr val="tx1"/>
                </a:solidFill>
              </a:rPr>
              <a:t>PIA、同意與 DSAR、契約揭露</a:t>
            </a:r>
            <a:endParaRPr lang="en-US" sz="2000" dirty="0"/>
          </a:p>
        </p:txBody>
      </p:sp>
      <p:sp>
        <p:nvSpPr>
          <p:cNvPr id="11" name="card-2"/>
          <p:cNvSpPr/>
          <p:nvPr/>
        </p:nvSpPr>
        <p:spPr>
          <a:xfrm>
            <a:off x="548640" y="3078480"/>
            <a:ext cx="5394960" cy="1432560"/>
          </a:xfrm>
          <a:prstGeom prst="roundRect">
            <a:avLst>
              <a:gd name="adj" fmla="val 7660"/>
            </a:avLst>
          </a:prstGeom>
          <a:solidFill>
            <a:srgbClr val="EEF2FA"/>
          </a:solidFill>
          <a:ln w="12700">
            <a:solidFill>
              <a:srgbClr val="EEF2FA"/>
            </a:solidFill>
            <a:prstDash val="solid"/>
          </a:ln>
        </p:spPr>
      </p:sp>
      <p:sp>
        <p:nvSpPr>
          <p:cNvPr id="12" name="num-2"/>
          <p:cNvSpPr/>
          <p:nvPr/>
        </p:nvSpPr>
        <p:spPr>
          <a:xfrm>
            <a:off x="777240" y="3520440"/>
            <a:ext cx="548640" cy="548640"/>
          </a:xfrm>
          <a:prstGeom prst="ellipse">
            <a:avLst/>
          </a:prstGeom>
          <a:solidFill>
            <a:srgbClr val="E8559A"/>
          </a:solidFill>
          <a:ln w="12700">
            <a:solidFill>
              <a:srgbClr val="FFFFFF"/>
            </a:solidFill>
            <a:prstDash val="solid"/>
          </a:ln>
        </p:spPr>
      </p:sp>
      <p:sp>
        <p:nvSpPr>
          <p:cNvPr id="13" name="Text 11"/>
          <p:cNvSpPr txBox="1"/>
          <p:nvPr/>
        </p:nvSpPr>
        <p:spPr>
          <a:xfrm>
            <a:off x="77724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150876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事故紀錄、內稽管審矯正</a:t>
            </a:r>
            <a:endParaRPr lang="en-US" sz="2000" dirty="0"/>
          </a:p>
        </p:txBody>
      </p:sp>
      <p:sp>
        <p:nvSpPr>
          <p:cNvPr id="15" name="card-3"/>
          <p:cNvSpPr/>
          <p:nvPr/>
        </p:nvSpPr>
        <p:spPr>
          <a:xfrm>
            <a:off x="6217920" y="3078480"/>
            <a:ext cx="5394960" cy="1432560"/>
          </a:xfrm>
          <a:prstGeom prst="roundRect">
            <a:avLst>
              <a:gd name="adj" fmla="val 7660"/>
            </a:avLst>
          </a:prstGeom>
          <a:solidFill>
            <a:srgbClr val="EEF2FA"/>
          </a:solidFill>
          <a:ln w="12700">
            <a:solidFill>
              <a:srgbClr val="EEF2FA"/>
            </a:solidFill>
            <a:prstDash val="solid"/>
          </a:ln>
        </p:spPr>
      </p:sp>
      <p:sp>
        <p:nvSpPr>
          <p:cNvPr id="16" name="num-3"/>
          <p:cNvSpPr/>
          <p:nvPr/>
        </p:nvSpPr>
        <p:spPr>
          <a:xfrm>
            <a:off x="6446520" y="3520440"/>
            <a:ext cx="548640" cy="548640"/>
          </a:xfrm>
          <a:prstGeom prst="ellipse">
            <a:avLst/>
          </a:prstGeom>
          <a:solidFill>
            <a:srgbClr val="F2A541"/>
          </a:solidFill>
          <a:ln w="12700">
            <a:solidFill>
              <a:srgbClr val="FFFFFF"/>
            </a:solidFill>
            <a:prstDash val="solid"/>
          </a:ln>
        </p:spPr>
      </p:sp>
      <p:sp>
        <p:nvSpPr>
          <p:cNvPr id="17" name="Text 15"/>
          <p:cNvSpPr txBox="1"/>
          <p:nvPr/>
        </p:nvSpPr>
        <p:spPr>
          <a:xfrm>
            <a:off x="6446520" y="3520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6"/>
          <p:cNvSpPr txBox="1"/>
          <p:nvPr/>
        </p:nvSpPr>
        <p:spPr>
          <a:xfrm>
            <a:off x="7178040" y="3169920"/>
            <a:ext cx="4251960" cy="1249680"/>
          </a:xfrm>
          <a:prstGeom prst="rect">
            <a:avLst/>
          </a:prstGeom>
          <a:noFill/>
          <a:ln/>
        </p:spPr>
        <p:txBody>
          <a:bodyPr wrap="square" lIns="0" tIns="0" rIns="0" bIns="0" rtlCol="0" anchor="ctr"/>
          <a:lstStyle/>
          <a:p>
            <a:pPr indent="0" marL="0">
              <a:buNone/>
            </a:pPr>
            <a:r>
              <a:rPr lang="en-US" sz="2000" dirty="0">
                <a:solidFill>
                  <a:schemeClr val="tx1"/>
                </a:solidFill>
              </a:rPr>
              <a:t>寫你所做、做你所寫、留紀錄</a:t>
            </a:r>
            <a:endParaRPr lang="en-US" sz="2000" dirty="0"/>
          </a:p>
        </p:txBody>
      </p:sp>
      <p:sp>
        <p:nvSpPr>
          <p:cNvPr id="19" name="card-4"/>
          <p:cNvSpPr/>
          <p:nvPr/>
        </p:nvSpPr>
        <p:spPr>
          <a:xfrm>
            <a:off x="548640" y="4785360"/>
            <a:ext cx="5394960" cy="1432560"/>
          </a:xfrm>
          <a:prstGeom prst="roundRect">
            <a:avLst>
              <a:gd name="adj" fmla="val 7660"/>
            </a:avLst>
          </a:prstGeom>
          <a:solidFill>
            <a:srgbClr val="EEF2FA"/>
          </a:solidFill>
          <a:ln w="12700">
            <a:solidFill>
              <a:srgbClr val="EEF2FA"/>
            </a:solidFill>
            <a:prstDash val="solid"/>
          </a:ln>
        </p:spPr>
      </p:sp>
      <p:sp>
        <p:nvSpPr>
          <p:cNvPr id="20" name="num-4"/>
          <p:cNvSpPr/>
          <p:nvPr/>
        </p:nvSpPr>
        <p:spPr>
          <a:xfrm>
            <a:off x="777240" y="5227320"/>
            <a:ext cx="548640" cy="548640"/>
          </a:xfrm>
          <a:prstGeom prst="ellipse">
            <a:avLst/>
          </a:prstGeom>
          <a:solidFill>
            <a:srgbClr val="0F8B8D"/>
          </a:solidFill>
          <a:ln w="12700">
            <a:solidFill>
              <a:srgbClr val="FFFFFF"/>
            </a:solidFill>
            <a:prstDash val="solid"/>
          </a:ln>
        </p:spPr>
      </p:sp>
      <p:sp>
        <p:nvSpPr>
          <p:cNvPr id="21" name="Text 19"/>
          <p:cNvSpPr txBox="1"/>
          <p:nvPr/>
        </p:nvSpPr>
        <p:spPr>
          <a:xfrm>
            <a:off x="777240" y="522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1508760" y="4876800"/>
            <a:ext cx="4251960" cy="1249680"/>
          </a:xfrm>
          <a:prstGeom prst="rect">
            <a:avLst/>
          </a:prstGeom>
          <a:noFill/>
          <a:ln/>
        </p:spPr>
        <p:txBody>
          <a:bodyPr wrap="square" lIns="0" tIns="0" rIns="0" bIns="0" rtlCol="0" anchor="ctr"/>
          <a:lstStyle/>
          <a:p>
            <a:pPr indent="0" marL="0">
              <a:buNone/>
            </a:pPr>
            <a:r>
              <a:rPr lang="en-US" sz="2000" dirty="0">
                <a:solidFill>
                  <a:schemeClr val="tx1"/>
                </a:solidFill>
              </a:rPr>
              <a:t>據實回答，證據先遮罩</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rPr>
              <a:t>下一步與課後測驗</a:t>
            </a:r>
            <a:endParaRPr lang="en-US" sz="3000" dirty="0"/>
          </a:p>
        </p:txBody>
      </p:sp>
      <p:sp>
        <p:nvSpPr>
          <p:cNvPr id="3" name="bullets-card"/>
          <p:cNvSpPr/>
          <p:nvPr/>
        </p:nvSpPr>
        <p:spPr>
          <a:xfrm>
            <a:off x="548640" y="1325880"/>
            <a:ext cx="8229600" cy="4892040"/>
          </a:xfrm>
          <a:prstGeom prst="roundRect">
            <a:avLst>
              <a:gd name="adj" fmla="val 2243"/>
            </a:avLst>
          </a:prstGeom>
          <a:solidFill>
            <a:srgbClr val="EEF2FA"/>
          </a:solidFill>
          <a:ln w="12700">
            <a:solidFill>
              <a:srgbClr val="EEF2FA"/>
            </a:solidFill>
            <a:prstDash val="solid"/>
          </a:ln>
        </p:spPr>
      </p:sp>
      <p:sp>
        <p:nvSpPr>
          <p:cNvPr id="4" name="Text 2"/>
          <p:cNvSpPr txBox="1"/>
          <p:nvPr/>
        </p:nvSpPr>
        <p:spPr>
          <a:xfrm>
            <a:off x="822960" y="1508760"/>
            <a:ext cx="7680960" cy="4526280"/>
          </a:xfrm>
          <a:prstGeom prst="rect">
            <a:avLst/>
          </a:prstGeom>
          <a:noFill/>
          <a:ln/>
        </p:spPr>
        <p:txBody>
          <a:bodyPr wrap="square" lIns="0" tIns="0" rIns="0" bIns="0" rtlCol="0" anchor="ctr"/>
          <a:lstStyle/>
          <a:p>
            <a:pPr marL="228600" indent="-228600">
              <a:spcAft>
                <a:spcPts val="1600"/>
              </a:spcAft>
              <a:buSzPct val="100000"/>
              <a:buChar char="•"/>
            </a:pPr>
            <a:r>
              <a:rPr lang="en-US" sz="2400" dirty="0">
                <a:solidFill>
                  <a:schemeClr val="tx1"/>
                </a:solidFill>
              </a:rPr>
              <a:t>29100、29134、27557</a:t>
            </a:r>
            <a:endParaRPr lang="en-US" sz="2400" dirty="0"/>
          </a:p>
          <a:p>
            <a:pPr marL="228600" indent="-228600">
              <a:spcAft>
                <a:spcPts val="1600"/>
              </a:spcAft>
              <a:buSzPct val="100000"/>
              <a:buChar char="•"/>
            </a:pPr>
            <a:r>
              <a:rPr lang="en-US" sz="2400" dirty="0">
                <a:solidFill>
                  <a:schemeClr val="tx1"/>
                </a:solidFill>
              </a:rPr>
              <a:t>27018、29151、27001、27002</a:t>
            </a:r>
            <a:endParaRPr lang="en-US" sz="2400" dirty="0"/>
          </a:p>
          <a:p>
            <a:pPr marL="228600" indent="-228600">
              <a:spcAft>
                <a:spcPts val="1600"/>
              </a:spcAft>
              <a:buSzPct val="100000"/>
              <a:buChar char="•"/>
            </a:pPr>
            <a:r>
              <a:rPr lang="en-US" sz="2400" dirty="0">
                <a:solidFill>
                  <a:schemeClr val="tx1"/>
                </a:solidFill>
              </a:rPr>
              <a:t>27706、ISO 19011</a:t>
            </a:r>
            <a:endParaRPr lang="en-US" sz="2400" dirty="0"/>
          </a:p>
          <a:p>
            <a:pPr marL="228600" indent="-228600">
              <a:spcAft>
                <a:spcPts val="1600"/>
              </a:spcAft>
              <a:buSzPct val="100000"/>
              <a:buChar char="•"/>
            </a:pPr>
            <a:r>
              <a:rPr lang="en-US" sz="2400" dirty="0">
                <a:solidFill>
                  <a:schemeClr val="tx1"/>
                </a:solidFill>
              </a:rPr>
              <a:t>測驗 10 題，80 分及格</a:t>
            </a:r>
            <a:endParaRPr lang="en-US" sz="2400" dirty="0"/>
          </a:p>
          <a:p>
            <a:pPr marL="228600" indent="-228600">
              <a:spcAft>
                <a:spcPts val="1600"/>
              </a:spcAft>
              <a:buSzPct val="100000"/>
              <a:buChar char="•"/>
            </a:pPr>
            <a:r>
              <a:rPr lang="en-US" sz="2400" dirty="0">
                <a:solidFill>
                  <a:schemeClr val="tx1"/>
                </a:solidFill>
              </a:rPr>
              <a:t>及格填資料下載證書</a:t>
            </a:r>
            <a:endParaRPr lang="en-US" sz="2400" dirty="0"/>
          </a:p>
        </p:txBody>
      </p:sp>
      <p:sp>
        <p:nvSpPr>
          <p:cNvPr id="5" name="allan-frame"/>
          <p:cNvSpPr/>
          <p:nvPr/>
        </p:nvSpPr>
        <p:spPr>
          <a:xfrm>
            <a:off x="9500616" y="1271016"/>
            <a:ext cx="1892808" cy="2160270"/>
          </a:xfrm>
          <a:prstGeom prst="roundRect">
            <a:avLst>
              <a:gd name="adj" fmla="val 8696"/>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6" name="allan-img" descr="Allan 講師">    </p:cNvPr>
          <p:cNvPicPr>
            <a:picLocks noChangeAspect="1"/>
          </p:cNvPicPr>
          <p:nvPr/>
        </p:nvPicPr>
        <p:blipFill>
          <a:blip r:embed="rId1"/>
          <a:srcRect l="0" r="0" t="0" b="0"/>
          <a:stretch/>
        </p:blipFill>
        <p:spPr>
          <a:xfrm>
            <a:off x="9555480" y="1325880"/>
            <a:ext cx="1783080" cy="2050542"/>
          </a:xfrm>
          <a:prstGeom prst="rect">
            <a:avLst/>
          </a:prstGeom>
        </p:spPr>
      </p:pic>
      <p:sp>
        <p:nvSpPr>
          <p:cNvPr id="7" name="Text 4"/>
          <p:cNvSpPr txBox="1"/>
          <p:nvPr/>
        </p:nvSpPr>
        <p:spPr>
          <a:xfrm>
            <a:off x="9372600" y="3486150"/>
            <a:ext cx="214884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8" name="bubble"/>
          <p:cNvSpPr/>
          <p:nvPr/>
        </p:nvSpPr>
        <p:spPr>
          <a:xfrm>
            <a:off x="9144000" y="3879342"/>
            <a:ext cx="2606040" cy="640080"/>
          </a:xfrm>
          <a:prstGeom prst="roundRect">
            <a:avLst>
              <a:gd name="adj" fmla="val 21429"/>
            </a:avLst>
          </a:prstGeom>
          <a:solidFill>
            <a:srgbClr val="FFF4E0"/>
          </a:solidFill>
          <a:ln w="19050">
            <a:solidFill>
              <a:srgbClr val="F2A541"/>
            </a:solidFill>
            <a:prstDash val="solid"/>
          </a:ln>
        </p:spPr>
      </p:sp>
      <p:sp>
        <p:nvSpPr>
          <p:cNvPr id="9" name="Text 6"/>
          <p:cNvSpPr txBox="1"/>
          <p:nvPr/>
        </p:nvSpPr>
        <p:spPr>
          <a:xfrm>
            <a:off x="9253728" y="3879342"/>
            <a:ext cx="2386584" cy="640080"/>
          </a:xfrm>
          <a:prstGeom prst="rect">
            <a:avLst/>
          </a:prstGeom>
          <a:noFill/>
          <a:ln/>
        </p:spPr>
        <p:txBody>
          <a:bodyPr wrap="square" lIns="0" tIns="0" rIns="0" bIns="0" rtlCol="0" anchor="ctr"/>
          <a:lstStyle/>
          <a:p>
            <a:pPr indent="0" marL="0">
              <a:buNone/>
            </a:pPr>
            <a:r>
              <a:rPr lang="en-US" sz="1400" dirty="0">
                <a:solidFill>
                  <a:schemeClr val="tx1"/>
                </a:solidFill>
              </a:rPr>
              <a:t>各位記得喔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9"/>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txBox="1"/>
          <p:nvPr/>
        </p:nvSpPr>
        <p:spPr>
          <a:xfrm>
            <a:off x="731520" y="1097280"/>
            <a:ext cx="6949440" cy="822960"/>
          </a:xfrm>
          <a:prstGeom prst="rect">
            <a:avLst/>
          </a:prstGeom>
          <a:noFill/>
          <a:ln/>
        </p:spPr>
        <p:txBody>
          <a:bodyPr wrap="square" lIns="0" tIns="0" rIns="0" bIns="0" rtlCol="0" anchor="ctr"/>
          <a:lstStyle/>
          <a:p>
            <a:pPr indent="0" marL="0">
              <a:buNone/>
            </a:pPr>
            <a:r>
              <a:rPr lang="en-US" sz="3600" b="1" dirty="0">
                <a:solidFill>
                  <a:srgbClr val="FFFFFF"/>
                </a:solidFill>
              </a:rPr>
              <a:t>課後學習與測驗</a:t>
            </a:r>
            <a:endParaRPr lang="en-US" sz="3600" dirty="0"/>
          </a:p>
        </p:txBody>
      </p:sp>
      <p:sp>
        <p:nvSpPr>
          <p:cNvPr id="3" name="Text 1"/>
          <p:cNvSpPr txBox="1"/>
          <p:nvPr/>
        </p:nvSpPr>
        <p:spPr>
          <a:xfrm>
            <a:off x="731520" y="2103120"/>
            <a:ext cx="6949440" cy="2743200"/>
          </a:xfrm>
          <a:prstGeom prst="rect">
            <a:avLst/>
          </a:prstGeom>
          <a:noFill/>
          <a:ln/>
        </p:spPr>
        <p:txBody>
          <a:bodyPr wrap="square" lIns="0" tIns="0" rIns="0" bIns="0" rtlCol="0" anchor="ctr"/>
          <a:lstStyle/>
          <a:p>
            <a:pPr marL="342900" indent="-342900">
              <a:spcAft>
                <a:spcPts val="1200"/>
              </a:spcAft>
              <a:buSzPct val="100000"/>
              <a:buChar char="•"/>
            </a:pPr>
            <a:r>
              <a:rPr lang="en-US" sz="1800" dirty="0">
                <a:solidFill>
                  <a:srgbClr val="CADCFC"/>
                </a:solidFill>
              </a:rPr>
              <a:t>線上文字教材：比簡報更完整的條文解說、範本與稽核案例</a:t>
            </a:r>
            <a:endParaRPr lang="en-US" sz="1800" dirty="0"/>
          </a:p>
          <a:p>
            <a:pPr marL="342900" indent="-342900">
              <a:spcAft>
                <a:spcPts val="1200"/>
              </a:spcAft>
              <a:buSzPct val="100000"/>
              <a:buChar char="•"/>
            </a:pPr>
            <a:r>
              <a:rPr lang="en-US" sz="1800" dirty="0">
                <a:solidFill>
                  <a:srgbClr val="CADCFC"/>
                </a:solidFill>
              </a:rPr>
              <a:t>互動影音：Allan × 阿拉蕾對話教學，可選章節、跳場景</a:t>
            </a:r>
            <a:endParaRPr lang="en-US" sz="1800" dirty="0"/>
          </a:p>
          <a:p>
            <a:pPr marL="342900" indent="-342900">
              <a:spcAft>
                <a:spcPts val="1200"/>
              </a:spcAft>
              <a:buSzPct val="100000"/>
              <a:buChar char="•"/>
            </a:pPr>
            <a:r>
              <a:rPr lang="en-US" sz="1800" dirty="0">
                <a:solidFill>
                  <a:srgbClr val="CADCFC"/>
                </a:solidFill>
              </a:rPr>
              <a:t>課後測驗：10 題、80 分及格，可下載結業證書（附題目與解答）</a:t>
            </a:r>
            <a:endParaRPr lang="en-US" sz="1800" dirty="0"/>
          </a:p>
          <a:p>
            <a:pPr marL="342900" indent="-342900">
              <a:spcAft>
                <a:spcPts val="1200"/>
              </a:spcAft>
              <a:buSzPct val="100000"/>
              <a:buChar char="•"/>
            </a:pPr>
            <a:r>
              <a:rPr lang="en-US" sz="1800" dirty="0">
                <a:solidFill>
                  <a:srgbClr val="CADCFC"/>
                </a:solidFill>
              </a:rPr>
              <a:t>未及格：重新閱讀相關章節後再測一次</a:t>
            </a:r>
            <a:endParaRPr lang="en-US" sz="1800" dirty="0"/>
          </a:p>
        </p:txBody>
      </p:sp>
      <p:sp>
        <p:nvSpPr>
          <p:cNvPr id="4" name="Text 2"/>
          <p:cNvSpPr txBox="1"/>
          <p:nvPr/>
        </p:nvSpPr>
        <p:spPr>
          <a:xfrm>
            <a:off x="731520" y="5120640"/>
            <a:ext cx="6949440" cy="731520"/>
          </a:xfrm>
          <a:prstGeom prst="rect">
            <a:avLst/>
          </a:prstGeom>
          <a:noFill/>
          <a:ln/>
        </p:spPr>
        <p:txBody>
          <a:bodyPr wrap="square" lIns="0" tIns="0" rIns="0" bIns="0" rtlCol="0" anchor="ctr"/>
          <a:lstStyle/>
          <a:p>
            <a:pPr indent="0" marL="0">
              <a:buNone/>
            </a:pPr>
            <a:r>
              <a:rPr lang="en-US" sz="2800" b="1" dirty="0">
                <a:solidFill>
                  <a:srgbClr val="F2A541"/>
                </a:solidFill>
              </a:rPr>
              <a:t>Q &amp; A｜謝謝大家！</a:t>
            </a:r>
            <a:endParaRPr lang="en-US" sz="2800" dirty="0"/>
          </a:p>
        </p:txBody>
      </p:sp>
      <p:sp>
        <p:nvSpPr>
          <p:cNvPr id="5" name="arale-frame"/>
          <p:cNvSpPr/>
          <p:nvPr/>
        </p:nvSpPr>
        <p:spPr>
          <a:xfrm>
            <a:off x="7534656" y="2916936"/>
            <a:ext cx="2029968" cy="2318004"/>
          </a:xfrm>
          <a:prstGeom prst="roundRect">
            <a:avLst>
              <a:gd name="adj" fmla="val 8108"/>
            </a:avLst>
          </a:prstGeom>
          <a:solidFill>
            <a:srgbClr val="FFFFFF"/>
          </a:solidFill>
          <a:ln w="38100">
            <a:solidFill>
              <a:srgbClr val="E8559A"/>
            </a:solidFill>
            <a:prstDash val="solid"/>
          </a:ln>
          <a:effectLst>
            <a:outerShdw sx="100000" sy="100000" kx="0" ky="0" algn="bl" rotWithShape="0" blurRad="101600" dist="38100" dir="5400000">
              <a:srgbClr val="1B2340">
                <a:alpha val="18000"/>
              </a:srgbClr>
            </a:outerShdw>
          </a:effectLst>
        </p:spPr>
      </p:sp>
      <p:pic>
        <p:nvPicPr>
          <p:cNvPr id="6" name="arale-img" descr="助教阿拉蕾">    </p:cNvPr>
          <p:cNvPicPr>
            <a:picLocks noChangeAspect="1"/>
          </p:cNvPicPr>
          <p:nvPr/>
        </p:nvPicPr>
        <p:blipFill>
          <a:blip r:embed="rId1"/>
          <a:srcRect l="0" r="0" t="0" b="0"/>
          <a:stretch/>
        </p:blipFill>
        <p:spPr>
          <a:xfrm>
            <a:off x="7589520" y="2971800"/>
            <a:ext cx="1920240" cy="2208276"/>
          </a:xfrm>
          <a:prstGeom prst="rect">
            <a:avLst/>
          </a:prstGeom>
        </p:spPr>
      </p:pic>
      <p:sp>
        <p:nvSpPr>
          <p:cNvPr id="7" name="Text 4"/>
          <p:cNvSpPr txBox="1"/>
          <p:nvPr/>
        </p:nvSpPr>
        <p:spPr>
          <a:xfrm>
            <a:off x="7406640" y="5289804"/>
            <a:ext cx="2286000" cy="320040"/>
          </a:xfrm>
          <a:prstGeom prst="rect">
            <a:avLst/>
          </a:prstGeom>
          <a:noFill/>
          <a:ln/>
        </p:spPr>
        <p:txBody>
          <a:bodyPr wrap="square" lIns="0" tIns="0" rIns="0" bIns="0" rtlCol="0" anchor="ctr"/>
          <a:lstStyle/>
          <a:p>
            <a:pPr algn="ctr" indent="0" marL="0">
              <a:buNone/>
            </a:pPr>
            <a:r>
              <a:rPr lang="en-US" sz="1300" b="1" dirty="0">
                <a:solidFill>
                  <a:srgbClr val="E8559A"/>
                </a:solidFill>
              </a:rPr>
              <a:t>助教 阿拉蕾</a:t>
            </a:r>
            <a:endParaRPr lang="en-US" sz="1300" dirty="0"/>
          </a:p>
        </p:txBody>
      </p:sp>
      <p:sp>
        <p:nvSpPr>
          <p:cNvPr id="8" name="allan-frame"/>
          <p:cNvSpPr/>
          <p:nvPr/>
        </p:nvSpPr>
        <p:spPr>
          <a:xfrm>
            <a:off x="9729216" y="859536"/>
            <a:ext cx="2212848" cy="2528316"/>
          </a:xfrm>
          <a:prstGeom prst="roundRect">
            <a:avLst>
              <a:gd name="adj" fmla="val 7438"/>
            </a:avLst>
          </a:prstGeom>
          <a:solidFill>
            <a:srgbClr val="FFFFFF"/>
          </a:solidFill>
          <a:ln w="38100">
            <a:solidFill>
              <a:srgbClr val="F2A541"/>
            </a:solidFill>
            <a:prstDash val="solid"/>
          </a:ln>
          <a:effectLst>
            <a:outerShdw sx="100000" sy="100000" kx="0" ky="0" algn="bl" rotWithShape="0" blurRad="101600" dist="38100" dir="5400000">
              <a:srgbClr val="1B2340">
                <a:alpha val="18000"/>
              </a:srgbClr>
            </a:outerShdw>
          </a:effectLst>
        </p:spPr>
      </p:sp>
      <p:pic>
        <p:nvPicPr>
          <p:cNvPr id="9" name="allan-img" descr="Allan 講師">    </p:cNvPr>
          <p:cNvPicPr>
            <a:picLocks noChangeAspect="1"/>
          </p:cNvPicPr>
          <p:nvPr/>
        </p:nvPicPr>
        <p:blipFill>
          <a:blip r:embed="rId2"/>
          <a:srcRect l="0" r="0" t="0" b="0"/>
          <a:stretch/>
        </p:blipFill>
        <p:spPr>
          <a:xfrm>
            <a:off x="9784080" y="914400"/>
            <a:ext cx="2103120" cy="2418588"/>
          </a:xfrm>
          <a:prstGeom prst="rect">
            <a:avLst/>
          </a:prstGeom>
        </p:spPr>
      </p:pic>
      <p:sp>
        <p:nvSpPr>
          <p:cNvPr id="10" name="Text 6"/>
          <p:cNvSpPr txBox="1"/>
          <p:nvPr/>
        </p:nvSpPr>
        <p:spPr>
          <a:xfrm>
            <a:off x="9601200" y="3442716"/>
            <a:ext cx="2468880" cy="320040"/>
          </a:xfrm>
          <a:prstGeom prst="rect">
            <a:avLst/>
          </a:prstGeom>
          <a:noFill/>
          <a:ln/>
        </p:spPr>
        <p:txBody>
          <a:bodyPr wrap="square" lIns="0" tIns="0" rIns="0" bIns="0" rtlCol="0" anchor="ctr"/>
          <a:lstStyle/>
          <a:p>
            <a:pPr algn="ctr" indent="0" marL="0">
              <a:buNone/>
            </a:pPr>
            <a:r>
              <a:rPr lang="en-US" sz="1300" b="1" dirty="0">
                <a:solidFill>
                  <a:srgbClr val="F2A541"/>
                </a:solidFill>
              </a:rPr>
              <a:t>Allan 講師</a:t>
            </a:r>
            <a:endParaRPr lang="en-US" sz="1300" dirty="0"/>
          </a:p>
        </p:txBody>
      </p:sp>
      <p:sp>
        <p:nvSpPr>
          <p:cNvPr id="11" name="Text 7"/>
          <p:cNvSpPr txBox="1"/>
          <p:nvPr/>
        </p:nvSpPr>
        <p:spPr>
          <a:xfrm>
            <a:off x="731520" y="5989320"/>
            <a:ext cx="6766560" cy="548640"/>
          </a:xfrm>
          <a:prstGeom prst="rect">
            <a:avLst/>
          </a:prstGeom>
          <a:noFill/>
          <a:ln/>
        </p:spPr>
        <p:txBody>
          <a:bodyPr wrap="square" lIns="0" tIns="0" rIns="0" bIns="0" rtlCol="0" anchor="ctr"/>
          <a:lstStyle/>
          <a:p>
            <a:pPr indent="0" marL="0">
              <a:buNone/>
            </a:pPr>
            <a:r>
              <a:rPr lang="en-US" sz="1100" dirty="0">
                <a:solidFill>
                  <a:srgbClr val="CADCFC"/>
                </a:solidFill>
              </a:rPr>
              <a:t>教材規劃製作：Allan Lo顧問 (</a:t>
            </a:r>
            <a:pPr indent="0" marL="0">
              <a:buNone/>
            </a:pPr>
            <a:r>
              <a:rPr lang="en-US" sz="1100" u="sng" dirty="0">
                <a:solidFill>
                  <a:srgbClr val="CADCFC"/>
                </a:solidFill>
                <a:hlinkClick r:id="rId3" invalidUrl="" action="" tgtFrame="" tooltip="" history="1" highlightClick="0" endSnd="0">
                  <a:extLst>
                    <a:ext uri="{A12FA001-AC4F-418D-AE19-62706E023703}">
                      <ahyp:hlinkClr xmlns:ahyp="http://schemas.microsoft.com/office/drawing/2018/hyperlinkcolor" val="tx"/>
                    </a:ext>
                  </a:extLst>
                </a:hlinkClick>
              </a:rPr>
              <a:t>http://www.123hi.org</a:t>
            </a:r>
            <a:pPr indent="0" marL="0">
              <a:buNone/>
            </a:pPr>
            <a:r>
              <a:rPr lang="en-US" sz="1100" dirty="0">
                <a:solidFill>
                  <a:srgbClr val="CADCFC"/>
                </a:solidFill>
              </a:rPr>
              <a:t>)　2026年10月</a:t>
            </a:r>
            <a:endParaRPr lang="en-US" sz="1100" dirty="0"/>
          </a:p>
          <a:p>
            <a:pPr indent="0" marL="0">
              <a:buNone/>
            </a:pPr>
            <a:r>
              <a:rPr lang="en-US" sz="1100" dirty="0">
                <a:solidFill>
                  <a:srgbClr val="CADCFC"/>
                </a:solidFill>
              </a:rPr>
              <a:t>Copyright © 2026 Allan Lo. All rights reserved.</a:t>
            </a:r>
            <a:endParaRPr lang="en-US" sz="1100" dirty="0"/>
          </a:p>
        </p:txBody>
      </p:sp>
    </p:spTree>
  </p:cSld>
  <p:clrMapOvr>
    <a:masterClrMapping/>
  </p:clrMapOvr>
</p:sld>
</file>

<file path=ppt/theme/theme1.xml><?xml version="1.0" encoding="utf-8"?>
<a:theme xmlns:a="http://schemas.openxmlformats.org/drawingml/2006/main" name="PIMS Navy">
  <a:themeElements>
    <a:clrScheme name="PIMS Navy">
      <a:dk1>
        <a:srgbClr val="1B2340"/>
      </a:dk1>
      <a:lt1>
        <a:srgbClr val="FFFFFF"/>
      </a:lt1>
      <a:dk2>
        <a:srgbClr val="1E2761"/>
      </a:dk2>
      <a:lt2>
        <a:srgbClr val="EEF2FA"/>
      </a:lt2>
      <a:accent1>
        <a:srgbClr val="0F8B8D"/>
      </a:accent1>
      <a:accent2>
        <a:srgbClr val="E8559A"/>
      </a:accent2>
      <a:accent3>
        <a:srgbClr val="F2A541"/>
      </a:accent3>
      <a:accent4>
        <a:srgbClr val="2B5BD7"/>
      </a:accent4>
      <a:accent5>
        <a:srgbClr val="6B7A99"/>
      </a:accent5>
      <a:accent6>
        <a:srgbClr val="1F9D55"/>
      </a:accent6>
      <a:hlink>
        <a:srgbClr val="2B5BD7"/>
      </a:hlink>
      <a:folHlink>
        <a:srgbClr val="6B7A99"/>
      </a:folHlink>
    </a:clrScheme>
    <a:fontScheme name="PIMS Navy">
      <a:majorFont>
        <a:latin typeface="Microsoft Jheng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Jheng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Allan 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ISO/IEC 27701:2025 隱私資訊管理系統（PIMS）</dc:title>
  <dc:subject>ISO/IEC 27701:2025 標準解說、PIMS 管理作法與稽核實務</dc:subject>
  <dc:creator>Allan Lo</dc:creator>
  <cp:lastModifiedBy>Allan Lo</cp:lastModifiedBy>
  <cp:revision>1</cp:revision>
  <dcterms:created xsi:type="dcterms:W3CDTF">2026-10-26T08:54:06Z</dcterms:created>
  <dcterms:modified xsi:type="dcterms:W3CDTF">2026-10-26T08:54:06Z</dcterms:modified>
</cp:coreProperties>
</file>